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1" r:id="rId6"/>
    <p:sldId id="282" r:id="rId7"/>
    <p:sldId id="262" r:id="rId8"/>
    <p:sldId id="263" r:id="rId9"/>
    <p:sldId id="284" r:id="rId10"/>
    <p:sldId id="285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1" r:id="rId24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0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58756-24EB-4905-89A6-E3C0DCD52940}" type="datetimeFigureOut">
              <a:rPr lang="zh-CN" altLang="en-US" smtClean="0"/>
              <a:t>2020/8/14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49169-CCAD-48D0-8977-9B01296C12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51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49169-CCAD-48D0-8977-9B01296C12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198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92608" y="304800"/>
            <a:ext cx="11607165" cy="6248400"/>
          </a:xfrm>
          <a:custGeom>
            <a:avLst/>
            <a:gdLst/>
            <a:ahLst/>
            <a:cxnLst/>
            <a:rect l="l" t="t" r="r" b="b"/>
            <a:pathLst>
              <a:path w="11607165" h="6248400">
                <a:moveTo>
                  <a:pt x="0" y="0"/>
                </a:moveTo>
                <a:lnTo>
                  <a:pt x="11606784" y="0"/>
                </a:lnTo>
                <a:lnTo>
                  <a:pt x="11606784" y="6248400"/>
                </a:lnTo>
                <a:lnTo>
                  <a:pt x="0" y="6248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40791" y="0"/>
            <a:ext cx="1268095" cy="826135"/>
          </a:xfrm>
          <a:custGeom>
            <a:avLst/>
            <a:gdLst/>
            <a:ahLst/>
            <a:cxnLst/>
            <a:rect l="l" t="t" r="r" b="b"/>
            <a:pathLst>
              <a:path w="1268095" h="826135">
                <a:moveTo>
                  <a:pt x="633983" y="826008"/>
                </a:moveTo>
                <a:lnTo>
                  <a:pt x="0" y="0"/>
                </a:lnTo>
                <a:lnTo>
                  <a:pt x="1267968" y="0"/>
                </a:lnTo>
                <a:lnTo>
                  <a:pt x="633983" y="826008"/>
                </a:lnTo>
                <a:close/>
              </a:path>
            </a:pathLst>
          </a:custGeom>
          <a:solidFill>
            <a:srgbClr val="4A57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0157459" y="5823203"/>
            <a:ext cx="1449705" cy="1030605"/>
          </a:xfrm>
          <a:custGeom>
            <a:avLst/>
            <a:gdLst/>
            <a:ahLst/>
            <a:cxnLst/>
            <a:rect l="l" t="t" r="r" b="b"/>
            <a:pathLst>
              <a:path w="1449704" h="1030604">
                <a:moveTo>
                  <a:pt x="1449324" y="1030224"/>
                </a:moveTo>
                <a:lnTo>
                  <a:pt x="0" y="1030224"/>
                </a:lnTo>
                <a:lnTo>
                  <a:pt x="723900" y="0"/>
                </a:lnTo>
                <a:lnTo>
                  <a:pt x="1449324" y="1030224"/>
                </a:lnTo>
                <a:close/>
              </a:path>
            </a:pathLst>
          </a:custGeom>
          <a:solidFill>
            <a:srgbClr val="5D5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1201400" y="6153911"/>
            <a:ext cx="990600" cy="704215"/>
          </a:xfrm>
          <a:custGeom>
            <a:avLst/>
            <a:gdLst/>
            <a:ahLst/>
            <a:cxnLst/>
            <a:rect l="l" t="t" r="r" b="b"/>
            <a:pathLst>
              <a:path w="990600" h="704215">
                <a:moveTo>
                  <a:pt x="990600" y="704088"/>
                </a:moveTo>
                <a:lnTo>
                  <a:pt x="0" y="704088"/>
                </a:lnTo>
                <a:lnTo>
                  <a:pt x="495300" y="0"/>
                </a:lnTo>
                <a:lnTo>
                  <a:pt x="990600" y="704088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楷体"/>
                <a:cs typeface="楷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638967" y="6017844"/>
            <a:ext cx="815340" cy="831850"/>
          </a:xfrm>
          <a:custGeom>
            <a:avLst/>
            <a:gdLst/>
            <a:ahLst/>
            <a:cxnLst/>
            <a:rect l="l" t="t" r="r" b="b"/>
            <a:pathLst>
              <a:path w="815340" h="831850">
                <a:moveTo>
                  <a:pt x="544512" y="831748"/>
                </a:moveTo>
                <a:lnTo>
                  <a:pt x="0" y="831748"/>
                </a:lnTo>
                <a:lnTo>
                  <a:pt x="544512" y="0"/>
                </a:lnTo>
                <a:lnTo>
                  <a:pt x="814997" y="413156"/>
                </a:lnTo>
                <a:lnTo>
                  <a:pt x="544512" y="831748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1265407" y="5416296"/>
            <a:ext cx="927100" cy="1432560"/>
          </a:xfrm>
          <a:custGeom>
            <a:avLst/>
            <a:gdLst/>
            <a:ahLst/>
            <a:cxnLst/>
            <a:rect l="l" t="t" r="r" b="b"/>
            <a:pathLst>
              <a:path w="927100" h="1432559">
                <a:moveTo>
                  <a:pt x="926592" y="1432559"/>
                </a:moveTo>
                <a:lnTo>
                  <a:pt x="0" y="1432559"/>
                </a:lnTo>
                <a:lnTo>
                  <a:pt x="926592" y="0"/>
                </a:lnTo>
                <a:lnTo>
                  <a:pt x="926592" y="1432559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250168" y="6018276"/>
            <a:ext cx="487680" cy="360045"/>
          </a:xfrm>
          <a:custGeom>
            <a:avLst/>
            <a:gdLst/>
            <a:ahLst/>
            <a:cxnLst/>
            <a:rect l="l" t="t" r="r" b="b"/>
            <a:pathLst>
              <a:path w="487679" h="360045">
                <a:moveTo>
                  <a:pt x="243839" y="359663"/>
                </a:moveTo>
                <a:lnTo>
                  <a:pt x="0" y="0"/>
                </a:lnTo>
                <a:lnTo>
                  <a:pt x="487679" y="0"/>
                </a:lnTo>
                <a:lnTo>
                  <a:pt x="243839" y="359663"/>
                </a:lnTo>
                <a:close/>
              </a:path>
            </a:pathLst>
          </a:custGeom>
          <a:solidFill>
            <a:srgbClr val="4A57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4830" y="1085214"/>
            <a:ext cx="522097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1496060"/>
            <a:ext cx="10582910" cy="3361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楷体"/>
                <a:cs typeface="楷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ehall.nju.edu.cn/" TargetMode="Externa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114.212.194.65/TestSelfHelp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958850"/>
          </a:xfrm>
          <a:custGeom>
            <a:avLst/>
            <a:gdLst/>
            <a:ahLst/>
            <a:cxnLst/>
            <a:rect l="l" t="t" r="r" b="b"/>
            <a:pathLst>
              <a:path w="12192000" h="958850">
                <a:moveTo>
                  <a:pt x="0" y="958596"/>
                </a:moveTo>
                <a:lnTo>
                  <a:pt x="12192000" y="958596"/>
                </a:lnTo>
                <a:lnTo>
                  <a:pt x="12192000" y="0"/>
                </a:lnTo>
                <a:lnTo>
                  <a:pt x="0" y="0"/>
                </a:lnTo>
                <a:lnTo>
                  <a:pt x="0" y="95859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899403"/>
            <a:ext cx="12192000" cy="958850"/>
          </a:xfrm>
          <a:custGeom>
            <a:avLst/>
            <a:gdLst/>
            <a:ahLst/>
            <a:cxnLst/>
            <a:rect l="l" t="t" r="r" b="b"/>
            <a:pathLst>
              <a:path w="12192000" h="958850">
                <a:moveTo>
                  <a:pt x="0" y="958595"/>
                </a:moveTo>
                <a:lnTo>
                  <a:pt x="12192000" y="958595"/>
                </a:lnTo>
                <a:lnTo>
                  <a:pt x="12192000" y="0"/>
                </a:lnTo>
                <a:lnTo>
                  <a:pt x="0" y="0"/>
                </a:lnTo>
                <a:lnTo>
                  <a:pt x="0" y="95859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958596"/>
            <a:ext cx="12192000" cy="4940935"/>
          </a:xfrm>
          <a:custGeom>
            <a:avLst/>
            <a:gdLst/>
            <a:ahLst/>
            <a:cxnLst/>
            <a:rect l="l" t="t" r="r" b="b"/>
            <a:pathLst>
              <a:path w="12192000" h="4940935">
                <a:moveTo>
                  <a:pt x="0" y="0"/>
                </a:moveTo>
                <a:lnTo>
                  <a:pt x="12192000" y="0"/>
                </a:lnTo>
                <a:lnTo>
                  <a:pt x="12192000" y="4940808"/>
                </a:lnTo>
                <a:lnTo>
                  <a:pt x="0" y="49408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82637" y="5463476"/>
            <a:ext cx="1085215" cy="1385570"/>
          </a:xfrm>
          <a:custGeom>
            <a:avLst/>
            <a:gdLst/>
            <a:ahLst/>
            <a:cxnLst/>
            <a:rect l="l" t="t" r="r" b="b"/>
            <a:pathLst>
              <a:path w="1085214" h="1385570">
                <a:moveTo>
                  <a:pt x="1085100" y="1385519"/>
                </a:moveTo>
                <a:lnTo>
                  <a:pt x="360121" y="1385519"/>
                </a:lnTo>
                <a:lnTo>
                  <a:pt x="0" y="688238"/>
                </a:lnTo>
                <a:lnTo>
                  <a:pt x="360121" y="0"/>
                </a:lnTo>
                <a:lnTo>
                  <a:pt x="1085100" y="1385519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462271"/>
            <a:ext cx="1233170" cy="2386965"/>
          </a:xfrm>
          <a:custGeom>
            <a:avLst/>
            <a:gdLst/>
            <a:ahLst/>
            <a:cxnLst/>
            <a:rect l="l" t="t" r="r" b="b"/>
            <a:pathLst>
              <a:path w="1233170" h="2386965">
                <a:moveTo>
                  <a:pt x="1232916" y="2386583"/>
                </a:moveTo>
                <a:lnTo>
                  <a:pt x="0" y="2386583"/>
                </a:lnTo>
                <a:lnTo>
                  <a:pt x="0" y="0"/>
                </a:lnTo>
                <a:lnTo>
                  <a:pt x="1232916" y="2386583"/>
                </a:lnTo>
                <a:close/>
              </a:path>
            </a:pathLst>
          </a:custGeom>
          <a:solidFill>
            <a:srgbClr val="5D5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5027" y="5463540"/>
            <a:ext cx="647700" cy="600710"/>
          </a:xfrm>
          <a:custGeom>
            <a:avLst/>
            <a:gdLst/>
            <a:ahLst/>
            <a:cxnLst/>
            <a:rect l="l" t="t" r="r" b="b"/>
            <a:pathLst>
              <a:path w="647700" h="600710">
                <a:moveTo>
                  <a:pt x="324612" y="600456"/>
                </a:moveTo>
                <a:lnTo>
                  <a:pt x="0" y="0"/>
                </a:lnTo>
                <a:lnTo>
                  <a:pt x="647700" y="0"/>
                </a:lnTo>
                <a:lnTo>
                  <a:pt x="324612" y="600456"/>
                </a:lnTo>
                <a:close/>
              </a:path>
            </a:pathLst>
          </a:custGeom>
          <a:solidFill>
            <a:srgbClr val="4A57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121862" y="0"/>
            <a:ext cx="1085215" cy="1385570"/>
          </a:xfrm>
          <a:custGeom>
            <a:avLst/>
            <a:gdLst/>
            <a:ahLst/>
            <a:cxnLst/>
            <a:rect l="l" t="t" r="r" b="b"/>
            <a:pathLst>
              <a:path w="1085215" h="1385570">
                <a:moveTo>
                  <a:pt x="724979" y="1385531"/>
                </a:moveTo>
                <a:lnTo>
                  <a:pt x="0" y="0"/>
                </a:lnTo>
                <a:lnTo>
                  <a:pt x="724979" y="0"/>
                </a:lnTo>
                <a:lnTo>
                  <a:pt x="1085100" y="697280"/>
                </a:lnTo>
                <a:lnTo>
                  <a:pt x="724979" y="1385531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957559" y="0"/>
            <a:ext cx="1231900" cy="2386965"/>
          </a:xfrm>
          <a:custGeom>
            <a:avLst/>
            <a:gdLst/>
            <a:ahLst/>
            <a:cxnLst/>
            <a:rect l="l" t="t" r="r" b="b"/>
            <a:pathLst>
              <a:path w="1231900" h="2386965">
                <a:moveTo>
                  <a:pt x="1231392" y="2386584"/>
                </a:moveTo>
                <a:lnTo>
                  <a:pt x="0" y="0"/>
                </a:lnTo>
                <a:lnTo>
                  <a:pt x="1231392" y="0"/>
                </a:lnTo>
                <a:lnTo>
                  <a:pt x="1231392" y="2386584"/>
                </a:lnTo>
                <a:close/>
              </a:path>
            </a:pathLst>
          </a:custGeom>
          <a:solidFill>
            <a:srgbClr val="5D5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936223" y="784859"/>
            <a:ext cx="647700" cy="600710"/>
          </a:xfrm>
          <a:custGeom>
            <a:avLst/>
            <a:gdLst/>
            <a:ahLst/>
            <a:cxnLst/>
            <a:rect l="l" t="t" r="r" b="b"/>
            <a:pathLst>
              <a:path w="647700" h="600710">
                <a:moveTo>
                  <a:pt x="647700" y="600455"/>
                </a:moveTo>
                <a:lnTo>
                  <a:pt x="0" y="600455"/>
                </a:lnTo>
                <a:lnTo>
                  <a:pt x="324611" y="0"/>
                </a:lnTo>
                <a:lnTo>
                  <a:pt x="647700" y="600455"/>
                </a:lnTo>
                <a:close/>
              </a:path>
            </a:pathLst>
          </a:custGeom>
          <a:solidFill>
            <a:srgbClr val="4A57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19300" y="4471288"/>
            <a:ext cx="8153400" cy="995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60"/>
              </a:spcBef>
            </a:pPr>
            <a:r>
              <a:rPr lang="zh-CN" altLang="en-US" sz="2400" b="1" spc="145" dirty="0" smtClean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仿宋"/>
              </a:rPr>
              <a:t>辅导员：</a:t>
            </a:r>
            <a:r>
              <a:rPr lang="zh-CN" altLang="en-US" sz="2400" b="1" spc="145" dirty="0" smtClean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仿宋"/>
              </a:rPr>
              <a:t>刘千里，</a:t>
            </a:r>
            <a:r>
              <a:rPr lang="en-US" altLang="zh-CN" sz="2400" b="1" spc="145" dirty="0" smtClean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仿宋"/>
              </a:rPr>
              <a:t>13913306013</a:t>
            </a:r>
            <a:r>
              <a:rPr lang="zh-CN" altLang="en-US" sz="2400" b="1" spc="145" dirty="0" smtClean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仿宋"/>
              </a:rPr>
              <a:t>，</a:t>
            </a:r>
            <a:r>
              <a:rPr lang="en-US" altLang="zh-CN" sz="2400" b="1" spc="145" dirty="0" smtClean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仿宋"/>
              </a:rPr>
              <a:t>liuqianli@nju.edu.cn</a:t>
            </a:r>
          </a:p>
          <a:p>
            <a:pPr algn="ctr">
              <a:lnSpc>
                <a:spcPct val="100000"/>
              </a:lnSpc>
              <a:spcBef>
                <a:spcPts val="1860"/>
              </a:spcBef>
            </a:pPr>
            <a:r>
              <a:rPr lang="en-US" altLang="zh-CN" sz="2400" b="1" spc="145" dirty="0" smtClean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仿宋"/>
              </a:rPr>
              <a:t>2</a:t>
            </a:r>
            <a:r>
              <a:rPr sz="2400" b="1" spc="145" dirty="0" smtClean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仿宋"/>
              </a:rPr>
              <a:t>020</a:t>
            </a:r>
            <a:r>
              <a:rPr sz="2400" b="1" spc="145" dirty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华文中宋"/>
              </a:rPr>
              <a:t>年</a:t>
            </a:r>
            <a:r>
              <a:rPr sz="2400" b="1" spc="145" dirty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仿宋"/>
              </a:rPr>
              <a:t>8</a:t>
            </a:r>
            <a:r>
              <a:rPr sz="2400" b="1" spc="145" dirty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华文中宋"/>
              </a:rPr>
              <a:t>月1</a:t>
            </a:r>
            <a:r>
              <a:rPr sz="2400" b="1" spc="145" dirty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仿宋"/>
              </a:rPr>
              <a:t>3</a:t>
            </a:r>
            <a:r>
              <a:rPr sz="2400" b="1" spc="-5" dirty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华文中宋"/>
              </a:rPr>
              <a:t>日</a:t>
            </a:r>
            <a:endParaRPr sz="2400" dirty="0">
              <a:latin typeface="方正小标宋简体" panose="02000000000000000000" pitchFamily="2" charset="-122"/>
              <a:ea typeface="方正小标宋简体" panose="02000000000000000000" pitchFamily="2" charset="-122"/>
              <a:cs typeface="华文中宋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3362" y="263512"/>
            <a:ext cx="2790748" cy="9663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2"/>
          <p:cNvSpPr txBox="1"/>
          <p:nvPr/>
        </p:nvSpPr>
        <p:spPr>
          <a:xfrm>
            <a:off x="1485881" y="2344166"/>
            <a:ext cx="9053829" cy="1241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60"/>
              </a:spcBef>
            </a:pPr>
            <a:r>
              <a:rPr lang="zh-CN" altLang="en-US" sz="3200" b="1" spc="145" dirty="0" smtClean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仿宋"/>
              </a:rPr>
              <a:t>南京大学信息管理学院</a:t>
            </a:r>
            <a:r>
              <a:rPr lang="en-US" altLang="zh-CN" sz="3200" b="1" spc="145" dirty="0" smtClean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仿宋"/>
              </a:rPr>
              <a:t>2</a:t>
            </a:r>
            <a:r>
              <a:rPr sz="3200" b="1" spc="145" dirty="0" smtClean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仿宋"/>
              </a:rPr>
              <a:t>020</a:t>
            </a:r>
            <a:r>
              <a:rPr lang="zh-CN" altLang="en-US" sz="3200" b="1" spc="145" dirty="0" smtClean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华文中宋"/>
              </a:rPr>
              <a:t>级研究生</a:t>
            </a:r>
            <a:endParaRPr lang="en-US" altLang="zh-CN" sz="3200" b="1" spc="145" dirty="0" smtClean="0">
              <a:solidFill>
                <a:srgbClr val="431A5D"/>
              </a:solidFill>
              <a:latin typeface="方正小标宋简体" panose="02000000000000000000" pitchFamily="2" charset="-122"/>
              <a:ea typeface="方正小标宋简体" panose="02000000000000000000" pitchFamily="2" charset="-122"/>
              <a:cs typeface="华文中宋"/>
            </a:endParaRPr>
          </a:p>
          <a:p>
            <a:pPr algn="ctr">
              <a:lnSpc>
                <a:spcPct val="100000"/>
              </a:lnSpc>
              <a:spcBef>
                <a:spcPts val="1860"/>
              </a:spcBef>
            </a:pPr>
            <a:r>
              <a:rPr lang="zh-CN" altLang="en-US" sz="3200" b="1" spc="145" dirty="0" smtClean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华文中宋"/>
              </a:rPr>
              <a:t>新生报到工作注意事项</a:t>
            </a:r>
            <a:endParaRPr sz="3200" dirty="0">
              <a:latin typeface="方正小标宋简体" panose="02000000000000000000" pitchFamily="2" charset="-122"/>
              <a:ea typeface="方正小标宋简体" panose="02000000000000000000" pitchFamily="2" charset="-122"/>
              <a:cs typeface="华文中宋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8827" y="0"/>
            <a:ext cx="2080260" cy="1651000"/>
          </a:xfrm>
          <a:custGeom>
            <a:avLst/>
            <a:gdLst/>
            <a:ahLst/>
            <a:cxnLst/>
            <a:rect l="l" t="t" r="r" b="b"/>
            <a:pathLst>
              <a:path w="2080260" h="1651000">
                <a:moveTo>
                  <a:pt x="1039368" y="1650492"/>
                </a:moveTo>
                <a:lnTo>
                  <a:pt x="0" y="0"/>
                </a:lnTo>
                <a:lnTo>
                  <a:pt x="2080260" y="0"/>
                </a:lnTo>
                <a:lnTo>
                  <a:pt x="1039368" y="1650492"/>
                </a:lnTo>
                <a:close/>
              </a:path>
            </a:pathLst>
          </a:custGeom>
          <a:solidFill>
            <a:srgbClr val="4A57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47254" y="5093208"/>
            <a:ext cx="2047875" cy="1765300"/>
          </a:xfrm>
          <a:custGeom>
            <a:avLst/>
            <a:gdLst/>
            <a:ahLst/>
            <a:cxnLst/>
            <a:rect l="l" t="t" r="r" b="b"/>
            <a:pathLst>
              <a:path w="2047875" h="1765300">
                <a:moveTo>
                  <a:pt x="2047457" y="1764791"/>
                </a:moveTo>
                <a:lnTo>
                  <a:pt x="0" y="1764791"/>
                </a:lnTo>
                <a:lnTo>
                  <a:pt x="1022981" y="0"/>
                </a:lnTo>
                <a:lnTo>
                  <a:pt x="2047457" y="1764791"/>
                </a:lnTo>
                <a:close/>
              </a:path>
            </a:pathLst>
          </a:custGeom>
          <a:solidFill>
            <a:srgbClr val="5D5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333643" y="6135623"/>
            <a:ext cx="839469" cy="722630"/>
          </a:xfrm>
          <a:custGeom>
            <a:avLst/>
            <a:gdLst/>
            <a:ahLst/>
            <a:cxnLst/>
            <a:rect l="l" t="t" r="r" b="b"/>
            <a:pathLst>
              <a:path w="839470" h="722629">
                <a:moveTo>
                  <a:pt x="838888" y="722376"/>
                </a:moveTo>
                <a:lnTo>
                  <a:pt x="0" y="722376"/>
                </a:lnTo>
                <a:lnTo>
                  <a:pt x="419444" y="0"/>
                </a:lnTo>
                <a:lnTo>
                  <a:pt x="838888" y="722376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581400" y="1143000"/>
            <a:ext cx="4800600" cy="4236416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469900" lvl="1" indent="-457200">
              <a:spcBef>
                <a:spcPts val="1445"/>
              </a:spcBef>
              <a:buFont typeface="Wingdings" panose="05000000000000000000" pitchFamily="2" charset="2"/>
              <a:buChar char="ü"/>
              <a:tabLst>
                <a:tab pos="378460" algn="l"/>
              </a:tabLst>
            </a:pPr>
            <a:r>
              <a:rPr lang="zh-CN" altLang="en-US" sz="3200" b="1" dirty="0" smtClean="0">
                <a:solidFill>
                  <a:srgbClr val="2A23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迎新工作</a:t>
            </a:r>
            <a:endParaRPr lang="zh-CN" altLang="en-US" sz="3200" b="1" dirty="0">
              <a:solidFill>
                <a:srgbClr val="2A23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702945" lvl="1" indent="-461645">
              <a:lnSpc>
                <a:spcPct val="100000"/>
              </a:lnSpc>
              <a:spcBef>
                <a:spcPts val="1055"/>
              </a:spcBef>
              <a:buFont typeface="+mj-lt"/>
              <a:buAutoNum type="arabicPeriod"/>
              <a:tabLst>
                <a:tab pos="702945" algn="l"/>
              </a:tabLst>
            </a:pPr>
            <a:r>
              <a:rPr sz="2800" b="1" spc="-5" dirty="0" err="1" smtClean="0">
                <a:solidFill>
                  <a:srgbClr val="2A2368"/>
                </a:solidFill>
                <a:latin typeface="微软雅黑"/>
                <a:cs typeface="微软雅黑"/>
              </a:rPr>
              <a:t>迎新工作方</a:t>
            </a:r>
            <a:r>
              <a:rPr sz="2800" b="1" dirty="0" err="1" smtClean="0">
                <a:solidFill>
                  <a:srgbClr val="2A2368"/>
                </a:solidFill>
                <a:latin typeface="微软雅黑"/>
                <a:cs typeface="微软雅黑"/>
              </a:rPr>
              <a:t>案</a:t>
            </a:r>
            <a:endParaRPr sz="2800" dirty="0">
              <a:latin typeface="微软雅黑"/>
              <a:cs typeface="微软雅黑"/>
            </a:endParaRPr>
          </a:p>
          <a:p>
            <a:pPr marL="702945" lvl="1" indent="-461645">
              <a:lnSpc>
                <a:spcPct val="100000"/>
              </a:lnSpc>
              <a:spcBef>
                <a:spcPts val="955"/>
              </a:spcBef>
              <a:buAutoNum type="arabicPeriod"/>
              <a:tabLst>
                <a:tab pos="702945" algn="l"/>
              </a:tabLst>
            </a:pPr>
            <a:r>
              <a:rPr sz="2800" b="1" spc="-5" dirty="0">
                <a:solidFill>
                  <a:srgbClr val="2A2368"/>
                </a:solidFill>
                <a:latin typeface="微软雅黑"/>
                <a:cs typeface="微软雅黑"/>
              </a:rPr>
              <a:t>前期准备工</a:t>
            </a:r>
            <a:r>
              <a:rPr sz="2800" b="1" dirty="0">
                <a:solidFill>
                  <a:srgbClr val="2A2368"/>
                </a:solidFill>
                <a:latin typeface="微软雅黑"/>
                <a:cs typeface="微软雅黑"/>
              </a:rPr>
              <a:t>作</a:t>
            </a:r>
            <a:endParaRPr sz="2800" dirty="0">
              <a:latin typeface="微软雅黑"/>
              <a:cs typeface="微软雅黑"/>
            </a:endParaRPr>
          </a:p>
          <a:p>
            <a:pPr marL="702945" lvl="1" indent="-461645">
              <a:lnSpc>
                <a:spcPct val="100000"/>
              </a:lnSpc>
              <a:spcBef>
                <a:spcPts val="955"/>
              </a:spcBef>
              <a:buAutoNum type="arabicPeriod"/>
              <a:tabLst>
                <a:tab pos="702945" algn="l"/>
              </a:tabLst>
            </a:pPr>
            <a:r>
              <a:rPr sz="2800" b="1" dirty="0" err="1" smtClean="0">
                <a:solidFill>
                  <a:srgbClr val="2A2368"/>
                </a:solidFill>
                <a:latin typeface="微软雅黑"/>
                <a:cs typeface="微软雅黑"/>
              </a:rPr>
              <a:t>新生开学典礼及入学教</a:t>
            </a:r>
            <a:r>
              <a:rPr sz="2800" b="1" spc="0" dirty="0" err="1" smtClean="0">
                <a:solidFill>
                  <a:srgbClr val="2A2368"/>
                </a:solidFill>
                <a:latin typeface="微软雅黑"/>
                <a:cs typeface="微软雅黑"/>
              </a:rPr>
              <a:t>育</a:t>
            </a:r>
            <a:endParaRPr sz="2800" dirty="0">
              <a:latin typeface="微软雅黑"/>
              <a:cs typeface="微软雅黑"/>
            </a:endParaRPr>
          </a:p>
          <a:p>
            <a:pPr marL="469900" indent="-457200">
              <a:lnSpc>
                <a:spcPct val="100000"/>
              </a:lnSpc>
              <a:spcBef>
                <a:spcPts val="1445"/>
              </a:spcBef>
              <a:buFont typeface="Wingdings" panose="05000000000000000000" pitchFamily="2" charset="2"/>
              <a:buChar char="ü"/>
              <a:tabLst>
                <a:tab pos="378460" algn="l"/>
              </a:tabLst>
            </a:pPr>
            <a:r>
              <a:rPr sz="3200" b="1" dirty="0" err="1" smtClean="0">
                <a:solidFill>
                  <a:srgbClr val="2A2368"/>
                </a:solidFill>
                <a:latin typeface="微软雅黑"/>
                <a:cs typeface="微软雅黑"/>
              </a:rPr>
              <a:t>校园管理</a:t>
            </a:r>
            <a:endParaRPr sz="3200" dirty="0">
              <a:latin typeface="微软雅黑"/>
              <a:cs typeface="微软雅黑"/>
            </a:endParaRPr>
          </a:p>
          <a:p>
            <a:pPr marL="702945" lvl="1" indent="-461645">
              <a:lnSpc>
                <a:spcPct val="100000"/>
              </a:lnSpc>
              <a:spcBef>
                <a:spcPts val="2025"/>
              </a:spcBef>
              <a:buAutoNum type="arabicPeriod"/>
              <a:tabLst>
                <a:tab pos="702945" algn="l"/>
              </a:tabLst>
            </a:pPr>
            <a:r>
              <a:rPr sz="2800" b="1" dirty="0">
                <a:solidFill>
                  <a:srgbClr val="2A2368"/>
                </a:solidFill>
                <a:latin typeface="微软雅黑"/>
                <a:cs typeface="微软雅黑"/>
              </a:rPr>
              <a:t>校园管理规</a:t>
            </a:r>
            <a:r>
              <a:rPr sz="2800" b="1" spc="0" dirty="0">
                <a:solidFill>
                  <a:srgbClr val="2A2368"/>
                </a:solidFill>
                <a:latin typeface="微软雅黑"/>
                <a:cs typeface="微软雅黑"/>
              </a:rPr>
              <a:t>定</a:t>
            </a:r>
            <a:endParaRPr sz="2800" dirty="0">
              <a:latin typeface="微软雅黑"/>
              <a:cs typeface="微软雅黑"/>
            </a:endParaRPr>
          </a:p>
          <a:p>
            <a:pPr marL="702945" lvl="1" indent="-461645">
              <a:lnSpc>
                <a:spcPct val="100000"/>
              </a:lnSpc>
              <a:spcBef>
                <a:spcPts val="955"/>
              </a:spcBef>
              <a:buAutoNum type="arabicPeriod"/>
              <a:tabLst>
                <a:tab pos="702945" algn="l"/>
              </a:tabLst>
            </a:pPr>
            <a:r>
              <a:rPr sz="2800" b="1" dirty="0">
                <a:solidFill>
                  <a:srgbClr val="2A2368"/>
                </a:solidFill>
                <a:latin typeface="微软雅黑"/>
                <a:cs typeface="微软雅黑"/>
              </a:rPr>
              <a:t>防疫工作要</a:t>
            </a:r>
            <a:r>
              <a:rPr sz="2800" b="1" spc="0" dirty="0">
                <a:solidFill>
                  <a:srgbClr val="2A2368"/>
                </a:solidFill>
                <a:latin typeface="微软雅黑"/>
                <a:cs typeface="微软雅黑"/>
              </a:rPr>
              <a:t>求</a:t>
            </a:r>
            <a:endParaRPr sz="28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55108" y="0"/>
            <a:ext cx="2082164" cy="1651000"/>
          </a:xfrm>
          <a:custGeom>
            <a:avLst/>
            <a:gdLst/>
            <a:ahLst/>
            <a:cxnLst/>
            <a:rect l="l" t="t" r="r" b="b"/>
            <a:pathLst>
              <a:path w="2082165" h="1651000">
                <a:moveTo>
                  <a:pt x="1040891" y="1650492"/>
                </a:moveTo>
                <a:lnTo>
                  <a:pt x="0" y="0"/>
                </a:lnTo>
                <a:lnTo>
                  <a:pt x="2081784" y="0"/>
                </a:lnTo>
                <a:lnTo>
                  <a:pt x="1040891" y="1650492"/>
                </a:lnTo>
                <a:close/>
              </a:path>
            </a:pathLst>
          </a:custGeom>
          <a:solidFill>
            <a:srgbClr val="5D5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676772" y="6135204"/>
            <a:ext cx="838835" cy="723265"/>
          </a:xfrm>
          <a:custGeom>
            <a:avLst/>
            <a:gdLst/>
            <a:ahLst/>
            <a:cxnLst/>
            <a:rect l="l" t="t" r="r" b="b"/>
            <a:pathLst>
              <a:path w="838834" h="723265">
                <a:moveTo>
                  <a:pt x="838453" y="722795"/>
                </a:moveTo>
                <a:lnTo>
                  <a:pt x="0" y="722795"/>
                </a:lnTo>
                <a:lnTo>
                  <a:pt x="419226" y="0"/>
                </a:lnTo>
                <a:lnTo>
                  <a:pt x="838453" y="722795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17037" y="2465171"/>
            <a:ext cx="414655" cy="357505"/>
          </a:xfrm>
          <a:custGeom>
            <a:avLst/>
            <a:gdLst/>
            <a:ahLst/>
            <a:cxnLst/>
            <a:rect l="l" t="t" r="r" b="b"/>
            <a:pathLst>
              <a:path w="414654" h="357505">
                <a:moveTo>
                  <a:pt x="414223" y="357073"/>
                </a:moveTo>
                <a:lnTo>
                  <a:pt x="0" y="357073"/>
                </a:lnTo>
                <a:lnTo>
                  <a:pt x="207111" y="0"/>
                </a:lnTo>
                <a:lnTo>
                  <a:pt x="216297" y="15836"/>
                </a:lnTo>
                <a:lnTo>
                  <a:pt x="201625" y="15836"/>
                </a:lnTo>
                <a:lnTo>
                  <a:pt x="207117" y="25307"/>
                </a:lnTo>
                <a:lnTo>
                  <a:pt x="22054" y="344373"/>
                </a:lnTo>
                <a:lnTo>
                  <a:pt x="11023" y="344373"/>
                </a:lnTo>
                <a:lnTo>
                  <a:pt x="16522" y="353910"/>
                </a:lnTo>
                <a:lnTo>
                  <a:pt x="412388" y="353910"/>
                </a:lnTo>
                <a:lnTo>
                  <a:pt x="414223" y="357073"/>
                </a:lnTo>
                <a:close/>
              </a:path>
              <a:path w="414654" h="357505">
                <a:moveTo>
                  <a:pt x="207117" y="25307"/>
                </a:moveTo>
                <a:lnTo>
                  <a:pt x="201625" y="15836"/>
                </a:lnTo>
                <a:lnTo>
                  <a:pt x="212610" y="15836"/>
                </a:lnTo>
                <a:lnTo>
                  <a:pt x="207117" y="25307"/>
                </a:lnTo>
                <a:close/>
              </a:path>
              <a:path w="414654" h="357505">
                <a:moveTo>
                  <a:pt x="397700" y="353910"/>
                </a:moveTo>
                <a:lnTo>
                  <a:pt x="207117" y="25307"/>
                </a:lnTo>
                <a:lnTo>
                  <a:pt x="212610" y="15836"/>
                </a:lnTo>
                <a:lnTo>
                  <a:pt x="216297" y="15836"/>
                </a:lnTo>
                <a:lnTo>
                  <a:pt x="406856" y="344373"/>
                </a:lnTo>
                <a:lnTo>
                  <a:pt x="403199" y="344373"/>
                </a:lnTo>
                <a:lnTo>
                  <a:pt x="397700" y="353910"/>
                </a:lnTo>
                <a:close/>
              </a:path>
              <a:path w="414654" h="357505">
                <a:moveTo>
                  <a:pt x="16522" y="353910"/>
                </a:moveTo>
                <a:lnTo>
                  <a:pt x="11023" y="344373"/>
                </a:lnTo>
                <a:lnTo>
                  <a:pt x="22054" y="344373"/>
                </a:lnTo>
                <a:lnTo>
                  <a:pt x="16522" y="353910"/>
                </a:lnTo>
                <a:close/>
              </a:path>
              <a:path w="414654" h="357505">
                <a:moveTo>
                  <a:pt x="397700" y="353910"/>
                </a:moveTo>
                <a:lnTo>
                  <a:pt x="16522" y="353910"/>
                </a:lnTo>
                <a:lnTo>
                  <a:pt x="22054" y="344373"/>
                </a:lnTo>
                <a:lnTo>
                  <a:pt x="392168" y="344373"/>
                </a:lnTo>
                <a:lnTo>
                  <a:pt x="397700" y="353910"/>
                </a:lnTo>
                <a:close/>
              </a:path>
              <a:path w="414654" h="357505">
                <a:moveTo>
                  <a:pt x="412388" y="353910"/>
                </a:moveTo>
                <a:lnTo>
                  <a:pt x="397700" y="353910"/>
                </a:lnTo>
                <a:lnTo>
                  <a:pt x="403199" y="344373"/>
                </a:lnTo>
                <a:lnTo>
                  <a:pt x="406856" y="344373"/>
                </a:lnTo>
                <a:lnTo>
                  <a:pt x="412388" y="353910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865095" y="3501516"/>
            <a:ext cx="400685" cy="397510"/>
          </a:xfrm>
          <a:custGeom>
            <a:avLst/>
            <a:gdLst/>
            <a:ahLst/>
            <a:cxnLst/>
            <a:rect l="l" t="t" r="r" b="b"/>
            <a:pathLst>
              <a:path w="400684" h="397510">
                <a:moveTo>
                  <a:pt x="288734" y="397395"/>
                </a:moveTo>
                <a:lnTo>
                  <a:pt x="0" y="100393"/>
                </a:lnTo>
                <a:lnTo>
                  <a:pt x="400405" y="0"/>
                </a:lnTo>
                <a:lnTo>
                  <a:pt x="398410" y="7099"/>
                </a:lnTo>
                <a:lnTo>
                  <a:pt x="385216" y="7099"/>
                </a:lnTo>
                <a:lnTo>
                  <a:pt x="382255" y="17636"/>
                </a:lnTo>
                <a:lnTo>
                  <a:pt x="55979" y="99453"/>
                </a:lnTo>
                <a:lnTo>
                  <a:pt x="16789" y="99453"/>
                </a:lnTo>
                <a:lnTo>
                  <a:pt x="13792" y="110032"/>
                </a:lnTo>
                <a:lnTo>
                  <a:pt x="27074" y="110032"/>
                </a:lnTo>
                <a:lnTo>
                  <a:pt x="282470" y="372738"/>
                </a:lnTo>
                <a:lnTo>
                  <a:pt x="279488" y="383349"/>
                </a:lnTo>
                <a:lnTo>
                  <a:pt x="292681" y="383349"/>
                </a:lnTo>
                <a:lnTo>
                  <a:pt x="288734" y="397395"/>
                </a:lnTo>
                <a:close/>
              </a:path>
              <a:path w="400684" h="397510">
                <a:moveTo>
                  <a:pt x="382255" y="17636"/>
                </a:moveTo>
                <a:lnTo>
                  <a:pt x="385216" y="7099"/>
                </a:lnTo>
                <a:lnTo>
                  <a:pt x="392874" y="14973"/>
                </a:lnTo>
                <a:lnTo>
                  <a:pt x="382255" y="17636"/>
                </a:lnTo>
                <a:close/>
              </a:path>
              <a:path w="400684" h="397510">
                <a:moveTo>
                  <a:pt x="292681" y="383349"/>
                </a:moveTo>
                <a:lnTo>
                  <a:pt x="279488" y="383349"/>
                </a:lnTo>
                <a:lnTo>
                  <a:pt x="290156" y="380644"/>
                </a:lnTo>
                <a:lnTo>
                  <a:pt x="282470" y="372738"/>
                </a:lnTo>
                <a:lnTo>
                  <a:pt x="382255" y="17636"/>
                </a:lnTo>
                <a:lnTo>
                  <a:pt x="392874" y="14973"/>
                </a:lnTo>
                <a:lnTo>
                  <a:pt x="385216" y="7099"/>
                </a:lnTo>
                <a:lnTo>
                  <a:pt x="398410" y="7099"/>
                </a:lnTo>
                <a:lnTo>
                  <a:pt x="292681" y="383349"/>
                </a:lnTo>
                <a:close/>
              </a:path>
              <a:path w="400684" h="397510">
                <a:moveTo>
                  <a:pt x="13792" y="110032"/>
                </a:moveTo>
                <a:lnTo>
                  <a:pt x="16789" y="99453"/>
                </a:lnTo>
                <a:lnTo>
                  <a:pt x="24470" y="107354"/>
                </a:lnTo>
                <a:lnTo>
                  <a:pt x="13792" y="110032"/>
                </a:lnTo>
                <a:close/>
              </a:path>
              <a:path w="400684" h="397510">
                <a:moveTo>
                  <a:pt x="24470" y="107354"/>
                </a:moveTo>
                <a:lnTo>
                  <a:pt x="16789" y="99453"/>
                </a:lnTo>
                <a:lnTo>
                  <a:pt x="55979" y="99453"/>
                </a:lnTo>
                <a:lnTo>
                  <a:pt x="24470" y="107354"/>
                </a:lnTo>
                <a:close/>
              </a:path>
              <a:path w="400684" h="397510">
                <a:moveTo>
                  <a:pt x="27074" y="110032"/>
                </a:moveTo>
                <a:lnTo>
                  <a:pt x="13792" y="110032"/>
                </a:lnTo>
                <a:lnTo>
                  <a:pt x="24470" y="107354"/>
                </a:lnTo>
                <a:lnTo>
                  <a:pt x="27074" y="110032"/>
                </a:lnTo>
                <a:close/>
              </a:path>
              <a:path w="400684" h="397510">
                <a:moveTo>
                  <a:pt x="279488" y="383349"/>
                </a:moveTo>
                <a:lnTo>
                  <a:pt x="282470" y="372738"/>
                </a:lnTo>
                <a:lnTo>
                  <a:pt x="290156" y="380644"/>
                </a:lnTo>
                <a:lnTo>
                  <a:pt x="279488" y="383349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81030" y="3140646"/>
            <a:ext cx="617397" cy="5569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94427" y="3102546"/>
            <a:ext cx="2725712" cy="6718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9653" y="758583"/>
            <a:ext cx="566635" cy="3843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37678" y="733183"/>
            <a:ext cx="2492667" cy="4607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12825" y="1351787"/>
            <a:ext cx="10078720" cy="2264723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  <a:tabLst>
                <a:tab pos="680085" algn="l"/>
              </a:tabLst>
            </a:pPr>
            <a:r>
              <a:rPr sz="2400" b="1" dirty="0">
                <a:latin typeface="微软雅黑"/>
                <a:cs typeface="微软雅黑"/>
              </a:rPr>
              <a:t>时	间</a:t>
            </a:r>
            <a:r>
              <a:rPr sz="2400" b="1" spc="-5" dirty="0">
                <a:latin typeface="微软雅黑"/>
                <a:cs typeface="微软雅黑"/>
              </a:rPr>
              <a:t>：</a:t>
            </a:r>
            <a:r>
              <a:rPr sz="2800" b="1" spc="-5" dirty="0">
                <a:solidFill>
                  <a:srgbClr val="C00000"/>
                </a:solidFill>
                <a:latin typeface="楷体"/>
                <a:cs typeface="楷体"/>
              </a:rPr>
              <a:t>8月31日</a:t>
            </a:r>
            <a:r>
              <a:rPr sz="2800" b="1" spc="-5" dirty="0">
                <a:latin typeface="楷体"/>
                <a:cs typeface="楷体"/>
              </a:rPr>
              <a:t>、</a:t>
            </a:r>
            <a:r>
              <a:rPr sz="2800" b="1" spc="-5" dirty="0">
                <a:solidFill>
                  <a:srgbClr val="C00000"/>
                </a:solidFill>
                <a:latin typeface="楷体"/>
                <a:cs typeface="楷体"/>
              </a:rPr>
              <a:t>9月1日</a:t>
            </a:r>
            <a:r>
              <a:rPr sz="2800" b="1" spc="-5" dirty="0">
                <a:latin typeface="楷体"/>
                <a:cs typeface="楷体"/>
              </a:rPr>
              <a:t>全</a:t>
            </a:r>
            <a:r>
              <a:rPr sz="2800" b="1" spc="-20" dirty="0">
                <a:latin typeface="楷体"/>
                <a:cs typeface="楷体"/>
              </a:rPr>
              <a:t>天</a:t>
            </a:r>
            <a:r>
              <a:rPr sz="2800" b="1" spc="100" dirty="0">
                <a:latin typeface="楷体"/>
                <a:cs typeface="楷体"/>
              </a:rPr>
              <a:t> </a:t>
            </a:r>
            <a:r>
              <a:rPr sz="2800" b="1" spc="-5" dirty="0" smtClean="0">
                <a:latin typeface="楷体"/>
                <a:cs typeface="楷体"/>
              </a:rPr>
              <a:t>（</a:t>
            </a:r>
            <a:r>
              <a:rPr lang="zh-CN" altLang="en-US" sz="24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只能这两天。不可</a:t>
            </a:r>
            <a:r>
              <a:rPr lang="zh-CN" altLang="en-US" sz="24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提前</a:t>
            </a:r>
            <a:r>
              <a:rPr lang="zh-CN" altLang="en-US" sz="24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到校（由于宿舍可能没清空）；确有特殊情况要</a:t>
            </a:r>
            <a:r>
              <a:rPr lang="zh-CN" altLang="en-US" sz="24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推后</a:t>
            </a:r>
            <a:r>
              <a:rPr lang="zh-CN" altLang="en-US" sz="24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到校的，具体与辅导员联系</a:t>
            </a:r>
            <a:r>
              <a:rPr sz="2800" b="1" spc="-20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）</a:t>
            </a:r>
            <a:endParaRPr lang="en-US" sz="2800" b="1" spc="-20" dirty="0" smtClean="0">
              <a:latin typeface="楷体" panose="02010609060101010101" pitchFamily="49" charset="-122"/>
              <a:ea typeface="楷体" panose="02010609060101010101" pitchFamily="49" charset="-122"/>
              <a:cs typeface="楷体"/>
            </a:endParaRPr>
          </a:p>
          <a:p>
            <a:pPr marL="12700">
              <a:spcBef>
                <a:spcPts val="1635"/>
              </a:spcBef>
              <a:buClr>
                <a:srgbClr val="000000"/>
              </a:buClr>
              <a:tabLst>
                <a:tab pos="605155" algn="l"/>
                <a:tab pos="605790" algn="l"/>
              </a:tabLs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地	点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：</a:t>
            </a:r>
            <a:r>
              <a:rPr lang="zh-CN" altLang="en-US" sz="24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仙林校区</a:t>
            </a:r>
            <a:r>
              <a:rPr lang="zh-CN" altLang="en-US" sz="2400" b="1" kern="0" spc="-5" dirty="0" smtClea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正门中央大道两</a:t>
            </a:r>
            <a:r>
              <a:rPr lang="zh-CN" altLang="en-US" sz="2400" b="1" kern="0" spc="-15" dirty="0" smtClea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侧（到时各个院系都会设有帐篷）</a:t>
            </a:r>
            <a:endParaRPr lang="zh-CN" altLang="en-US" sz="2400" b="1" kern="0" dirty="0" smtClea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/>
            </a:endParaRPr>
          </a:p>
          <a:p>
            <a:pPr marL="12700">
              <a:lnSpc>
                <a:spcPct val="100000"/>
              </a:lnSpc>
              <a:spcBef>
                <a:spcPts val="1780"/>
              </a:spcBef>
              <a:tabLst>
                <a:tab pos="680085" algn="l"/>
              </a:tabLst>
            </a:pP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0208" y="963688"/>
            <a:ext cx="620610" cy="3843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68233" y="935748"/>
            <a:ext cx="2490685" cy="4631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3480" y="2021204"/>
            <a:ext cx="9586595" cy="2430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微软雅黑"/>
                <a:cs typeface="微软雅黑"/>
              </a:rPr>
              <a:t>1.2.1</a:t>
            </a:r>
            <a:r>
              <a:rPr sz="2500" b="1" spc="-75" dirty="0">
                <a:latin typeface="微软雅黑"/>
                <a:cs typeface="微软雅黑"/>
              </a:rPr>
              <a:t> </a:t>
            </a:r>
            <a:r>
              <a:rPr sz="2500" b="1" spc="-5" dirty="0">
                <a:latin typeface="微软雅黑"/>
                <a:cs typeface="微软雅黑"/>
              </a:rPr>
              <a:t>迎新系统</a:t>
            </a:r>
            <a:endParaRPr sz="25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00" dirty="0">
              <a:latin typeface="Times New Roman"/>
              <a:cs typeface="Times New Roman"/>
            </a:endParaRPr>
          </a:p>
          <a:p>
            <a:pPr marL="647700">
              <a:lnSpc>
                <a:spcPct val="100000"/>
              </a:lnSpc>
            </a:pPr>
            <a:r>
              <a:rPr sz="2500" b="1" spc="-5" dirty="0">
                <a:latin typeface="楷体"/>
                <a:cs typeface="楷体"/>
              </a:rPr>
              <a:t>新生从</a:t>
            </a:r>
            <a:r>
              <a:rPr sz="2500" b="1" spc="-10" dirty="0">
                <a:solidFill>
                  <a:srgbClr val="C00000"/>
                </a:solidFill>
                <a:latin typeface="楷体"/>
                <a:cs typeface="楷体"/>
              </a:rPr>
              <a:t>8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月</a:t>
            </a:r>
            <a:r>
              <a:rPr sz="2500" b="1" spc="-10" dirty="0">
                <a:solidFill>
                  <a:srgbClr val="C00000"/>
                </a:solidFill>
                <a:latin typeface="楷体"/>
                <a:cs typeface="楷体"/>
              </a:rPr>
              <a:t>15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日起</a:t>
            </a:r>
            <a:r>
              <a:rPr sz="2500" b="1" spc="-5" dirty="0">
                <a:latin typeface="楷体"/>
                <a:cs typeface="楷体"/>
              </a:rPr>
              <a:t>，电脑登录南京大学网上办事服务大厅，进</a:t>
            </a:r>
            <a:r>
              <a:rPr sz="2500" b="1" spc="-15" dirty="0">
                <a:latin typeface="楷体"/>
                <a:cs typeface="楷体"/>
              </a:rPr>
              <a:t>入</a:t>
            </a:r>
            <a:endParaRPr sz="2500" dirty="0">
              <a:latin typeface="楷体"/>
              <a:cs typeface="楷体"/>
            </a:endParaRPr>
          </a:p>
          <a:p>
            <a:pPr marL="12700" marR="5080">
              <a:lnSpc>
                <a:spcPct val="150000"/>
              </a:lnSpc>
            </a:pP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“研究生迎新”</a:t>
            </a:r>
            <a:r>
              <a:rPr sz="2500" b="1" spc="-5" dirty="0">
                <a:latin typeface="楷体"/>
                <a:cs typeface="楷体"/>
              </a:rPr>
              <a:t>系统，按照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“南京大学研究生新生入学简明流程图</a:t>
            </a:r>
            <a:r>
              <a:rPr sz="2500" b="1" spc="-15" dirty="0">
                <a:solidFill>
                  <a:srgbClr val="C00000"/>
                </a:solidFill>
                <a:latin typeface="楷体"/>
                <a:cs typeface="楷体"/>
              </a:rPr>
              <a:t>”  </a:t>
            </a:r>
            <a:r>
              <a:rPr sz="2500" b="1" dirty="0">
                <a:latin typeface="楷体"/>
                <a:cs typeface="楷体"/>
              </a:rPr>
              <a:t>说明，在线办理迎新报到各项事宜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 dirty="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0208" y="963688"/>
            <a:ext cx="620610" cy="3843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68233" y="935748"/>
            <a:ext cx="2490685" cy="4631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 descr="https://grawww.nju.edu.cn/_upload/article/images/77/c8/d3b493a24845a2b4d884ea6d5cdd/ce91122e-b780-4c52-a373-3997a4a488e8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2" y="1837390"/>
            <a:ext cx="11315700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7"/>
          <p:cNvSpPr txBox="1"/>
          <p:nvPr/>
        </p:nvSpPr>
        <p:spPr>
          <a:xfrm>
            <a:off x="922655" y="1447800"/>
            <a:ext cx="10203815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95910" algn="just">
              <a:lnSpc>
                <a:spcPct val="120000"/>
              </a:lnSpc>
              <a:spcBef>
                <a:spcPts val="100"/>
              </a:spcBef>
              <a:tabLst>
                <a:tab pos="1451610" algn="l"/>
              </a:tabLst>
            </a:pPr>
            <a:r>
              <a:rPr lang="zh-CN" altLang="en-US" sz="2000" b="1" spc="-5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南京大学</a:t>
            </a:r>
            <a:r>
              <a:rPr lang="zh-CN" altLang="en-US" sz="2000" b="1" spc="-5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网上办事服务大厅</a:t>
            </a:r>
            <a:r>
              <a:rPr lang="zh-CN" altLang="en-US" sz="2000" b="1" spc="-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：</a:t>
            </a:r>
            <a:r>
              <a:rPr lang="en-US" altLang="zh-CN" sz="2000" b="1" spc="-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  <a:hlinkClick r:id="rId6"/>
              </a:rPr>
              <a:t>http://ehall.nju.edu.cn/</a:t>
            </a:r>
            <a:endParaRPr lang="en-US" altLang="zh-CN" sz="2000" b="1" spc="-5" dirty="0" smtClean="0">
              <a:latin typeface="微软雅黑" panose="020B0503020204020204" pitchFamily="34" charset="-122"/>
              <a:ea typeface="微软雅黑" panose="020B0503020204020204" pitchFamily="34" charset="-122"/>
              <a:cs typeface="楷体"/>
            </a:endParaRPr>
          </a:p>
          <a:p>
            <a:pPr marR="295910" algn="just">
              <a:lnSpc>
                <a:spcPct val="120000"/>
              </a:lnSpc>
              <a:spcBef>
                <a:spcPts val="100"/>
              </a:spcBef>
              <a:tabLst>
                <a:tab pos="1451610" algn="l"/>
              </a:tabLst>
            </a:pPr>
            <a:endParaRPr lang="en-US" altLang="zh-CN" sz="2000" b="1" spc="-5" dirty="0" smtClean="0">
              <a:latin typeface="微软雅黑" panose="020B0503020204020204" pitchFamily="34" charset="-122"/>
              <a:ea typeface="微软雅黑" panose="020B0503020204020204" pitchFamily="34" charset="-122"/>
              <a:cs typeface="楷体"/>
            </a:endParaRPr>
          </a:p>
        </p:txBody>
      </p:sp>
    </p:spTree>
    <p:extLst>
      <p:ext uri="{BB962C8B-B14F-4D97-AF65-F5344CB8AC3E}">
        <p14:creationId xmlns:p14="http://schemas.microsoft.com/office/powerpoint/2010/main" val="571647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38967" y="6017844"/>
            <a:ext cx="815340" cy="831850"/>
          </a:xfrm>
          <a:custGeom>
            <a:avLst/>
            <a:gdLst/>
            <a:ahLst/>
            <a:cxnLst/>
            <a:rect l="l" t="t" r="r" b="b"/>
            <a:pathLst>
              <a:path w="815340" h="831850">
                <a:moveTo>
                  <a:pt x="544512" y="831748"/>
                </a:moveTo>
                <a:lnTo>
                  <a:pt x="0" y="831748"/>
                </a:lnTo>
                <a:lnTo>
                  <a:pt x="544512" y="0"/>
                </a:lnTo>
                <a:lnTo>
                  <a:pt x="814997" y="413156"/>
                </a:lnTo>
                <a:lnTo>
                  <a:pt x="544512" y="831748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265407" y="5416296"/>
            <a:ext cx="927100" cy="1432560"/>
          </a:xfrm>
          <a:custGeom>
            <a:avLst/>
            <a:gdLst/>
            <a:ahLst/>
            <a:cxnLst/>
            <a:rect l="l" t="t" r="r" b="b"/>
            <a:pathLst>
              <a:path w="927100" h="1432559">
                <a:moveTo>
                  <a:pt x="926592" y="1432559"/>
                </a:moveTo>
                <a:lnTo>
                  <a:pt x="0" y="1432559"/>
                </a:lnTo>
                <a:lnTo>
                  <a:pt x="926592" y="0"/>
                </a:lnTo>
                <a:lnTo>
                  <a:pt x="926592" y="1432559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50168" y="6018276"/>
            <a:ext cx="487680" cy="360045"/>
          </a:xfrm>
          <a:custGeom>
            <a:avLst/>
            <a:gdLst/>
            <a:ahLst/>
            <a:cxnLst/>
            <a:rect l="l" t="t" r="r" b="b"/>
            <a:pathLst>
              <a:path w="487679" h="360045">
                <a:moveTo>
                  <a:pt x="243839" y="359663"/>
                </a:moveTo>
                <a:lnTo>
                  <a:pt x="0" y="0"/>
                </a:lnTo>
                <a:lnTo>
                  <a:pt x="487679" y="0"/>
                </a:lnTo>
                <a:lnTo>
                  <a:pt x="243839" y="359663"/>
                </a:lnTo>
                <a:close/>
              </a:path>
            </a:pathLst>
          </a:custGeom>
          <a:solidFill>
            <a:srgbClr val="4A57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63675" y="948055"/>
            <a:ext cx="3110230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/>
              <a:t>1.2.2</a:t>
            </a:r>
            <a:r>
              <a:rPr sz="2500" spc="-60" dirty="0"/>
              <a:t> </a:t>
            </a:r>
            <a:r>
              <a:rPr sz="2500" spc="-5" dirty="0"/>
              <a:t>入校前疫情防控</a:t>
            </a:r>
            <a:endParaRPr sz="2500"/>
          </a:p>
        </p:txBody>
      </p:sp>
      <p:sp>
        <p:nvSpPr>
          <p:cNvPr id="7" name="object 7"/>
          <p:cNvSpPr txBox="1"/>
          <p:nvPr/>
        </p:nvSpPr>
        <p:spPr>
          <a:xfrm>
            <a:off x="922655" y="1489582"/>
            <a:ext cx="10203815" cy="3179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6619" marR="295910" algn="just">
              <a:lnSpc>
                <a:spcPct val="120000"/>
              </a:lnSpc>
              <a:spcBef>
                <a:spcPts val="100"/>
              </a:spcBef>
              <a:tabLst>
                <a:tab pos="1451610" algn="l"/>
              </a:tabLst>
            </a:pPr>
            <a:r>
              <a:rPr sz="2500" b="1" spc="-5" dirty="0" smtClean="0">
                <a:latin typeface="楷体"/>
                <a:cs typeface="楷体"/>
              </a:rPr>
              <a:t>新生在入校前</a:t>
            </a:r>
            <a:r>
              <a:rPr sz="2500" b="1" spc="-10" dirty="0">
                <a:solidFill>
                  <a:srgbClr val="C00000"/>
                </a:solidFill>
                <a:latin typeface="楷体"/>
                <a:cs typeface="楷体"/>
              </a:rPr>
              <a:t>14</a:t>
            </a:r>
            <a:r>
              <a:rPr sz="2500" b="1" spc="-5" dirty="0" smtClean="0">
                <a:solidFill>
                  <a:srgbClr val="C00000"/>
                </a:solidFill>
                <a:latin typeface="楷体"/>
                <a:cs typeface="楷体"/>
              </a:rPr>
              <a:t>天</a:t>
            </a:r>
            <a:r>
              <a:rPr sz="2500" b="1" spc="-5" dirty="0" smtClean="0">
                <a:latin typeface="楷体"/>
                <a:cs typeface="楷体"/>
              </a:rPr>
              <a:t>登陆</a:t>
            </a:r>
            <a:r>
              <a:rPr sz="2500" b="1" spc="-5" dirty="0" smtClean="0">
                <a:solidFill>
                  <a:srgbClr val="C00000"/>
                </a:solidFill>
                <a:latin typeface="楷体"/>
                <a:cs typeface="楷体"/>
              </a:rPr>
              <a:t>南京大学</a:t>
            </a:r>
            <a:r>
              <a:rPr sz="2500" b="1" spc="-10" dirty="0" smtClean="0">
                <a:solidFill>
                  <a:srgbClr val="C00000"/>
                </a:solidFill>
                <a:latin typeface="楷体"/>
                <a:cs typeface="楷体"/>
              </a:rPr>
              <a:t>APP</a:t>
            </a:r>
            <a:r>
              <a:rPr sz="2500" b="1" spc="-5" dirty="0" smtClean="0">
                <a:latin typeface="楷体"/>
                <a:cs typeface="楷体"/>
              </a:rPr>
              <a:t>平台</a:t>
            </a:r>
            <a:r>
              <a:rPr sz="2500" b="1" spc="-15" dirty="0" smtClean="0">
                <a:latin typeface="楷体"/>
                <a:cs typeface="楷体"/>
              </a:rPr>
              <a:t>完</a:t>
            </a:r>
            <a:r>
              <a:rPr sz="2500" b="1" spc="-5" dirty="0" smtClean="0">
                <a:latin typeface="楷体"/>
                <a:cs typeface="楷体"/>
              </a:rPr>
              <a:t>成</a:t>
            </a:r>
            <a:r>
              <a:rPr lang="zh-CN" altLang="en-US" sz="2500" b="1" spc="-5" dirty="0" smtClean="0">
                <a:latin typeface="楷体"/>
                <a:cs typeface="楷体"/>
              </a:rPr>
              <a:t>：</a:t>
            </a:r>
            <a:endParaRPr lang="en-US" altLang="zh-CN" sz="2500" b="1" spc="-5" dirty="0" smtClean="0">
              <a:latin typeface="楷体"/>
              <a:cs typeface="楷体"/>
            </a:endParaRPr>
          </a:p>
          <a:p>
            <a:pPr marL="896619" marR="295910" algn="just">
              <a:lnSpc>
                <a:spcPct val="120000"/>
              </a:lnSpc>
              <a:spcBef>
                <a:spcPts val="100"/>
              </a:spcBef>
              <a:tabLst>
                <a:tab pos="1451610" algn="l"/>
              </a:tabLst>
            </a:pPr>
            <a:r>
              <a:rPr lang="zh-CN" altLang="en-US" sz="25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（</a:t>
            </a:r>
            <a:r>
              <a:rPr lang="en-US" altLang="zh-CN" sz="2500" b="1" spc="-5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a</a:t>
            </a:r>
            <a:r>
              <a:rPr lang="zh-CN" altLang="en-US" sz="25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）“入校</a:t>
            </a:r>
            <a:r>
              <a:rPr sz="2500" b="1" spc="-5" dirty="0" err="1" smtClean="0">
                <a:solidFill>
                  <a:srgbClr val="C00000"/>
                </a:solidFill>
                <a:latin typeface="楷体"/>
                <a:cs typeface="楷体"/>
              </a:rPr>
              <a:t>健康填报</a:t>
            </a:r>
            <a:r>
              <a:rPr lang="zh-CN" altLang="en-US" sz="2500" b="1" spc="-5" dirty="0" smtClean="0">
                <a:solidFill>
                  <a:srgbClr val="C00000"/>
                </a:solidFill>
                <a:latin typeface="楷体"/>
                <a:cs typeface="楷体"/>
              </a:rPr>
              <a:t>”</a:t>
            </a:r>
            <a:r>
              <a:rPr lang="zh-CN" altLang="en-US" sz="25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模块填报</a:t>
            </a:r>
            <a:endParaRPr lang="en-US" sz="2500" b="1" spc="-5" dirty="0" smtClean="0">
              <a:latin typeface="楷体" panose="02010609060101010101" pitchFamily="49" charset="-122"/>
              <a:ea typeface="楷体" panose="02010609060101010101" pitchFamily="49" charset="-122"/>
              <a:cs typeface="楷体"/>
            </a:endParaRPr>
          </a:p>
          <a:p>
            <a:pPr marL="896619" marR="295910" algn="just">
              <a:lnSpc>
                <a:spcPct val="120000"/>
              </a:lnSpc>
              <a:spcBef>
                <a:spcPts val="100"/>
              </a:spcBef>
              <a:tabLst>
                <a:tab pos="1451610" algn="l"/>
              </a:tabLst>
            </a:pPr>
            <a:r>
              <a:rPr lang="zh-CN" altLang="en-US" sz="25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（</a:t>
            </a:r>
            <a:r>
              <a:rPr lang="en-US" altLang="zh-CN" sz="25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b</a:t>
            </a:r>
            <a:r>
              <a:rPr lang="zh-CN" altLang="en-US" sz="25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）“</a:t>
            </a:r>
            <a:r>
              <a:rPr sz="2500" b="1" spc="-5" dirty="0" err="1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行程上报</a:t>
            </a:r>
            <a:r>
              <a:rPr lang="zh-CN" altLang="en-US" sz="25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”</a:t>
            </a:r>
            <a:r>
              <a:rPr lang="zh-CN" altLang="en-US" sz="25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模块填报</a:t>
            </a:r>
            <a:endParaRPr lang="en-US" sz="2500" b="1" spc="-5" dirty="0">
              <a:latin typeface="楷体"/>
              <a:cs typeface="楷体"/>
            </a:endParaRPr>
          </a:p>
          <a:p>
            <a:pPr marL="896619" marR="295910" algn="just">
              <a:lnSpc>
                <a:spcPct val="120000"/>
              </a:lnSpc>
              <a:spcBef>
                <a:spcPts val="100"/>
              </a:spcBef>
              <a:tabLst>
                <a:tab pos="1451610" algn="l"/>
              </a:tabLst>
            </a:pPr>
            <a:r>
              <a:rPr sz="2500" b="1" spc="-5" dirty="0" smtClean="0">
                <a:latin typeface="楷体"/>
                <a:cs typeface="楷体"/>
              </a:rPr>
              <a:t>系统将于</a:t>
            </a:r>
            <a:r>
              <a:rPr sz="2500" b="1" spc="-10" dirty="0">
                <a:solidFill>
                  <a:srgbClr val="C00000"/>
                </a:solidFill>
                <a:latin typeface="楷体"/>
                <a:cs typeface="楷体"/>
              </a:rPr>
              <a:t>8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月</a:t>
            </a:r>
            <a:r>
              <a:rPr sz="2500" b="1" spc="-10" dirty="0">
                <a:solidFill>
                  <a:srgbClr val="C00000"/>
                </a:solidFill>
                <a:latin typeface="楷体"/>
                <a:cs typeface="楷体"/>
              </a:rPr>
              <a:t>17</a:t>
            </a:r>
            <a:r>
              <a:rPr sz="2500" b="1" spc="-5" dirty="0" smtClean="0">
                <a:solidFill>
                  <a:srgbClr val="C00000"/>
                </a:solidFill>
                <a:latin typeface="楷体"/>
                <a:cs typeface="楷体"/>
              </a:rPr>
              <a:t>日</a:t>
            </a:r>
            <a:r>
              <a:rPr lang="zh-CN" altLang="en-US" sz="25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（周一）</a:t>
            </a:r>
            <a:r>
              <a:rPr sz="2500" b="1" spc="-5" dirty="0" err="1" smtClean="0">
                <a:latin typeface="楷体"/>
                <a:cs typeface="楷体"/>
              </a:rPr>
              <a:t>开</a:t>
            </a:r>
            <a:r>
              <a:rPr sz="2500" b="1" spc="-15" dirty="0" err="1" smtClean="0">
                <a:latin typeface="楷体"/>
                <a:cs typeface="楷体"/>
              </a:rPr>
              <a:t>通</a:t>
            </a:r>
            <a:r>
              <a:rPr lang="zh-CN" altLang="en-US" sz="2500" b="1" spc="-15" dirty="0" smtClean="0">
                <a:latin typeface="楷体"/>
                <a:cs typeface="楷体"/>
              </a:rPr>
              <a:t>。</a:t>
            </a:r>
            <a:endParaRPr sz="2500" dirty="0">
              <a:latin typeface="楷体"/>
              <a:cs typeface="楷体"/>
            </a:endParaRPr>
          </a:p>
          <a:p>
            <a:pPr marL="12700" marR="69850">
              <a:lnSpc>
                <a:spcPct val="111400"/>
              </a:lnSpc>
              <a:spcBef>
                <a:spcPts val="595"/>
              </a:spcBef>
              <a:tabLst>
                <a:tab pos="347980" algn="l"/>
              </a:tabLst>
            </a:pPr>
            <a:r>
              <a:rPr sz="2200" b="1" spc="-5" dirty="0" err="1" smtClean="0">
                <a:latin typeface="微软雅黑"/>
                <a:cs typeface="微软雅黑"/>
              </a:rPr>
              <a:t>在新疆乌鲁木齐的硕士</a:t>
            </a:r>
            <a:r>
              <a:rPr sz="2200" b="1" spc="-5" dirty="0" err="1">
                <a:latin typeface="微软雅黑"/>
                <a:cs typeface="微软雅黑"/>
              </a:rPr>
              <a:t>、博士新生，由于防疫原因，暂未收到录取通知书。</a:t>
            </a:r>
            <a:r>
              <a:rPr sz="2200" b="1" spc="-5" dirty="0" err="1" smtClean="0">
                <a:latin typeface="微软雅黑"/>
                <a:cs typeface="微软雅黑"/>
              </a:rPr>
              <a:t>具体</a:t>
            </a:r>
            <a:r>
              <a:rPr sz="2200" b="1" dirty="0" err="1" smtClean="0">
                <a:latin typeface="微软雅黑"/>
                <a:cs typeface="微软雅黑"/>
              </a:rPr>
              <a:t>到校事宜待通知书发出后</a:t>
            </a:r>
            <a:r>
              <a:rPr sz="2200" b="1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另行确定</a:t>
            </a:r>
            <a:r>
              <a:rPr sz="2200" b="1" spc="-5" dirty="0" smtClean="0">
                <a:latin typeface="微软雅黑"/>
                <a:cs typeface="微软雅黑"/>
              </a:rPr>
              <a:t>。</a:t>
            </a:r>
            <a:endParaRPr lang="en-US" sz="2200" b="1" spc="-5" dirty="0" smtClean="0">
              <a:latin typeface="微软雅黑"/>
              <a:cs typeface="微软雅黑"/>
            </a:endParaRPr>
          </a:p>
          <a:p>
            <a:pPr marL="927100" marR="69850" lvl="2">
              <a:lnSpc>
                <a:spcPct val="111400"/>
              </a:lnSpc>
              <a:spcBef>
                <a:spcPts val="595"/>
              </a:spcBef>
              <a:tabLst>
                <a:tab pos="347980" algn="l"/>
              </a:tabLst>
            </a:pPr>
            <a:r>
              <a:rPr lang="en-US" altLang="zh-CN" sz="2200" b="1" spc="-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APP</a:t>
            </a:r>
            <a:r>
              <a:rPr lang="zh-CN" altLang="en-US" sz="2200" b="1" spc="-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下载：</a:t>
            </a:r>
            <a:endParaRPr lang="en-US" altLang="zh-CN" sz="2200" b="1" spc="-5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1" t="3629" r="5562" b="19087"/>
          <a:stretch/>
        </p:blipFill>
        <p:spPr>
          <a:xfrm>
            <a:off x="7769860" y="4112844"/>
            <a:ext cx="2242334" cy="21355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矩形 9"/>
          <p:cNvSpPr/>
          <p:nvPr/>
        </p:nvSpPr>
        <p:spPr>
          <a:xfrm>
            <a:off x="1219200" y="4797524"/>
            <a:ext cx="5812460" cy="1476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55650" marR="69850" lvl="1" indent="-285750">
              <a:lnSpc>
                <a:spcPct val="111400"/>
              </a:lnSpc>
              <a:spcBef>
                <a:spcPts val="595"/>
              </a:spcBef>
              <a:buFont typeface="Wingdings" panose="05000000000000000000" pitchFamily="2" charset="2"/>
              <a:buChar char="Ø"/>
              <a:tabLst>
                <a:tab pos="347980" algn="l"/>
              </a:tabLst>
            </a:pP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苹果手机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用户：在苹果的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App Store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搜索下载“南京大学”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APP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并安装。</a:t>
            </a:r>
          </a:p>
          <a:p>
            <a:pPr marL="755650" marR="69850" lvl="1" indent="-285750">
              <a:lnSpc>
                <a:spcPct val="111400"/>
              </a:lnSpc>
              <a:spcBef>
                <a:spcPts val="595"/>
              </a:spcBef>
              <a:buFont typeface="Wingdings" panose="05000000000000000000" pitchFamily="2" charset="2"/>
              <a:buChar char="Ø"/>
              <a:tabLst>
                <a:tab pos="347980" algn="l"/>
              </a:tabLst>
            </a:pP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安卓手机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用户：请扫描右方二维码下载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755650" marR="69850" lvl="1" indent="-285750">
              <a:lnSpc>
                <a:spcPct val="111400"/>
              </a:lnSpc>
              <a:spcBef>
                <a:spcPts val="595"/>
              </a:spcBef>
              <a:buFont typeface="Wingdings" panose="05000000000000000000" pitchFamily="2" charset="2"/>
              <a:buChar char="Ø"/>
              <a:tabLst>
                <a:tab pos="347980" algn="l"/>
              </a:tabLst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登录账号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：本人学号；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初始密码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：身份证后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位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6111239" y="5343347"/>
            <a:ext cx="1371600" cy="3810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78" b="30137"/>
          <a:stretch/>
        </p:blipFill>
        <p:spPr>
          <a:xfrm>
            <a:off x="8886953" y="457200"/>
            <a:ext cx="2567354" cy="2819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矩形 12"/>
          <p:cNvSpPr/>
          <p:nvPr/>
        </p:nvSpPr>
        <p:spPr>
          <a:xfrm>
            <a:off x="10844707" y="2171700"/>
            <a:ext cx="480646" cy="5715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572753" y="2667000"/>
            <a:ext cx="609600" cy="5715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6044629" y="2457450"/>
            <a:ext cx="4659401" cy="30810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6629400" y="2237316"/>
            <a:ext cx="2667000" cy="71543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445" y="1065239"/>
            <a:ext cx="7920355" cy="32387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95"/>
              </a:spcBef>
            </a:pPr>
            <a:r>
              <a:rPr lang="en-US" altLang="zh-CN" sz="25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a.</a:t>
            </a:r>
            <a:r>
              <a:rPr lang="zh-CN" altLang="en-US" sz="25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“入校健康填报”</a:t>
            </a:r>
            <a:r>
              <a:rPr sz="2500" b="1" dirty="0" err="1" smtClean="0">
                <a:latin typeface="微软雅黑"/>
                <a:cs typeface="微软雅黑"/>
              </a:rPr>
              <a:t>注意事</a:t>
            </a:r>
            <a:r>
              <a:rPr sz="2500" b="1" spc="-5" dirty="0" err="1" smtClean="0">
                <a:latin typeface="微软雅黑"/>
                <a:cs typeface="微软雅黑"/>
              </a:rPr>
              <a:t>项</a:t>
            </a:r>
            <a:endParaRPr sz="25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20"/>
              </a:spcBef>
              <a:buClr>
                <a:srgbClr val="2D3988"/>
              </a:buClr>
              <a:buSzPct val="74000"/>
              <a:buFont typeface="Arial"/>
              <a:buChar char="➢"/>
              <a:tabLst>
                <a:tab pos="647065" algn="l"/>
                <a:tab pos="647700" algn="l"/>
              </a:tabLst>
            </a:pP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入</a:t>
            </a:r>
            <a:r>
              <a:rPr sz="2400" b="1" dirty="0" err="1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校健康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填</a:t>
            </a:r>
            <a:r>
              <a:rPr sz="2400" b="1" dirty="0" err="1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报时</a:t>
            </a:r>
            <a:r>
              <a:rPr sz="2400" b="1" dirty="0" err="1">
                <a:latin typeface="楷体"/>
                <a:cs typeface="楷体"/>
              </a:rPr>
              <a:t>，应关注</a:t>
            </a:r>
            <a:r>
              <a:rPr sz="2400" b="1" spc="-15" dirty="0">
                <a:latin typeface="楷体"/>
                <a:cs typeface="楷体"/>
              </a:rPr>
              <a:t>：</a:t>
            </a:r>
            <a:endParaRPr sz="2400" dirty="0">
              <a:latin typeface="楷体"/>
              <a:cs typeface="楷体"/>
            </a:endParaRPr>
          </a:p>
          <a:p>
            <a:pPr marL="12700" marR="5080" indent="635000">
              <a:lnSpc>
                <a:spcPct val="150000"/>
              </a:lnSpc>
            </a:pPr>
            <a:r>
              <a:rPr sz="2400" b="1" spc="-5" dirty="0" err="1">
                <a:solidFill>
                  <a:srgbClr val="C00000"/>
                </a:solidFill>
                <a:latin typeface="楷体"/>
                <a:cs typeface="楷体"/>
              </a:rPr>
              <a:t>苏康码</a:t>
            </a:r>
            <a:r>
              <a:rPr sz="2400" b="1" spc="-5" dirty="0" err="1">
                <a:latin typeface="楷体"/>
                <a:cs typeface="楷体"/>
              </a:rPr>
              <a:t>截图须包含姓名、生成时间等完整信息，</a:t>
            </a:r>
            <a:r>
              <a:rPr sz="2400" b="1" spc="-5" dirty="0" err="1" smtClean="0">
                <a:latin typeface="楷体"/>
                <a:cs typeface="楷体"/>
              </a:rPr>
              <a:t>生成苏康码时间须</a:t>
            </a:r>
            <a:r>
              <a:rPr sz="2400" b="1" spc="-5" dirty="0" err="1" smtClean="0">
                <a:solidFill>
                  <a:srgbClr val="C00000"/>
                </a:solidFill>
                <a:latin typeface="楷体"/>
                <a:cs typeface="楷体"/>
              </a:rPr>
              <a:t>与返</a:t>
            </a:r>
            <a:r>
              <a:rPr sz="2400" b="1" spc="-15" dirty="0" err="1" smtClean="0">
                <a:solidFill>
                  <a:srgbClr val="C00000"/>
                </a:solidFill>
                <a:latin typeface="楷体"/>
                <a:cs typeface="楷体"/>
              </a:rPr>
              <a:t>校</a:t>
            </a:r>
            <a:r>
              <a:rPr sz="2400" b="1" dirty="0" err="1" smtClean="0">
                <a:solidFill>
                  <a:srgbClr val="C00000"/>
                </a:solidFill>
                <a:latin typeface="楷体"/>
                <a:cs typeface="楷体"/>
              </a:rPr>
              <a:t>申请在同一天</a:t>
            </a:r>
            <a:r>
              <a:rPr sz="2400" b="1" spc="-15" dirty="0" smtClean="0">
                <a:latin typeface="楷体"/>
                <a:cs typeface="楷体"/>
              </a:rPr>
              <a:t>。</a:t>
            </a:r>
            <a:endParaRPr lang="en-US" sz="2400" dirty="0">
              <a:latin typeface="楷体"/>
              <a:cs typeface="楷体"/>
            </a:endParaRPr>
          </a:p>
          <a:p>
            <a:pPr marL="12700" marR="5080" indent="635000">
              <a:lnSpc>
                <a:spcPct val="150000"/>
              </a:lnSpc>
            </a:pPr>
            <a:r>
              <a:rPr sz="2400" b="1" spc="-5" dirty="0" smtClean="0">
                <a:latin typeface="楷体"/>
                <a:cs typeface="楷体"/>
              </a:rPr>
              <a:t>学生</a:t>
            </a:r>
            <a:r>
              <a:rPr sz="2400" b="1" spc="-5" dirty="0" smtClean="0">
                <a:solidFill>
                  <a:srgbClr val="C00000"/>
                </a:solidFill>
                <a:latin typeface="楷体"/>
                <a:cs typeface="楷体"/>
              </a:rPr>
              <a:t>当前所在地</a:t>
            </a:r>
            <a:r>
              <a:rPr sz="2400" b="1" spc="-5" dirty="0" smtClean="0">
                <a:latin typeface="楷体"/>
                <a:cs typeface="楷体"/>
              </a:rPr>
              <a:t>和</a:t>
            </a:r>
            <a:r>
              <a:rPr sz="2400" b="1" spc="-10" dirty="0">
                <a:solidFill>
                  <a:srgbClr val="C00000"/>
                </a:solidFill>
                <a:latin typeface="楷体"/>
                <a:cs typeface="楷体"/>
              </a:rPr>
              <a:t>14</a:t>
            </a:r>
            <a:r>
              <a:rPr sz="2400" b="1" spc="-5" dirty="0">
                <a:solidFill>
                  <a:srgbClr val="C00000"/>
                </a:solidFill>
                <a:latin typeface="楷体"/>
                <a:cs typeface="楷体"/>
              </a:rPr>
              <a:t>天行程轨迹中的所到地</a:t>
            </a:r>
            <a:r>
              <a:rPr sz="2400" b="1" spc="-5" dirty="0">
                <a:latin typeface="楷体"/>
                <a:cs typeface="楷体"/>
              </a:rPr>
              <a:t>是否涉及中高风险地区</a:t>
            </a:r>
            <a:r>
              <a:rPr sz="2400" b="1" spc="-15" dirty="0" smtClean="0">
                <a:latin typeface="楷体"/>
                <a:cs typeface="楷体"/>
              </a:rPr>
              <a:t>。</a:t>
            </a:r>
            <a:endParaRPr sz="2400" dirty="0">
              <a:latin typeface="楷体"/>
              <a:cs typeface="楷体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1371600"/>
            <a:ext cx="2019300" cy="4038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矩形 3"/>
          <p:cNvSpPr/>
          <p:nvPr/>
        </p:nvSpPr>
        <p:spPr>
          <a:xfrm>
            <a:off x="2057400" y="4604772"/>
            <a:ext cx="6096000" cy="13388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marR="508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spc="-5" dirty="0">
                <a:solidFill>
                  <a:srgbClr val="C00000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楷体"/>
              </a:rPr>
              <a:t>苏康</a:t>
            </a:r>
            <a:r>
              <a:rPr lang="zh-CN" altLang="en-US" b="1" spc="-5" dirty="0" smtClean="0">
                <a:solidFill>
                  <a:srgbClr val="C00000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楷体"/>
              </a:rPr>
              <a:t>码</a:t>
            </a:r>
            <a:r>
              <a:rPr lang="zh-CN" altLang="en-US" b="1" spc="-5" dirty="0" smtClean="0">
                <a:latin typeface="方正小标宋简体" panose="02000000000000000000" pitchFamily="2" charset="-122"/>
                <a:ea typeface="方正小标宋简体" panose="02000000000000000000" pitchFamily="2" charset="-122"/>
                <a:cs typeface="楷体"/>
              </a:rPr>
              <a:t>必须是从</a:t>
            </a:r>
            <a:r>
              <a:rPr lang="zh-CN" altLang="en-US" b="1" spc="-5" dirty="0" smtClean="0">
                <a:solidFill>
                  <a:srgbClr val="C00000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楷体"/>
              </a:rPr>
              <a:t>支付宝</a:t>
            </a:r>
            <a:r>
              <a:rPr lang="zh-CN" altLang="en-US" b="1" spc="-5" dirty="0" smtClean="0">
                <a:latin typeface="方正小标宋简体" panose="02000000000000000000" pitchFamily="2" charset="-122"/>
                <a:ea typeface="方正小标宋简体" panose="02000000000000000000" pitchFamily="2" charset="-122"/>
                <a:cs typeface="楷体"/>
              </a:rPr>
              <a:t>里面申请的，其它途径获得的苏康码均不认可。在支付宝搜索“苏康码”</a:t>
            </a:r>
            <a:endParaRPr lang="en-US" altLang="zh-CN" b="1" spc="-5" dirty="0" smtClean="0">
              <a:latin typeface="方正小标宋简体" panose="02000000000000000000" pitchFamily="2" charset="-122"/>
              <a:ea typeface="方正小标宋简体" panose="02000000000000000000" pitchFamily="2" charset="-122"/>
              <a:cs typeface="楷体"/>
            </a:endParaRPr>
          </a:p>
          <a:p>
            <a:pPr marL="285750" marR="508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spc="-5" dirty="0" smtClean="0">
                <a:latin typeface="方正小标宋简体" panose="02000000000000000000" pitchFamily="2" charset="-122"/>
                <a:ea typeface="方正小标宋简体" panose="02000000000000000000" pitchFamily="2" charset="-122"/>
                <a:cs typeface="楷体"/>
              </a:rPr>
              <a:t>具体截图，如</a:t>
            </a:r>
            <a:r>
              <a:rPr lang="zh-CN" altLang="en-US" b="1" spc="-5" dirty="0">
                <a:latin typeface="方正小标宋简体" panose="02000000000000000000" pitchFamily="2" charset="-122"/>
                <a:ea typeface="方正小标宋简体" panose="02000000000000000000" pitchFamily="2" charset="-122"/>
                <a:cs typeface="楷体"/>
              </a:rPr>
              <a:t>右</a:t>
            </a:r>
            <a:r>
              <a:rPr lang="zh-CN" altLang="en-US" b="1" spc="-5" dirty="0" smtClean="0">
                <a:latin typeface="方正小标宋简体" panose="02000000000000000000" pitchFamily="2" charset="-122"/>
                <a:ea typeface="方正小标宋简体" panose="02000000000000000000" pitchFamily="2" charset="-122"/>
                <a:cs typeface="楷体"/>
              </a:rPr>
              <a:t>图所示：</a:t>
            </a:r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  <a:cs typeface="楷体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7658100" y="4893186"/>
            <a:ext cx="1371600" cy="3810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445" y="1065239"/>
            <a:ext cx="10968355" cy="4716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95"/>
              </a:spcBef>
            </a:pPr>
            <a:r>
              <a:rPr lang="en-US" altLang="zh-CN" sz="2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b</a:t>
            </a:r>
            <a:r>
              <a:rPr lang="en-US" altLang="zh-CN" sz="25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.</a:t>
            </a:r>
            <a:r>
              <a:rPr lang="zh-CN" altLang="en-US" sz="25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“行程上报”</a:t>
            </a:r>
            <a:r>
              <a:rPr sz="2500" b="1" dirty="0" err="1" smtClean="0">
                <a:latin typeface="微软雅黑"/>
                <a:cs typeface="微软雅黑"/>
              </a:rPr>
              <a:t>注意事</a:t>
            </a:r>
            <a:r>
              <a:rPr sz="2500" b="1" spc="-5" dirty="0" err="1" smtClean="0">
                <a:latin typeface="微软雅黑"/>
                <a:cs typeface="微软雅黑"/>
              </a:rPr>
              <a:t>项</a:t>
            </a:r>
            <a:endParaRPr sz="25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20"/>
              </a:spcBef>
              <a:buClr>
                <a:srgbClr val="2D3988"/>
              </a:buClr>
              <a:buSzPct val="74000"/>
              <a:buFont typeface="Arial"/>
              <a:buChar char="➢"/>
              <a:tabLst>
                <a:tab pos="647065" algn="l"/>
                <a:tab pos="647700" algn="l"/>
              </a:tabLst>
            </a:pP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行程上报填报</a:t>
            </a:r>
            <a:r>
              <a:rPr sz="2400" b="1" dirty="0" err="1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时</a:t>
            </a:r>
            <a:r>
              <a:rPr sz="2400" b="1" dirty="0" err="1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，应关注</a:t>
            </a:r>
            <a:r>
              <a:rPr sz="2400" b="1" spc="-15" dirty="0">
                <a:latin typeface="楷体"/>
                <a:cs typeface="楷体"/>
              </a:rPr>
              <a:t>：</a:t>
            </a:r>
            <a:endParaRPr sz="2400" dirty="0">
              <a:latin typeface="楷体"/>
              <a:cs typeface="楷体"/>
            </a:endParaRPr>
          </a:p>
          <a:p>
            <a:pPr marL="812800" marR="508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系统会</a:t>
            </a:r>
            <a:r>
              <a:rPr lang="zh-CN" altLang="en-US" sz="20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自动定位</a:t>
            </a: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上报行程时候的地点。所以一定要写全“行程上报地</a:t>
            </a:r>
            <a:r>
              <a:rPr lang="en-US" altLang="zh-CN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-</a:t>
            </a: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南京”的闭环。</a:t>
            </a:r>
            <a:endParaRPr lang="en-US" altLang="zh-CN" sz="2000" b="1" spc="-5" dirty="0" smtClean="0">
              <a:latin typeface="楷体" panose="02010609060101010101" pitchFamily="49" charset="-122"/>
              <a:ea typeface="楷体" panose="02010609060101010101" pitchFamily="49" charset="-122"/>
              <a:cs typeface="楷体"/>
            </a:endParaRPr>
          </a:p>
          <a:p>
            <a:pPr marL="812800" marR="508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比如，人在县城，到省会城市坐飞机到南京。不能只写“省会</a:t>
            </a:r>
            <a:r>
              <a:rPr lang="en-US" altLang="zh-CN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-</a:t>
            </a: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南京”的交通方式。还要把“县城</a:t>
            </a:r>
            <a:r>
              <a:rPr lang="en-US" altLang="zh-CN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-</a:t>
            </a: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省会城市”的交通方式也写清楚。</a:t>
            </a:r>
            <a:endParaRPr lang="en-US" altLang="zh-CN" sz="2000" b="1" spc="-5" dirty="0" smtClean="0">
              <a:latin typeface="楷体" panose="02010609060101010101" pitchFamily="49" charset="-122"/>
              <a:ea typeface="楷体" panose="02010609060101010101" pitchFamily="49" charset="-122"/>
              <a:cs typeface="楷体"/>
            </a:endParaRPr>
          </a:p>
          <a:p>
            <a:pPr marL="812800" marR="508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如果坐客运汽车，可以写清楚汽车班次（不知道就写“待定”）。</a:t>
            </a:r>
            <a:endParaRPr lang="en-US" altLang="zh-CN" sz="2000" b="1" spc="-5" dirty="0" smtClean="0">
              <a:latin typeface="楷体" panose="02010609060101010101" pitchFamily="49" charset="-122"/>
              <a:ea typeface="楷体" panose="02010609060101010101" pitchFamily="49" charset="-122"/>
              <a:cs typeface="楷体"/>
            </a:endParaRPr>
          </a:p>
          <a:p>
            <a:pPr marL="812800" marR="508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每项行程信息</a:t>
            </a:r>
            <a:r>
              <a:rPr lang="zh-CN" altLang="en-US" sz="20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不要留空。</a:t>
            </a:r>
            <a:endParaRPr lang="en-US" altLang="zh-CN" sz="2000" b="1" spc="-5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/>
            </a:endParaRPr>
          </a:p>
          <a:p>
            <a:pPr marL="812800" marR="508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上报行程时，</a:t>
            </a:r>
            <a:r>
              <a:rPr lang="zh-CN" altLang="en-US" sz="20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如果</a:t>
            </a:r>
            <a:r>
              <a:rPr lang="zh-CN" altLang="en-US" sz="20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本人已经在南京的</a:t>
            </a:r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，请不要光在“市内交通”填写。在“城市间”的交通方式也写一下，交通方式可写地铁、公交、出租车等等。车次确定不了的，可写待定。</a:t>
            </a:r>
            <a:r>
              <a:rPr lang="zh-CN" altLang="en-US" sz="20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反正就不要空着。</a:t>
            </a:r>
            <a:endParaRPr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/>
            </a:endParaRPr>
          </a:p>
        </p:txBody>
      </p:sp>
    </p:spTree>
    <p:extLst>
      <p:ext uri="{BB962C8B-B14F-4D97-AF65-F5344CB8AC3E}">
        <p14:creationId xmlns:p14="http://schemas.microsoft.com/office/powerpoint/2010/main" val="1781698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445" y="1065239"/>
            <a:ext cx="7691755" cy="40286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95"/>
              </a:spcBef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b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.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“行程上报”</a:t>
            </a:r>
            <a:r>
              <a:rPr sz="2400" b="1" dirty="0" err="1" smtClean="0">
                <a:latin typeface="微软雅黑"/>
                <a:cs typeface="微软雅黑"/>
              </a:rPr>
              <a:t>注意事</a:t>
            </a:r>
            <a:r>
              <a:rPr sz="2400" b="1" spc="-5" dirty="0" err="1" smtClean="0">
                <a:latin typeface="微软雅黑"/>
                <a:cs typeface="微软雅黑"/>
              </a:rPr>
              <a:t>项</a:t>
            </a:r>
            <a:endParaRPr sz="2400" dirty="0">
              <a:latin typeface="微软雅黑"/>
              <a:cs typeface="微软雅黑"/>
            </a:endParaRPr>
          </a:p>
          <a:p>
            <a:pPr marL="12700" marR="5080">
              <a:lnSpc>
                <a:spcPct val="150000"/>
              </a:lnSpc>
              <a:spcBef>
                <a:spcPts val="1795"/>
              </a:spcBef>
              <a:buClr>
                <a:srgbClr val="2D3988"/>
              </a:buClr>
              <a:buSzPct val="74000"/>
              <a:buFont typeface="Arial"/>
              <a:buChar char="➢"/>
              <a:tabLst>
                <a:tab pos="647065" algn="l"/>
                <a:tab pos="647700" algn="l"/>
              </a:tabLst>
            </a:pP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返校系统中，新生“规定到校日期”系统统一</a:t>
            </a:r>
            <a:r>
              <a:rPr lang="zh-CN" altLang="en-US" sz="20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初始设置</a:t>
            </a: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为</a:t>
            </a:r>
            <a:r>
              <a:rPr lang="en-US" altLang="zh-CN" sz="20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9</a:t>
            </a:r>
            <a:r>
              <a:rPr lang="zh-CN" altLang="en-US" sz="20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月</a:t>
            </a:r>
            <a:r>
              <a:rPr lang="en-US" altLang="zh-CN" sz="20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1</a:t>
            </a:r>
            <a:r>
              <a:rPr lang="zh-CN" altLang="en-US" sz="20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日</a:t>
            </a: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，新生可修改为</a:t>
            </a:r>
            <a:r>
              <a:rPr lang="en-US" altLang="zh-CN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8</a:t>
            </a: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月</a:t>
            </a:r>
            <a:r>
              <a:rPr lang="en-US" altLang="zh-CN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31</a:t>
            </a: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日。</a:t>
            </a:r>
            <a:endParaRPr lang="en-US" altLang="zh-CN" sz="2000" b="1" spc="-5" dirty="0" smtClean="0">
              <a:latin typeface="楷体" panose="02010609060101010101" pitchFamily="49" charset="-122"/>
              <a:ea typeface="楷体" panose="02010609060101010101" pitchFamily="49" charset="-122"/>
              <a:cs typeface="楷体"/>
            </a:endParaRPr>
          </a:p>
          <a:p>
            <a:pPr marL="469900" marR="5080" lvl="1">
              <a:lnSpc>
                <a:spcPct val="150000"/>
              </a:lnSpc>
              <a:spcBef>
                <a:spcPts val="1795"/>
              </a:spcBef>
              <a:buClr>
                <a:srgbClr val="2D3988"/>
              </a:buClr>
              <a:buSzPct val="74000"/>
              <a:buFont typeface="Arial"/>
              <a:buChar char="➢"/>
              <a:tabLst>
                <a:tab pos="647065" algn="l"/>
                <a:tab pos="647700" algn="l"/>
              </a:tabLst>
            </a:pPr>
            <a:r>
              <a:rPr lang="zh-CN" altLang="en-US" sz="20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注意</a:t>
            </a: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：到校日期，</a:t>
            </a:r>
            <a:r>
              <a:rPr lang="zh-CN" altLang="en-US" sz="20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只能</a:t>
            </a: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是</a:t>
            </a:r>
            <a:r>
              <a:rPr lang="en-US" altLang="zh-CN" sz="2000" b="1" u="sng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8</a:t>
            </a:r>
            <a:r>
              <a:rPr lang="zh-CN" altLang="en-US" sz="2000" b="1" u="sng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月</a:t>
            </a:r>
            <a:r>
              <a:rPr lang="en-US" altLang="zh-CN" sz="2000" b="1" u="sng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31</a:t>
            </a:r>
            <a:r>
              <a:rPr lang="zh-CN" altLang="en-US" sz="2000" b="1" u="sng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日</a:t>
            </a: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和</a:t>
            </a:r>
            <a:r>
              <a:rPr lang="en-US" altLang="zh-CN" sz="2000" b="1" u="sng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9</a:t>
            </a:r>
            <a:r>
              <a:rPr lang="zh-CN" altLang="en-US" sz="2000" b="1" u="sng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月</a:t>
            </a:r>
            <a:r>
              <a:rPr lang="en-US" altLang="zh-CN" sz="2000" b="1" u="sng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1</a:t>
            </a:r>
            <a:r>
              <a:rPr lang="zh-CN" altLang="en-US" sz="2000" b="1" u="sng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日</a:t>
            </a: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两天。不可</a:t>
            </a:r>
            <a:r>
              <a:rPr lang="zh-CN" altLang="en-US" sz="20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提前</a:t>
            </a: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到校（由于宿舍可能没清空）；确有特殊情况要</a:t>
            </a:r>
            <a:r>
              <a:rPr lang="zh-CN" altLang="en-US" sz="20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推后</a:t>
            </a: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到校的，具体与辅导员联系。</a:t>
            </a:r>
            <a:endParaRPr lang="zh-CN" altLang="en-US" sz="2000" b="1" spc="-5" dirty="0" smtClean="0">
              <a:latin typeface="楷体" panose="02010609060101010101" pitchFamily="49" charset="-122"/>
              <a:ea typeface="楷体" panose="02010609060101010101" pitchFamily="49" charset="-122"/>
              <a:cs typeface="楷体"/>
            </a:endParaRPr>
          </a:p>
          <a:p>
            <a:pPr marL="12700" marR="5080">
              <a:lnSpc>
                <a:spcPct val="150000"/>
              </a:lnSpc>
              <a:spcBef>
                <a:spcPts val="1795"/>
              </a:spcBef>
              <a:buClr>
                <a:srgbClr val="2D3988"/>
              </a:buClr>
              <a:buSzPct val="74000"/>
              <a:buFont typeface="Arial"/>
              <a:buChar char="➢"/>
              <a:tabLst>
                <a:tab pos="647065" algn="l"/>
                <a:tab pos="647700" algn="l"/>
              </a:tabLst>
            </a:pPr>
            <a:r>
              <a:rPr lang="zh-CN" altLang="en-US" sz="20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各位</a:t>
            </a:r>
            <a:r>
              <a:rPr lang="zh-CN" altLang="en-US" sz="2000" b="1" spc="-5" dirty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同学</a:t>
            </a:r>
            <a:r>
              <a:rPr sz="2000" b="1" spc="-5" dirty="0" err="1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从</a:t>
            </a:r>
            <a:r>
              <a:rPr sz="2000" b="1" u="sng" spc="-5" dirty="0" err="1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行程审批完成的</a:t>
            </a:r>
            <a:r>
              <a:rPr sz="2000" b="1" u="sng" spc="-5" dirty="0" err="1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次日</a:t>
            </a:r>
            <a:r>
              <a:rPr sz="2000" b="1" spc="-5" dirty="0" err="1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起</a:t>
            </a:r>
            <a:r>
              <a:rPr sz="2000" b="1" spc="-5" dirty="0" err="1">
                <a:latin typeface="楷体"/>
                <a:cs typeface="楷体"/>
              </a:rPr>
              <a:t>，</a:t>
            </a:r>
            <a:r>
              <a:rPr sz="2000" b="1" spc="-5" dirty="0" err="1" smtClean="0">
                <a:latin typeface="楷体"/>
                <a:cs typeface="楷体"/>
              </a:rPr>
              <a:t>须</a:t>
            </a:r>
            <a:r>
              <a:rPr sz="2800" b="1" spc="-5" dirty="0" err="1" smtClean="0">
                <a:solidFill>
                  <a:srgbClr val="C00000"/>
                </a:solidFill>
                <a:latin typeface="楷体"/>
                <a:cs typeface="楷体"/>
              </a:rPr>
              <a:t>每天</a:t>
            </a:r>
            <a:r>
              <a:rPr lang="zh-CN" altLang="en-US" sz="20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在</a:t>
            </a:r>
            <a:r>
              <a:rPr lang="en-US" altLang="zh-CN" sz="2000" b="1" spc="-5" dirty="0" err="1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APP</a:t>
            </a:r>
            <a:r>
              <a:rPr sz="2000" b="1" spc="-5" dirty="0" err="1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进行</a:t>
            </a:r>
            <a:r>
              <a:rPr lang="en-US" sz="2000" b="1" spc="-5" dirty="0" err="1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"</a:t>
            </a:r>
            <a:r>
              <a:rPr sz="2000" b="1" spc="-5" dirty="0" err="1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健康打卡</a:t>
            </a:r>
            <a:r>
              <a:rPr lang="en-US" sz="2000" b="1" spc="-5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"</a:t>
            </a:r>
            <a:endParaRPr sz="2000" dirty="0">
              <a:latin typeface="楷体" panose="02010609060101010101" pitchFamily="49" charset="-122"/>
              <a:ea typeface="楷体" panose="02010609060101010101" pitchFamily="49" charset="-122"/>
              <a:cs typeface="楷体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1722" y="5257800"/>
            <a:ext cx="70716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lang="zh-CN" altLang="en-US" sz="2400" b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因疫情防控需要，</a:t>
            </a:r>
            <a:r>
              <a:rPr lang="zh-CN" altLang="en-US" sz="2400" b="1" spc="-5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家长不允许进校园或搭乘接站</a:t>
            </a:r>
            <a:r>
              <a:rPr lang="zh-CN" altLang="en-US" sz="2400" b="1" spc="-5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车</a:t>
            </a:r>
            <a:r>
              <a:rPr lang="zh-CN" altLang="en-US" sz="2400" b="1" spc="-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400" b="1" spc="-5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私家车也不能进校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4" name="object 5"/>
          <p:cNvSpPr/>
          <p:nvPr/>
        </p:nvSpPr>
        <p:spPr>
          <a:xfrm>
            <a:off x="1081722" y="5209540"/>
            <a:ext cx="7071678" cy="886460"/>
          </a:xfrm>
          <a:custGeom>
            <a:avLst/>
            <a:gdLst/>
            <a:ahLst/>
            <a:cxnLst/>
            <a:rect l="l" t="t" r="r" b="b"/>
            <a:pathLst>
              <a:path w="10194290" h="886459">
                <a:moveTo>
                  <a:pt x="10052888" y="886459"/>
                </a:moveTo>
                <a:lnTo>
                  <a:pt x="141401" y="886459"/>
                </a:lnTo>
                <a:lnTo>
                  <a:pt x="118135" y="882650"/>
                </a:lnTo>
                <a:lnTo>
                  <a:pt x="110655" y="880109"/>
                </a:lnTo>
                <a:lnTo>
                  <a:pt x="96177" y="875029"/>
                </a:lnTo>
                <a:lnTo>
                  <a:pt x="89204" y="871220"/>
                </a:lnTo>
                <a:lnTo>
                  <a:pt x="82410" y="868679"/>
                </a:lnTo>
                <a:lnTo>
                  <a:pt x="75806" y="864870"/>
                </a:lnTo>
                <a:lnTo>
                  <a:pt x="69418" y="859790"/>
                </a:lnTo>
                <a:lnTo>
                  <a:pt x="63246" y="855979"/>
                </a:lnTo>
                <a:lnTo>
                  <a:pt x="35966" y="829310"/>
                </a:lnTo>
                <a:lnTo>
                  <a:pt x="31292" y="824229"/>
                </a:lnTo>
                <a:lnTo>
                  <a:pt x="26898" y="817879"/>
                </a:lnTo>
                <a:lnTo>
                  <a:pt x="22809" y="811529"/>
                </a:lnTo>
                <a:lnTo>
                  <a:pt x="19011" y="805179"/>
                </a:lnTo>
                <a:lnTo>
                  <a:pt x="15532" y="797560"/>
                </a:lnTo>
                <a:lnTo>
                  <a:pt x="12382" y="791210"/>
                </a:lnTo>
                <a:lnTo>
                  <a:pt x="1803" y="753110"/>
                </a:lnTo>
                <a:lnTo>
                  <a:pt x="0" y="730250"/>
                </a:lnTo>
                <a:lnTo>
                  <a:pt x="0" y="156210"/>
                </a:lnTo>
                <a:lnTo>
                  <a:pt x="4953" y="118110"/>
                </a:lnTo>
                <a:lnTo>
                  <a:pt x="15532" y="88900"/>
                </a:lnTo>
                <a:lnTo>
                  <a:pt x="19011" y="81279"/>
                </a:lnTo>
                <a:lnTo>
                  <a:pt x="22809" y="74929"/>
                </a:lnTo>
                <a:lnTo>
                  <a:pt x="26898" y="68579"/>
                </a:lnTo>
                <a:lnTo>
                  <a:pt x="31292" y="62229"/>
                </a:lnTo>
                <a:lnTo>
                  <a:pt x="35966" y="57150"/>
                </a:lnTo>
                <a:lnTo>
                  <a:pt x="40906" y="50800"/>
                </a:lnTo>
                <a:lnTo>
                  <a:pt x="69418" y="26670"/>
                </a:lnTo>
                <a:lnTo>
                  <a:pt x="75806" y="21589"/>
                </a:lnTo>
                <a:lnTo>
                  <a:pt x="82410" y="17779"/>
                </a:lnTo>
                <a:lnTo>
                  <a:pt x="89204" y="15239"/>
                </a:lnTo>
                <a:lnTo>
                  <a:pt x="96177" y="11429"/>
                </a:lnTo>
                <a:lnTo>
                  <a:pt x="103339" y="8889"/>
                </a:lnTo>
                <a:lnTo>
                  <a:pt x="118135" y="3810"/>
                </a:lnTo>
                <a:lnTo>
                  <a:pt x="141401" y="0"/>
                </a:lnTo>
                <a:lnTo>
                  <a:pt x="10052888" y="0"/>
                </a:lnTo>
                <a:lnTo>
                  <a:pt x="10076154" y="3810"/>
                </a:lnTo>
                <a:lnTo>
                  <a:pt x="10090950" y="8889"/>
                </a:lnTo>
                <a:lnTo>
                  <a:pt x="10098112" y="11429"/>
                </a:lnTo>
                <a:lnTo>
                  <a:pt x="10105085" y="15239"/>
                </a:lnTo>
                <a:lnTo>
                  <a:pt x="10111879" y="17779"/>
                </a:lnTo>
                <a:lnTo>
                  <a:pt x="10118483" y="21589"/>
                </a:lnTo>
                <a:lnTo>
                  <a:pt x="10124871" y="26670"/>
                </a:lnTo>
                <a:lnTo>
                  <a:pt x="10126929" y="27939"/>
                </a:lnTo>
                <a:lnTo>
                  <a:pt x="144640" y="27939"/>
                </a:lnTo>
                <a:lnTo>
                  <a:pt x="137477" y="29210"/>
                </a:lnTo>
                <a:lnTo>
                  <a:pt x="138188" y="29210"/>
                </a:lnTo>
                <a:lnTo>
                  <a:pt x="131140" y="30479"/>
                </a:lnTo>
                <a:lnTo>
                  <a:pt x="131838" y="30479"/>
                </a:lnTo>
                <a:lnTo>
                  <a:pt x="124904" y="31750"/>
                </a:lnTo>
                <a:lnTo>
                  <a:pt x="125603" y="31750"/>
                </a:lnTo>
                <a:lnTo>
                  <a:pt x="122205" y="33020"/>
                </a:lnTo>
                <a:lnTo>
                  <a:pt x="119481" y="33020"/>
                </a:lnTo>
                <a:lnTo>
                  <a:pt x="112826" y="35560"/>
                </a:lnTo>
                <a:lnTo>
                  <a:pt x="113487" y="35560"/>
                </a:lnTo>
                <a:lnTo>
                  <a:pt x="106984" y="38100"/>
                </a:lnTo>
                <a:lnTo>
                  <a:pt x="107632" y="38100"/>
                </a:lnTo>
                <a:lnTo>
                  <a:pt x="101282" y="40639"/>
                </a:lnTo>
                <a:lnTo>
                  <a:pt x="101917" y="40639"/>
                </a:lnTo>
                <a:lnTo>
                  <a:pt x="95745" y="43179"/>
                </a:lnTo>
                <a:lnTo>
                  <a:pt x="96354" y="43179"/>
                </a:lnTo>
                <a:lnTo>
                  <a:pt x="90347" y="46989"/>
                </a:lnTo>
                <a:lnTo>
                  <a:pt x="90944" y="46989"/>
                </a:lnTo>
                <a:lnTo>
                  <a:pt x="85128" y="49529"/>
                </a:lnTo>
                <a:lnTo>
                  <a:pt x="85699" y="49529"/>
                </a:lnTo>
                <a:lnTo>
                  <a:pt x="80086" y="53339"/>
                </a:lnTo>
                <a:lnTo>
                  <a:pt x="80632" y="53339"/>
                </a:lnTo>
                <a:lnTo>
                  <a:pt x="75222" y="57150"/>
                </a:lnTo>
                <a:lnTo>
                  <a:pt x="75755" y="57150"/>
                </a:lnTo>
                <a:lnTo>
                  <a:pt x="71859" y="60960"/>
                </a:lnTo>
                <a:lnTo>
                  <a:pt x="71056" y="60960"/>
                </a:lnTo>
                <a:lnTo>
                  <a:pt x="66090" y="66039"/>
                </a:lnTo>
                <a:lnTo>
                  <a:pt x="66573" y="66039"/>
                </a:lnTo>
                <a:lnTo>
                  <a:pt x="61823" y="69850"/>
                </a:lnTo>
                <a:lnTo>
                  <a:pt x="62280" y="69850"/>
                </a:lnTo>
                <a:lnTo>
                  <a:pt x="57784" y="74929"/>
                </a:lnTo>
                <a:lnTo>
                  <a:pt x="58216" y="74929"/>
                </a:lnTo>
                <a:lnTo>
                  <a:pt x="53975" y="80010"/>
                </a:lnTo>
                <a:lnTo>
                  <a:pt x="54381" y="80010"/>
                </a:lnTo>
                <a:lnTo>
                  <a:pt x="50380" y="85089"/>
                </a:lnTo>
                <a:lnTo>
                  <a:pt x="50774" y="85089"/>
                </a:lnTo>
                <a:lnTo>
                  <a:pt x="47040" y="90170"/>
                </a:lnTo>
                <a:lnTo>
                  <a:pt x="47409" y="90170"/>
                </a:lnTo>
                <a:lnTo>
                  <a:pt x="43954" y="95250"/>
                </a:lnTo>
                <a:lnTo>
                  <a:pt x="44284" y="95250"/>
                </a:lnTo>
                <a:lnTo>
                  <a:pt x="41755" y="100329"/>
                </a:lnTo>
                <a:lnTo>
                  <a:pt x="41427" y="100329"/>
                </a:lnTo>
                <a:lnTo>
                  <a:pt x="38557" y="106679"/>
                </a:lnTo>
                <a:lnTo>
                  <a:pt x="38836" y="106679"/>
                </a:lnTo>
                <a:lnTo>
                  <a:pt x="36784" y="111760"/>
                </a:lnTo>
                <a:lnTo>
                  <a:pt x="36512" y="111760"/>
                </a:lnTo>
                <a:lnTo>
                  <a:pt x="34639" y="118110"/>
                </a:lnTo>
                <a:lnTo>
                  <a:pt x="34467" y="118110"/>
                </a:lnTo>
                <a:lnTo>
                  <a:pt x="32537" y="124460"/>
                </a:lnTo>
                <a:lnTo>
                  <a:pt x="32715" y="124460"/>
                </a:lnTo>
                <a:lnTo>
                  <a:pt x="31115" y="130810"/>
                </a:lnTo>
                <a:lnTo>
                  <a:pt x="31267" y="130810"/>
                </a:lnTo>
                <a:lnTo>
                  <a:pt x="29997" y="137160"/>
                </a:lnTo>
                <a:lnTo>
                  <a:pt x="29197" y="143510"/>
                </a:lnTo>
                <a:lnTo>
                  <a:pt x="28807" y="149860"/>
                </a:lnTo>
                <a:lnTo>
                  <a:pt x="28604" y="156210"/>
                </a:lnTo>
                <a:lnTo>
                  <a:pt x="28604" y="730250"/>
                </a:lnTo>
                <a:lnTo>
                  <a:pt x="28714" y="735329"/>
                </a:lnTo>
                <a:lnTo>
                  <a:pt x="29273" y="742950"/>
                </a:lnTo>
                <a:lnTo>
                  <a:pt x="30111" y="749300"/>
                </a:lnTo>
                <a:lnTo>
                  <a:pt x="31267" y="755650"/>
                </a:lnTo>
                <a:lnTo>
                  <a:pt x="31115" y="755650"/>
                </a:lnTo>
                <a:lnTo>
                  <a:pt x="32715" y="762000"/>
                </a:lnTo>
                <a:lnTo>
                  <a:pt x="32537" y="762000"/>
                </a:lnTo>
                <a:lnTo>
                  <a:pt x="34467" y="768350"/>
                </a:lnTo>
                <a:lnTo>
                  <a:pt x="34639" y="768350"/>
                </a:lnTo>
                <a:lnTo>
                  <a:pt x="36512" y="774700"/>
                </a:lnTo>
                <a:lnTo>
                  <a:pt x="36784" y="774700"/>
                </a:lnTo>
                <a:lnTo>
                  <a:pt x="38836" y="779779"/>
                </a:lnTo>
                <a:lnTo>
                  <a:pt x="38557" y="779779"/>
                </a:lnTo>
                <a:lnTo>
                  <a:pt x="41427" y="786129"/>
                </a:lnTo>
                <a:lnTo>
                  <a:pt x="41755" y="786129"/>
                </a:lnTo>
                <a:lnTo>
                  <a:pt x="44284" y="791210"/>
                </a:lnTo>
                <a:lnTo>
                  <a:pt x="43954" y="791210"/>
                </a:lnTo>
                <a:lnTo>
                  <a:pt x="47409" y="796289"/>
                </a:lnTo>
                <a:lnTo>
                  <a:pt x="47040" y="796289"/>
                </a:lnTo>
                <a:lnTo>
                  <a:pt x="50774" y="801370"/>
                </a:lnTo>
                <a:lnTo>
                  <a:pt x="50380" y="801370"/>
                </a:lnTo>
                <a:lnTo>
                  <a:pt x="54381" y="806450"/>
                </a:lnTo>
                <a:lnTo>
                  <a:pt x="53975" y="806450"/>
                </a:lnTo>
                <a:lnTo>
                  <a:pt x="58216" y="811529"/>
                </a:lnTo>
                <a:lnTo>
                  <a:pt x="57784" y="811529"/>
                </a:lnTo>
                <a:lnTo>
                  <a:pt x="62280" y="816610"/>
                </a:lnTo>
                <a:lnTo>
                  <a:pt x="61823" y="816610"/>
                </a:lnTo>
                <a:lnTo>
                  <a:pt x="66573" y="820420"/>
                </a:lnTo>
                <a:lnTo>
                  <a:pt x="66090" y="820420"/>
                </a:lnTo>
                <a:lnTo>
                  <a:pt x="71056" y="825500"/>
                </a:lnTo>
                <a:lnTo>
                  <a:pt x="71859" y="825500"/>
                </a:lnTo>
                <a:lnTo>
                  <a:pt x="75755" y="829310"/>
                </a:lnTo>
                <a:lnTo>
                  <a:pt x="75222" y="829310"/>
                </a:lnTo>
                <a:lnTo>
                  <a:pt x="80632" y="833120"/>
                </a:lnTo>
                <a:lnTo>
                  <a:pt x="80086" y="833120"/>
                </a:lnTo>
                <a:lnTo>
                  <a:pt x="85699" y="836929"/>
                </a:lnTo>
                <a:lnTo>
                  <a:pt x="85128" y="836929"/>
                </a:lnTo>
                <a:lnTo>
                  <a:pt x="90944" y="839470"/>
                </a:lnTo>
                <a:lnTo>
                  <a:pt x="90347" y="839470"/>
                </a:lnTo>
                <a:lnTo>
                  <a:pt x="96354" y="843279"/>
                </a:lnTo>
                <a:lnTo>
                  <a:pt x="95745" y="843279"/>
                </a:lnTo>
                <a:lnTo>
                  <a:pt x="101917" y="845820"/>
                </a:lnTo>
                <a:lnTo>
                  <a:pt x="101282" y="845820"/>
                </a:lnTo>
                <a:lnTo>
                  <a:pt x="107632" y="848360"/>
                </a:lnTo>
                <a:lnTo>
                  <a:pt x="106984" y="848360"/>
                </a:lnTo>
                <a:lnTo>
                  <a:pt x="113487" y="850900"/>
                </a:lnTo>
                <a:lnTo>
                  <a:pt x="112826" y="850900"/>
                </a:lnTo>
                <a:lnTo>
                  <a:pt x="119481" y="853439"/>
                </a:lnTo>
                <a:lnTo>
                  <a:pt x="122205" y="853439"/>
                </a:lnTo>
                <a:lnTo>
                  <a:pt x="125603" y="854709"/>
                </a:lnTo>
                <a:lnTo>
                  <a:pt x="124904" y="854709"/>
                </a:lnTo>
                <a:lnTo>
                  <a:pt x="131838" y="855979"/>
                </a:lnTo>
                <a:lnTo>
                  <a:pt x="131140" y="855979"/>
                </a:lnTo>
                <a:lnTo>
                  <a:pt x="138188" y="857250"/>
                </a:lnTo>
                <a:lnTo>
                  <a:pt x="137477" y="857250"/>
                </a:lnTo>
                <a:lnTo>
                  <a:pt x="144640" y="858520"/>
                </a:lnTo>
                <a:lnTo>
                  <a:pt x="10126929" y="858520"/>
                </a:lnTo>
                <a:lnTo>
                  <a:pt x="10124871" y="859790"/>
                </a:lnTo>
                <a:lnTo>
                  <a:pt x="10118483" y="864870"/>
                </a:lnTo>
                <a:lnTo>
                  <a:pt x="10111879" y="868679"/>
                </a:lnTo>
                <a:lnTo>
                  <a:pt x="10105085" y="871220"/>
                </a:lnTo>
                <a:lnTo>
                  <a:pt x="10098112" y="875029"/>
                </a:lnTo>
                <a:lnTo>
                  <a:pt x="10083634" y="880109"/>
                </a:lnTo>
                <a:lnTo>
                  <a:pt x="10076154" y="882650"/>
                </a:lnTo>
                <a:lnTo>
                  <a:pt x="10052888" y="886459"/>
                </a:lnTo>
                <a:close/>
              </a:path>
              <a:path w="10194290" h="886459">
                <a:moveTo>
                  <a:pt x="143929" y="29210"/>
                </a:moveTo>
                <a:lnTo>
                  <a:pt x="144640" y="27939"/>
                </a:lnTo>
                <a:lnTo>
                  <a:pt x="151193" y="27939"/>
                </a:lnTo>
                <a:lnTo>
                  <a:pt x="143929" y="29210"/>
                </a:lnTo>
                <a:close/>
              </a:path>
              <a:path w="10194290" h="886459">
                <a:moveTo>
                  <a:pt x="10050360" y="29210"/>
                </a:moveTo>
                <a:lnTo>
                  <a:pt x="10043096" y="27939"/>
                </a:lnTo>
                <a:lnTo>
                  <a:pt x="10049649" y="27939"/>
                </a:lnTo>
                <a:lnTo>
                  <a:pt x="10050360" y="29210"/>
                </a:lnTo>
                <a:close/>
              </a:path>
              <a:path w="10194290" h="886459">
                <a:moveTo>
                  <a:pt x="10075481" y="34289"/>
                </a:moveTo>
                <a:lnTo>
                  <a:pt x="10068687" y="31750"/>
                </a:lnTo>
                <a:lnTo>
                  <a:pt x="10069385" y="31750"/>
                </a:lnTo>
                <a:lnTo>
                  <a:pt x="10062451" y="30479"/>
                </a:lnTo>
                <a:lnTo>
                  <a:pt x="10063149" y="30479"/>
                </a:lnTo>
                <a:lnTo>
                  <a:pt x="10056101" y="29210"/>
                </a:lnTo>
                <a:lnTo>
                  <a:pt x="10056812" y="29210"/>
                </a:lnTo>
                <a:lnTo>
                  <a:pt x="10049649" y="27939"/>
                </a:lnTo>
                <a:lnTo>
                  <a:pt x="10126929" y="27939"/>
                </a:lnTo>
                <a:lnTo>
                  <a:pt x="10131044" y="30479"/>
                </a:lnTo>
                <a:lnTo>
                  <a:pt x="10134015" y="33020"/>
                </a:lnTo>
                <a:lnTo>
                  <a:pt x="10074808" y="33020"/>
                </a:lnTo>
                <a:lnTo>
                  <a:pt x="10075481" y="34289"/>
                </a:lnTo>
                <a:close/>
              </a:path>
              <a:path w="10194290" h="886459">
                <a:moveTo>
                  <a:pt x="118808" y="34289"/>
                </a:moveTo>
                <a:lnTo>
                  <a:pt x="119481" y="33020"/>
                </a:lnTo>
                <a:lnTo>
                  <a:pt x="122205" y="33020"/>
                </a:lnTo>
                <a:lnTo>
                  <a:pt x="118808" y="34289"/>
                </a:lnTo>
                <a:close/>
              </a:path>
              <a:path w="10194290" h="886459">
                <a:moveTo>
                  <a:pt x="10123728" y="62229"/>
                </a:moveTo>
                <a:lnTo>
                  <a:pt x="10118534" y="57150"/>
                </a:lnTo>
                <a:lnTo>
                  <a:pt x="10119067" y="57150"/>
                </a:lnTo>
                <a:lnTo>
                  <a:pt x="10113657" y="53339"/>
                </a:lnTo>
                <a:lnTo>
                  <a:pt x="10114203" y="53339"/>
                </a:lnTo>
                <a:lnTo>
                  <a:pt x="10108590" y="49529"/>
                </a:lnTo>
                <a:lnTo>
                  <a:pt x="10109161" y="49529"/>
                </a:lnTo>
                <a:lnTo>
                  <a:pt x="10103345" y="46989"/>
                </a:lnTo>
                <a:lnTo>
                  <a:pt x="10103942" y="46989"/>
                </a:lnTo>
                <a:lnTo>
                  <a:pt x="10097935" y="43179"/>
                </a:lnTo>
                <a:lnTo>
                  <a:pt x="10098544" y="43179"/>
                </a:lnTo>
                <a:lnTo>
                  <a:pt x="10092372" y="40639"/>
                </a:lnTo>
                <a:lnTo>
                  <a:pt x="10093007" y="40639"/>
                </a:lnTo>
                <a:lnTo>
                  <a:pt x="10086657" y="38100"/>
                </a:lnTo>
                <a:lnTo>
                  <a:pt x="10087305" y="38100"/>
                </a:lnTo>
                <a:lnTo>
                  <a:pt x="10080802" y="35560"/>
                </a:lnTo>
                <a:lnTo>
                  <a:pt x="10081463" y="35560"/>
                </a:lnTo>
                <a:lnTo>
                  <a:pt x="10074808" y="33020"/>
                </a:lnTo>
                <a:lnTo>
                  <a:pt x="10134015" y="33020"/>
                </a:lnTo>
                <a:lnTo>
                  <a:pt x="10158323" y="57150"/>
                </a:lnTo>
                <a:lnTo>
                  <a:pt x="10161828" y="60960"/>
                </a:lnTo>
                <a:lnTo>
                  <a:pt x="10123233" y="60960"/>
                </a:lnTo>
                <a:lnTo>
                  <a:pt x="10123728" y="62229"/>
                </a:lnTo>
                <a:close/>
              </a:path>
              <a:path w="10194290" h="886459">
                <a:moveTo>
                  <a:pt x="70561" y="62229"/>
                </a:moveTo>
                <a:lnTo>
                  <a:pt x="71056" y="60960"/>
                </a:lnTo>
                <a:lnTo>
                  <a:pt x="71859" y="60960"/>
                </a:lnTo>
                <a:lnTo>
                  <a:pt x="70561" y="62229"/>
                </a:lnTo>
                <a:close/>
              </a:path>
              <a:path w="10194290" h="886459">
                <a:moveTo>
                  <a:pt x="10153167" y="101600"/>
                </a:moveTo>
                <a:lnTo>
                  <a:pt x="10150005" y="95250"/>
                </a:lnTo>
                <a:lnTo>
                  <a:pt x="10150335" y="95250"/>
                </a:lnTo>
                <a:lnTo>
                  <a:pt x="10146880" y="90170"/>
                </a:lnTo>
                <a:lnTo>
                  <a:pt x="10147249" y="90170"/>
                </a:lnTo>
                <a:lnTo>
                  <a:pt x="10143515" y="85089"/>
                </a:lnTo>
                <a:lnTo>
                  <a:pt x="10143909" y="85089"/>
                </a:lnTo>
                <a:lnTo>
                  <a:pt x="10139908" y="80010"/>
                </a:lnTo>
                <a:lnTo>
                  <a:pt x="10140315" y="80010"/>
                </a:lnTo>
                <a:lnTo>
                  <a:pt x="10136073" y="74929"/>
                </a:lnTo>
                <a:lnTo>
                  <a:pt x="10136505" y="74929"/>
                </a:lnTo>
                <a:lnTo>
                  <a:pt x="10132009" y="69850"/>
                </a:lnTo>
                <a:lnTo>
                  <a:pt x="10132466" y="69850"/>
                </a:lnTo>
                <a:lnTo>
                  <a:pt x="10127716" y="66039"/>
                </a:lnTo>
                <a:lnTo>
                  <a:pt x="10128199" y="66039"/>
                </a:lnTo>
                <a:lnTo>
                  <a:pt x="10123233" y="60960"/>
                </a:lnTo>
                <a:lnTo>
                  <a:pt x="10161828" y="60960"/>
                </a:lnTo>
                <a:lnTo>
                  <a:pt x="10162997" y="62229"/>
                </a:lnTo>
                <a:lnTo>
                  <a:pt x="10167391" y="68579"/>
                </a:lnTo>
                <a:lnTo>
                  <a:pt x="10171480" y="74929"/>
                </a:lnTo>
                <a:lnTo>
                  <a:pt x="10175278" y="81279"/>
                </a:lnTo>
                <a:lnTo>
                  <a:pt x="10178757" y="88900"/>
                </a:lnTo>
                <a:lnTo>
                  <a:pt x="10181907" y="95250"/>
                </a:lnTo>
                <a:lnTo>
                  <a:pt x="10183787" y="100329"/>
                </a:lnTo>
                <a:lnTo>
                  <a:pt x="10152862" y="100329"/>
                </a:lnTo>
                <a:lnTo>
                  <a:pt x="10153167" y="101600"/>
                </a:lnTo>
                <a:close/>
              </a:path>
              <a:path w="10194290" h="886459">
                <a:moveTo>
                  <a:pt x="41122" y="101600"/>
                </a:moveTo>
                <a:lnTo>
                  <a:pt x="41427" y="100329"/>
                </a:lnTo>
                <a:lnTo>
                  <a:pt x="41755" y="100329"/>
                </a:lnTo>
                <a:lnTo>
                  <a:pt x="41122" y="101600"/>
                </a:lnTo>
                <a:close/>
              </a:path>
              <a:path w="10194290" h="886459">
                <a:moveTo>
                  <a:pt x="10158018" y="113029"/>
                </a:moveTo>
                <a:lnTo>
                  <a:pt x="10155453" y="106679"/>
                </a:lnTo>
                <a:lnTo>
                  <a:pt x="10155732" y="106679"/>
                </a:lnTo>
                <a:lnTo>
                  <a:pt x="10152862" y="100329"/>
                </a:lnTo>
                <a:lnTo>
                  <a:pt x="10183787" y="100329"/>
                </a:lnTo>
                <a:lnTo>
                  <a:pt x="10184726" y="102870"/>
                </a:lnTo>
                <a:lnTo>
                  <a:pt x="10187216" y="110489"/>
                </a:lnTo>
                <a:lnTo>
                  <a:pt x="10187569" y="111760"/>
                </a:lnTo>
                <a:lnTo>
                  <a:pt x="10157777" y="111760"/>
                </a:lnTo>
                <a:lnTo>
                  <a:pt x="10158018" y="113029"/>
                </a:lnTo>
                <a:close/>
              </a:path>
              <a:path w="10194290" h="886459">
                <a:moveTo>
                  <a:pt x="36271" y="113029"/>
                </a:moveTo>
                <a:lnTo>
                  <a:pt x="36512" y="111760"/>
                </a:lnTo>
                <a:lnTo>
                  <a:pt x="36784" y="111760"/>
                </a:lnTo>
                <a:lnTo>
                  <a:pt x="36271" y="113029"/>
                </a:lnTo>
                <a:close/>
              </a:path>
              <a:path w="10194290" h="886459">
                <a:moveTo>
                  <a:pt x="10160025" y="119379"/>
                </a:moveTo>
                <a:lnTo>
                  <a:pt x="10157777" y="111760"/>
                </a:lnTo>
                <a:lnTo>
                  <a:pt x="10187569" y="111760"/>
                </a:lnTo>
                <a:lnTo>
                  <a:pt x="10189337" y="118110"/>
                </a:lnTo>
                <a:lnTo>
                  <a:pt x="10159822" y="118110"/>
                </a:lnTo>
                <a:lnTo>
                  <a:pt x="10160025" y="119379"/>
                </a:lnTo>
                <a:close/>
              </a:path>
              <a:path w="10194290" h="886459">
                <a:moveTo>
                  <a:pt x="34264" y="119379"/>
                </a:moveTo>
                <a:lnTo>
                  <a:pt x="34467" y="118110"/>
                </a:lnTo>
                <a:lnTo>
                  <a:pt x="34639" y="118110"/>
                </a:lnTo>
                <a:lnTo>
                  <a:pt x="34264" y="119379"/>
                </a:lnTo>
                <a:close/>
              </a:path>
              <a:path w="10194290" h="886459">
                <a:moveTo>
                  <a:pt x="10194154" y="151129"/>
                </a:moveTo>
                <a:lnTo>
                  <a:pt x="10165575" y="151129"/>
                </a:lnTo>
                <a:lnTo>
                  <a:pt x="10165537" y="149860"/>
                </a:lnTo>
                <a:lnTo>
                  <a:pt x="10165016" y="143510"/>
                </a:lnTo>
                <a:lnTo>
                  <a:pt x="10164178" y="137160"/>
                </a:lnTo>
                <a:lnTo>
                  <a:pt x="10163022" y="130810"/>
                </a:lnTo>
                <a:lnTo>
                  <a:pt x="10163175" y="130810"/>
                </a:lnTo>
                <a:lnTo>
                  <a:pt x="10161574" y="124460"/>
                </a:lnTo>
                <a:lnTo>
                  <a:pt x="10161752" y="124460"/>
                </a:lnTo>
                <a:lnTo>
                  <a:pt x="10159822" y="118110"/>
                </a:lnTo>
                <a:lnTo>
                  <a:pt x="10189337" y="118110"/>
                </a:lnTo>
                <a:lnTo>
                  <a:pt x="10191089" y="125729"/>
                </a:lnTo>
                <a:lnTo>
                  <a:pt x="10192473" y="133350"/>
                </a:lnTo>
                <a:lnTo>
                  <a:pt x="10193477" y="140970"/>
                </a:lnTo>
                <a:lnTo>
                  <a:pt x="10194086" y="148589"/>
                </a:lnTo>
                <a:lnTo>
                  <a:pt x="10194154" y="151129"/>
                </a:lnTo>
                <a:close/>
              </a:path>
              <a:path w="10194290" h="886459">
                <a:moveTo>
                  <a:pt x="28727" y="150960"/>
                </a:moveTo>
                <a:lnTo>
                  <a:pt x="28752" y="149860"/>
                </a:lnTo>
                <a:lnTo>
                  <a:pt x="28727" y="150960"/>
                </a:lnTo>
                <a:close/>
              </a:path>
              <a:path w="10194290" h="886459">
                <a:moveTo>
                  <a:pt x="10165562" y="150960"/>
                </a:moveTo>
                <a:lnTo>
                  <a:pt x="10165482" y="149860"/>
                </a:lnTo>
                <a:lnTo>
                  <a:pt x="10165562" y="150960"/>
                </a:lnTo>
                <a:close/>
              </a:path>
              <a:path w="10194290" h="886459">
                <a:moveTo>
                  <a:pt x="28723" y="151129"/>
                </a:moveTo>
                <a:lnTo>
                  <a:pt x="28727" y="150960"/>
                </a:lnTo>
                <a:lnTo>
                  <a:pt x="28723" y="151129"/>
                </a:lnTo>
                <a:close/>
              </a:path>
              <a:path w="10194290" h="886459">
                <a:moveTo>
                  <a:pt x="10194290" y="730250"/>
                </a:moveTo>
                <a:lnTo>
                  <a:pt x="10165715" y="730250"/>
                </a:lnTo>
                <a:lnTo>
                  <a:pt x="10165715" y="156210"/>
                </a:lnTo>
                <a:lnTo>
                  <a:pt x="10165562" y="150960"/>
                </a:lnTo>
                <a:lnTo>
                  <a:pt x="10165575" y="151129"/>
                </a:lnTo>
                <a:lnTo>
                  <a:pt x="10194154" y="151129"/>
                </a:lnTo>
                <a:lnTo>
                  <a:pt x="10194290" y="156210"/>
                </a:lnTo>
                <a:lnTo>
                  <a:pt x="10194290" y="730250"/>
                </a:lnTo>
                <a:close/>
              </a:path>
              <a:path w="10194290" h="886459">
                <a:moveTo>
                  <a:pt x="28575" y="157479"/>
                </a:moveTo>
                <a:lnTo>
                  <a:pt x="28575" y="156210"/>
                </a:lnTo>
                <a:lnTo>
                  <a:pt x="28575" y="157479"/>
                </a:lnTo>
                <a:close/>
              </a:path>
              <a:path w="10194290" h="886459">
                <a:moveTo>
                  <a:pt x="10165715" y="157479"/>
                </a:moveTo>
                <a:lnTo>
                  <a:pt x="10165685" y="156210"/>
                </a:lnTo>
                <a:lnTo>
                  <a:pt x="10165715" y="157479"/>
                </a:lnTo>
                <a:close/>
              </a:path>
              <a:path w="10194290" h="886459">
                <a:moveTo>
                  <a:pt x="28604" y="730250"/>
                </a:moveTo>
                <a:lnTo>
                  <a:pt x="28575" y="728979"/>
                </a:lnTo>
                <a:lnTo>
                  <a:pt x="28604" y="730250"/>
                </a:lnTo>
                <a:close/>
              </a:path>
              <a:path w="10194290" h="886459">
                <a:moveTo>
                  <a:pt x="10194120" y="736600"/>
                </a:moveTo>
                <a:lnTo>
                  <a:pt x="10165537" y="736600"/>
                </a:lnTo>
                <a:lnTo>
                  <a:pt x="10165715" y="728979"/>
                </a:lnTo>
                <a:lnTo>
                  <a:pt x="10165715" y="730250"/>
                </a:lnTo>
                <a:lnTo>
                  <a:pt x="10194290" y="730250"/>
                </a:lnTo>
                <a:lnTo>
                  <a:pt x="10194120" y="736600"/>
                </a:lnTo>
                <a:close/>
              </a:path>
              <a:path w="10194290" h="886459">
                <a:moveTo>
                  <a:pt x="10165562" y="735499"/>
                </a:moveTo>
                <a:lnTo>
                  <a:pt x="10165566" y="735329"/>
                </a:lnTo>
                <a:lnTo>
                  <a:pt x="10165562" y="735499"/>
                </a:lnTo>
                <a:close/>
              </a:path>
              <a:path w="10194290" h="886459">
                <a:moveTo>
                  <a:pt x="28807" y="736600"/>
                </a:moveTo>
                <a:lnTo>
                  <a:pt x="28727" y="735499"/>
                </a:lnTo>
                <a:lnTo>
                  <a:pt x="28807" y="736600"/>
                </a:lnTo>
                <a:close/>
              </a:path>
              <a:path w="10194290" h="886459">
                <a:moveTo>
                  <a:pt x="10189337" y="768350"/>
                </a:moveTo>
                <a:lnTo>
                  <a:pt x="10159822" y="768350"/>
                </a:lnTo>
                <a:lnTo>
                  <a:pt x="10161752" y="762000"/>
                </a:lnTo>
                <a:lnTo>
                  <a:pt x="10161574" y="762000"/>
                </a:lnTo>
                <a:lnTo>
                  <a:pt x="10163175" y="755650"/>
                </a:lnTo>
                <a:lnTo>
                  <a:pt x="10163022" y="755650"/>
                </a:lnTo>
                <a:lnTo>
                  <a:pt x="10164292" y="749300"/>
                </a:lnTo>
                <a:lnTo>
                  <a:pt x="10165092" y="742950"/>
                </a:lnTo>
                <a:lnTo>
                  <a:pt x="10165562" y="735499"/>
                </a:lnTo>
                <a:lnTo>
                  <a:pt x="10165537" y="736600"/>
                </a:lnTo>
                <a:lnTo>
                  <a:pt x="10194120" y="736600"/>
                </a:lnTo>
                <a:lnTo>
                  <a:pt x="10194086" y="737870"/>
                </a:lnTo>
                <a:lnTo>
                  <a:pt x="10193477" y="745489"/>
                </a:lnTo>
                <a:lnTo>
                  <a:pt x="10192473" y="753110"/>
                </a:lnTo>
                <a:lnTo>
                  <a:pt x="10191089" y="760729"/>
                </a:lnTo>
                <a:lnTo>
                  <a:pt x="10189337" y="768350"/>
                </a:lnTo>
                <a:close/>
              </a:path>
              <a:path w="10194290" h="886459">
                <a:moveTo>
                  <a:pt x="34639" y="768350"/>
                </a:moveTo>
                <a:lnTo>
                  <a:pt x="34467" y="768350"/>
                </a:lnTo>
                <a:lnTo>
                  <a:pt x="34264" y="767079"/>
                </a:lnTo>
                <a:lnTo>
                  <a:pt x="34639" y="768350"/>
                </a:lnTo>
                <a:close/>
              </a:path>
              <a:path w="10194290" h="886459">
                <a:moveTo>
                  <a:pt x="10187569" y="774700"/>
                </a:moveTo>
                <a:lnTo>
                  <a:pt x="10157777" y="774700"/>
                </a:lnTo>
                <a:lnTo>
                  <a:pt x="10160025" y="767079"/>
                </a:lnTo>
                <a:lnTo>
                  <a:pt x="10159822" y="768350"/>
                </a:lnTo>
                <a:lnTo>
                  <a:pt x="10189337" y="768350"/>
                </a:lnTo>
                <a:lnTo>
                  <a:pt x="10187569" y="774700"/>
                </a:lnTo>
                <a:close/>
              </a:path>
              <a:path w="10194290" h="886459">
                <a:moveTo>
                  <a:pt x="36784" y="774700"/>
                </a:moveTo>
                <a:lnTo>
                  <a:pt x="36512" y="774700"/>
                </a:lnTo>
                <a:lnTo>
                  <a:pt x="36271" y="773429"/>
                </a:lnTo>
                <a:lnTo>
                  <a:pt x="36784" y="774700"/>
                </a:lnTo>
                <a:close/>
              </a:path>
              <a:path w="10194290" h="886459">
                <a:moveTo>
                  <a:pt x="10183787" y="786129"/>
                </a:moveTo>
                <a:lnTo>
                  <a:pt x="10152862" y="786129"/>
                </a:lnTo>
                <a:lnTo>
                  <a:pt x="10155732" y="779779"/>
                </a:lnTo>
                <a:lnTo>
                  <a:pt x="10155453" y="779779"/>
                </a:lnTo>
                <a:lnTo>
                  <a:pt x="10158018" y="773429"/>
                </a:lnTo>
                <a:lnTo>
                  <a:pt x="10157777" y="774700"/>
                </a:lnTo>
                <a:lnTo>
                  <a:pt x="10187569" y="774700"/>
                </a:lnTo>
                <a:lnTo>
                  <a:pt x="10187216" y="775970"/>
                </a:lnTo>
                <a:lnTo>
                  <a:pt x="10184726" y="783589"/>
                </a:lnTo>
                <a:lnTo>
                  <a:pt x="10183787" y="786129"/>
                </a:lnTo>
                <a:close/>
              </a:path>
              <a:path w="10194290" h="886459">
                <a:moveTo>
                  <a:pt x="41755" y="786129"/>
                </a:moveTo>
                <a:lnTo>
                  <a:pt x="41427" y="786129"/>
                </a:lnTo>
                <a:lnTo>
                  <a:pt x="41122" y="784860"/>
                </a:lnTo>
                <a:lnTo>
                  <a:pt x="41755" y="786129"/>
                </a:lnTo>
                <a:close/>
              </a:path>
              <a:path w="10194290" h="886459">
                <a:moveTo>
                  <a:pt x="10161828" y="825500"/>
                </a:moveTo>
                <a:lnTo>
                  <a:pt x="10123233" y="825500"/>
                </a:lnTo>
                <a:lnTo>
                  <a:pt x="10128199" y="820420"/>
                </a:lnTo>
                <a:lnTo>
                  <a:pt x="10127716" y="820420"/>
                </a:lnTo>
                <a:lnTo>
                  <a:pt x="10132466" y="816610"/>
                </a:lnTo>
                <a:lnTo>
                  <a:pt x="10132009" y="816610"/>
                </a:lnTo>
                <a:lnTo>
                  <a:pt x="10136505" y="811529"/>
                </a:lnTo>
                <a:lnTo>
                  <a:pt x="10136073" y="811529"/>
                </a:lnTo>
                <a:lnTo>
                  <a:pt x="10140315" y="806450"/>
                </a:lnTo>
                <a:lnTo>
                  <a:pt x="10139908" y="806450"/>
                </a:lnTo>
                <a:lnTo>
                  <a:pt x="10143909" y="801370"/>
                </a:lnTo>
                <a:lnTo>
                  <a:pt x="10143515" y="801370"/>
                </a:lnTo>
                <a:lnTo>
                  <a:pt x="10147249" y="796289"/>
                </a:lnTo>
                <a:lnTo>
                  <a:pt x="10146880" y="796289"/>
                </a:lnTo>
                <a:lnTo>
                  <a:pt x="10150335" y="791210"/>
                </a:lnTo>
                <a:lnTo>
                  <a:pt x="10150005" y="791210"/>
                </a:lnTo>
                <a:lnTo>
                  <a:pt x="10153167" y="784860"/>
                </a:lnTo>
                <a:lnTo>
                  <a:pt x="10152862" y="786129"/>
                </a:lnTo>
                <a:lnTo>
                  <a:pt x="10183787" y="786129"/>
                </a:lnTo>
                <a:lnTo>
                  <a:pt x="10181907" y="791210"/>
                </a:lnTo>
                <a:lnTo>
                  <a:pt x="10178757" y="797560"/>
                </a:lnTo>
                <a:lnTo>
                  <a:pt x="10175278" y="805179"/>
                </a:lnTo>
                <a:lnTo>
                  <a:pt x="10171480" y="811529"/>
                </a:lnTo>
                <a:lnTo>
                  <a:pt x="10167391" y="817879"/>
                </a:lnTo>
                <a:lnTo>
                  <a:pt x="10162997" y="824229"/>
                </a:lnTo>
                <a:lnTo>
                  <a:pt x="10161828" y="825500"/>
                </a:lnTo>
                <a:close/>
              </a:path>
              <a:path w="10194290" h="886459">
                <a:moveTo>
                  <a:pt x="71859" y="825500"/>
                </a:moveTo>
                <a:lnTo>
                  <a:pt x="71056" y="825500"/>
                </a:lnTo>
                <a:lnTo>
                  <a:pt x="70561" y="824229"/>
                </a:lnTo>
                <a:lnTo>
                  <a:pt x="71859" y="825500"/>
                </a:lnTo>
                <a:close/>
              </a:path>
              <a:path w="10194290" h="886459">
                <a:moveTo>
                  <a:pt x="10134015" y="853439"/>
                </a:moveTo>
                <a:lnTo>
                  <a:pt x="10074808" y="853439"/>
                </a:lnTo>
                <a:lnTo>
                  <a:pt x="10081463" y="850900"/>
                </a:lnTo>
                <a:lnTo>
                  <a:pt x="10080802" y="850900"/>
                </a:lnTo>
                <a:lnTo>
                  <a:pt x="10087305" y="848360"/>
                </a:lnTo>
                <a:lnTo>
                  <a:pt x="10086657" y="848360"/>
                </a:lnTo>
                <a:lnTo>
                  <a:pt x="10093007" y="845820"/>
                </a:lnTo>
                <a:lnTo>
                  <a:pt x="10092372" y="845820"/>
                </a:lnTo>
                <a:lnTo>
                  <a:pt x="10098544" y="843279"/>
                </a:lnTo>
                <a:lnTo>
                  <a:pt x="10097935" y="843279"/>
                </a:lnTo>
                <a:lnTo>
                  <a:pt x="10103942" y="839470"/>
                </a:lnTo>
                <a:lnTo>
                  <a:pt x="10103345" y="839470"/>
                </a:lnTo>
                <a:lnTo>
                  <a:pt x="10109161" y="836929"/>
                </a:lnTo>
                <a:lnTo>
                  <a:pt x="10108590" y="836929"/>
                </a:lnTo>
                <a:lnTo>
                  <a:pt x="10114203" y="833120"/>
                </a:lnTo>
                <a:lnTo>
                  <a:pt x="10113657" y="833120"/>
                </a:lnTo>
                <a:lnTo>
                  <a:pt x="10119067" y="829310"/>
                </a:lnTo>
                <a:lnTo>
                  <a:pt x="10118534" y="829310"/>
                </a:lnTo>
                <a:lnTo>
                  <a:pt x="10123728" y="824229"/>
                </a:lnTo>
                <a:lnTo>
                  <a:pt x="10123233" y="825500"/>
                </a:lnTo>
                <a:lnTo>
                  <a:pt x="10161828" y="825500"/>
                </a:lnTo>
                <a:lnTo>
                  <a:pt x="10158323" y="829310"/>
                </a:lnTo>
                <a:lnTo>
                  <a:pt x="10153383" y="835660"/>
                </a:lnTo>
                <a:lnTo>
                  <a:pt x="10148163" y="840739"/>
                </a:lnTo>
                <a:lnTo>
                  <a:pt x="10142702" y="845820"/>
                </a:lnTo>
                <a:lnTo>
                  <a:pt x="10136987" y="850900"/>
                </a:lnTo>
                <a:lnTo>
                  <a:pt x="10134015" y="853439"/>
                </a:lnTo>
                <a:close/>
              </a:path>
              <a:path w="10194290" h="886459">
                <a:moveTo>
                  <a:pt x="122205" y="853439"/>
                </a:moveTo>
                <a:lnTo>
                  <a:pt x="119481" y="853439"/>
                </a:lnTo>
                <a:lnTo>
                  <a:pt x="118808" y="852170"/>
                </a:lnTo>
                <a:lnTo>
                  <a:pt x="122205" y="853439"/>
                </a:lnTo>
                <a:close/>
              </a:path>
              <a:path w="10194290" h="886459">
                <a:moveTo>
                  <a:pt x="10126929" y="858520"/>
                </a:moveTo>
                <a:lnTo>
                  <a:pt x="10049649" y="858520"/>
                </a:lnTo>
                <a:lnTo>
                  <a:pt x="10056812" y="857250"/>
                </a:lnTo>
                <a:lnTo>
                  <a:pt x="10056101" y="857250"/>
                </a:lnTo>
                <a:lnTo>
                  <a:pt x="10063149" y="855979"/>
                </a:lnTo>
                <a:lnTo>
                  <a:pt x="10062451" y="855979"/>
                </a:lnTo>
                <a:lnTo>
                  <a:pt x="10069385" y="854709"/>
                </a:lnTo>
                <a:lnTo>
                  <a:pt x="10068687" y="854709"/>
                </a:lnTo>
                <a:lnTo>
                  <a:pt x="10075481" y="852170"/>
                </a:lnTo>
                <a:lnTo>
                  <a:pt x="10074808" y="853439"/>
                </a:lnTo>
                <a:lnTo>
                  <a:pt x="10134015" y="853439"/>
                </a:lnTo>
                <a:lnTo>
                  <a:pt x="10131044" y="855979"/>
                </a:lnTo>
                <a:lnTo>
                  <a:pt x="10126929" y="858520"/>
                </a:lnTo>
                <a:close/>
              </a:path>
              <a:path w="10194290" h="886459">
                <a:moveTo>
                  <a:pt x="151193" y="858520"/>
                </a:moveTo>
                <a:lnTo>
                  <a:pt x="144640" y="858520"/>
                </a:lnTo>
                <a:lnTo>
                  <a:pt x="143929" y="857250"/>
                </a:lnTo>
                <a:lnTo>
                  <a:pt x="151193" y="858520"/>
                </a:lnTo>
                <a:close/>
              </a:path>
              <a:path w="10194290" h="886459">
                <a:moveTo>
                  <a:pt x="10049649" y="858520"/>
                </a:moveTo>
                <a:lnTo>
                  <a:pt x="10043096" y="858520"/>
                </a:lnTo>
                <a:lnTo>
                  <a:pt x="10050360" y="857250"/>
                </a:lnTo>
                <a:lnTo>
                  <a:pt x="10049649" y="858520"/>
                </a:lnTo>
                <a:close/>
              </a:path>
            </a:pathLst>
          </a:custGeom>
          <a:solidFill>
            <a:srgbClr val="423A8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533400"/>
            <a:ext cx="2567354" cy="5562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矩形 7"/>
          <p:cNvSpPr/>
          <p:nvPr/>
        </p:nvSpPr>
        <p:spPr>
          <a:xfrm>
            <a:off x="8686800" y="3810000"/>
            <a:ext cx="556846" cy="5715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7810500" y="4095750"/>
            <a:ext cx="838200" cy="4762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279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38967" y="6017844"/>
            <a:ext cx="815340" cy="831850"/>
          </a:xfrm>
          <a:custGeom>
            <a:avLst/>
            <a:gdLst/>
            <a:ahLst/>
            <a:cxnLst/>
            <a:rect l="l" t="t" r="r" b="b"/>
            <a:pathLst>
              <a:path w="815340" h="831850">
                <a:moveTo>
                  <a:pt x="544512" y="831748"/>
                </a:moveTo>
                <a:lnTo>
                  <a:pt x="0" y="831748"/>
                </a:lnTo>
                <a:lnTo>
                  <a:pt x="544512" y="0"/>
                </a:lnTo>
                <a:lnTo>
                  <a:pt x="814997" y="413156"/>
                </a:lnTo>
                <a:lnTo>
                  <a:pt x="544512" y="831748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265407" y="5416296"/>
            <a:ext cx="927100" cy="1432560"/>
          </a:xfrm>
          <a:custGeom>
            <a:avLst/>
            <a:gdLst/>
            <a:ahLst/>
            <a:cxnLst/>
            <a:rect l="l" t="t" r="r" b="b"/>
            <a:pathLst>
              <a:path w="927100" h="1432559">
                <a:moveTo>
                  <a:pt x="926592" y="1432559"/>
                </a:moveTo>
                <a:lnTo>
                  <a:pt x="0" y="1432559"/>
                </a:lnTo>
                <a:lnTo>
                  <a:pt x="926592" y="0"/>
                </a:lnTo>
                <a:lnTo>
                  <a:pt x="926592" y="1432559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50168" y="6018276"/>
            <a:ext cx="487680" cy="360045"/>
          </a:xfrm>
          <a:custGeom>
            <a:avLst/>
            <a:gdLst/>
            <a:ahLst/>
            <a:cxnLst/>
            <a:rect l="l" t="t" r="r" b="b"/>
            <a:pathLst>
              <a:path w="487679" h="360045">
                <a:moveTo>
                  <a:pt x="243839" y="359663"/>
                </a:moveTo>
                <a:lnTo>
                  <a:pt x="0" y="0"/>
                </a:lnTo>
                <a:lnTo>
                  <a:pt x="487679" y="0"/>
                </a:lnTo>
                <a:lnTo>
                  <a:pt x="243839" y="359663"/>
                </a:lnTo>
                <a:close/>
              </a:path>
            </a:pathLst>
          </a:custGeom>
          <a:solidFill>
            <a:srgbClr val="4A57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3048" y="314718"/>
            <a:ext cx="567270" cy="3443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36865" y="289953"/>
            <a:ext cx="3964431" cy="416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47114" y="957580"/>
            <a:ext cx="24644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Font typeface="Arial"/>
              <a:buChar char="➢"/>
              <a:tabLst>
                <a:tab pos="469265" algn="l"/>
                <a:tab pos="469900" algn="l"/>
              </a:tabLst>
            </a:pPr>
            <a:r>
              <a:rPr sz="2600" spc="-5" dirty="0">
                <a:solidFill>
                  <a:srgbClr val="C00000"/>
                </a:solidFill>
              </a:rPr>
              <a:t>新生开学典</a:t>
            </a:r>
            <a:r>
              <a:rPr sz="2600" dirty="0">
                <a:solidFill>
                  <a:srgbClr val="C00000"/>
                </a:solidFill>
              </a:rPr>
              <a:t>礼</a:t>
            </a:r>
            <a:endParaRPr sz="2600"/>
          </a:p>
        </p:txBody>
      </p:sp>
      <p:sp>
        <p:nvSpPr>
          <p:cNvPr id="8" name="object 8"/>
          <p:cNvSpPr txBox="1"/>
          <p:nvPr/>
        </p:nvSpPr>
        <p:spPr>
          <a:xfrm>
            <a:off x="1469389" y="1433829"/>
            <a:ext cx="5593080" cy="142748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127099"/>
              </a:lnSpc>
              <a:spcBef>
                <a:spcPts val="160"/>
              </a:spcBef>
              <a:tabLst>
                <a:tab pos="908050" algn="l"/>
                <a:tab pos="1671320" algn="l"/>
              </a:tabLst>
            </a:pPr>
            <a:r>
              <a:rPr sz="2400" b="1" dirty="0">
                <a:latin typeface="微软雅黑"/>
                <a:cs typeface="微软雅黑"/>
              </a:rPr>
              <a:t>时	间：</a:t>
            </a:r>
            <a:r>
              <a:rPr sz="2400" b="1" spc="-85" dirty="0">
                <a:latin typeface="微软雅黑"/>
                <a:cs typeface="微软雅黑"/>
              </a:rPr>
              <a:t> </a:t>
            </a:r>
            <a:r>
              <a:rPr sz="2400" b="1" spc="-5" dirty="0">
                <a:latin typeface="楷体"/>
                <a:cs typeface="楷体"/>
              </a:rPr>
              <a:t>开学两周内（具体时间待定</a:t>
            </a:r>
            <a:r>
              <a:rPr sz="2400" b="1" spc="-10" dirty="0">
                <a:latin typeface="楷体"/>
                <a:cs typeface="楷体"/>
              </a:rPr>
              <a:t>） </a:t>
            </a:r>
            <a:r>
              <a:rPr sz="2400" b="1" dirty="0">
                <a:latin typeface="微软雅黑"/>
                <a:cs typeface="微软雅黑"/>
              </a:rPr>
              <a:t>地	点：	</a:t>
            </a:r>
            <a:r>
              <a:rPr sz="2400" b="1" dirty="0">
                <a:latin typeface="楷体"/>
                <a:cs typeface="楷体"/>
              </a:rPr>
              <a:t>仙林校区（具体地点待定</a:t>
            </a:r>
            <a:r>
              <a:rPr sz="2400" b="1" spc="-10" dirty="0">
                <a:latin typeface="楷体"/>
                <a:cs typeface="楷体"/>
              </a:rPr>
              <a:t>） </a:t>
            </a:r>
            <a:r>
              <a:rPr sz="2400" b="1" dirty="0">
                <a:latin typeface="微软雅黑"/>
                <a:cs typeface="微软雅黑"/>
              </a:rPr>
              <a:t>人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5375" y="2470150"/>
            <a:ext cx="2184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2400" b="1" dirty="0">
                <a:latin typeface="微软雅黑"/>
                <a:cs typeface="微软雅黑"/>
              </a:rPr>
              <a:t>数：	</a:t>
            </a:r>
            <a:r>
              <a:rPr sz="2400" b="1" dirty="0">
                <a:latin typeface="楷体"/>
                <a:cs typeface="楷体"/>
              </a:rPr>
              <a:t>400-500</a:t>
            </a:r>
            <a:r>
              <a:rPr sz="2400" b="1" spc="-10" dirty="0">
                <a:latin typeface="楷体"/>
                <a:cs typeface="楷体"/>
              </a:rPr>
              <a:t>人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40325" y="2470150"/>
            <a:ext cx="5533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楷体"/>
                <a:cs typeface="楷体"/>
              </a:rPr>
              <a:t>新生代表参加（各院系应安排收看直播</a:t>
            </a:r>
            <a:r>
              <a:rPr sz="2400" b="1" spc="-10" dirty="0">
                <a:latin typeface="楷体"/>
                <a:cs typeface="楷体"/>
              </a:rPr>
              <a:t>）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4057" y="5500687"/>
            <a:ext cx="10654665" cy="1055370"/>
          </a:xfrm>
          <a:custGeom>
            <a:avLst/>
            <a:gdLst/>
            <a:ahLst/>
            <a:cxnLst/>
            <a:rect l="l" t="t" r="r" b="b"/>
            <a:pathLst>
              <a:path w="10654665" h="1055370">
                <a:moveTo>
                  <a:pt x="10488180" y="1054100"/>
                </a:moveTo>
                <a:lnTo>
                  <a:pt x="166484" y="1054100"/>
                </a:lnTo>
                <a:lnTo>
                  <a:pt x="148069" y="1051559"/>
                </a:lnTo>
                <a:lnTo>
                  <a:pt x="105029" y="1036320"/>
                </a:lnTo>
                <a:lnTo>
                  <a:pt x="89268" y="1027429"/>
                </a:lnTo>
                <a:lnTo>
                  <a:pt x="81737" y="1023620"/>
                </a:lnTo>
                <a:lnTo>
                  <a:pt x="74472" y="1017270"/>
                </a:lnTo>
                <a:lnTo>
                  <a:pt x="67462" y="1012190"/>
                </a:lnTo>
                <a:lnTo>
                  <a:pt x="60744" y="1007109"/>
                </a:lnTo>
                <a:lnTo>
                  <a:pt x="54305" y="1000760"/>
                </a:lnTo>
                <a:lnTo>
                  <a:pt x="48171" y="994410"/>
                </a:lnTo>
                <a:lnTo>
                  <a:pt x="42341" y="986789"/>
                </a:lnTo>
                <a:lnTo>
                  <a:pt x="36842" y="980439"/>
                </a:lnTo>
                <a:lnTo>
                  <a:pt x="14566" y="941070"/>
                </a:lnTo>
                <a:lnTo>
                  <a:pt x="11252" y="933450"/>
                </a:lnTo>
                <a:lnTo>
                  <a:pt x="952" y="887729"/>
                </a:lnTo>
                <a:lnTo>
                  <a:pt x="0" y="869950"/>
                </a:lnTo>
                <a:lnTo>
                  <a:pt x="0" y="184150"/>
                </a:lnTo>
                <a:lnTo>
                  <a:pt x="5829" y="138429"/>
                </a:lnTo>
                <a:lnTo>
                  <a:pt x="14566" y="113029"/>
                </a:lnTo>
                <a:lnTo>
                  <a:pt x="18287" y="104139"/>
                </a:lnTo>
                <a:lnTo>
                  <a:pt x="42341" y="67310"/>
                </a:lnTo>
                <a:lnTo>
                  <a:pt x="48171" y="59689"/>
                </a:lnTo>
                <a:lnTo>
                  <a:pt x="54305" y="53339"/>
                </a:lnTo>
                <a:lnTo>
                  <a:pt x="60744" y="46989"/>
                </a:lnTo>
                <a:lnTo>
                  <a:pt x="67462" y="41910"/>
                </a:lnTo>
                <a:lnTo>
                  <a:pt x="74472" y="36829"/>
                </a:lnTo>
                <a:lnTo>
                  <a:pt x="81737" y="30479"/>
                </a:lnTo>
                <a:lnTo>
                  <a:pt x="89268" y="26670"/>
                </a:lnTo>
                <a:lnTo>
                  <a:pt x="97028" y="21589"/>
                </a:lnTo>
                <a:lnTo>
                  <a:pt x="105029" y="17779"/>
                </a:lnTo>
                <a:lnTo>
                  <a:pt x="113245" y="13970"/>
                </a:lnTo>
                <a:lnTo>
                  <a:pt x="121666" y="10160"/>
                </a:lnTo>
                <a:lnTo>
                  <a:pt x="148069" y="2539"/>
                </a:lnTo>
                <a:lnTo>
                  <a:pt x="166484" y="0"/>
                </a:lnTo>
                <a:lnTo>
                  <a:pt x="10488180" y="0"/>
                </a:lnTo>
                <a:lnTo>
                  <a:pt x="10532999" y="10160"/>
                </a:lnTo>
                <a:lnTo>
                  <a:pt x="10565396" y="26670"/>
                </a:lnTo>
                <a:lnTo>
                  <a:pt x="10567907" y="27939"/>
                </a:lnTo>
                <a:lnTo>
                  <a:pt x="177698" y="27939"/>
                </a:lnTo>
                <a:lnTo>
                  <a:pt x="169011" y="29210"/>
                </a:lnTo>
                <a:lnTo>
                  <a:pt x="161874" y="29210"/>
                </a:lnTo>
                <a:lnTo>
                  <a:pt x="157657" y="30479"/>
                </a:lnTo>
                <a:lnTo>
                  <a:pt x="154152" y="30479"/>
                </a:lnTo>
                <a:lnTo>
                  <a:pt x="145872" y="33020"/>
                </a:lnTo>
                <a:lnTo>
                  <a:pt x="146558" y="33020"/>
                </a:lnTo>
                <a:lnTo>
                  <a:pt x="142494" y="34289"/>
                </a:lnTo>
                <a:lnTo>
                  <a:pt x="139115" y="34289"/>
                </a:lnTo>
                <a:lnTo>
                  <a:pt x="133815" y="36829"/>
                </a:lnTo>
                <a:lnTo>
                  <a:pt x="131826" y="36829"/>
                </a:lnTo>
                <a:lnTo>
                  <a:pt x="124053" y="40639"/>
                </a:lnTo>
                <a:lnTo>
                  <a:pt x="124701" y="40639"/>
                </a:lnTo>
                <a:lnTo>
                  <a:pt x="117119" y="43179"/>
                </a:lnTo>
                <a:lnTo>
                  <a:pt x="117741" y="43179"/>
                </a:lnTo>
                <a:lnTo>
                  <a:pt x="110363" y="46989"/>
                </a:lnTo>
                <a:lnTo>
                  <a:pt x="110972" y="46989"/>
                </a:lnTo>
                <a:lnTo>
                  <a:pt x="103809" y="50800"/>
                </a:lnTo>
                <a:lnTo>
                  <a:pt x="104393" y="50800"/>
                </a:lnTo>
                <a:lnTo>
                  <a:pt x="97447" y="54610"/>
                </a:lnTo>
                <a:lnTo>
                  <a:pt x="98018" y="54610"/>
                </a:lnTo>
                <a:lnTo>
                  <a:pt x="92989" y="58420"/>
                </a:lnTo>
                <a:lnTo>
                  <a:pt x="91859" y="58420"/>
                </a:lnTo>
                <a:lnTo>
                  <a:pt x="85394" y="63500"/>
                </a:lnTo>
                <a:lnTo>
                  <a:pt x="85915" y="63500"/>
                </a:lnTo>
                <a:lnTo>
                  <a:pt x="79705" y="68579"/>
                </a:lnTo>
                <a:lnTo>
                  <a:pt x="80213" y="68579"/>
                </a:lnTo>
                <a:lnTo>
                  <a:pt x="74269" y="73660"/>
                </a:lnTo>
                <a:lnTo>
                  <a:pt x="74752" y="73660"/>
                </a:lnTo>
                <a:lnTo>
                  <a:pt x="70220" y="78739"/>
                </a:lnTo>
                <a:lnTo>
                  <a:pt x="69545" y="78739"/>
                </a:lnTo>
                <a:lnTo>
                  <a:pt x="64160" y="85089"/>
                </a:lnTo>
                <a:lnTo>
                  <a:pt x="64604" y="85089"/>
                </a:lnTo>
                <a:lnTo>
                  <a:pt x="60540" y="90170"/>
                </a:lnTo>
                <a:lnTo>
                  <a:pt x="59931" y="90170"/>
                </a:lnTo>
                <a:lnTo>
                  <a:pt x="55951" y="96520"/>
                </a:lnTo>
                <a:lnTo>
                  <a:pt x="55537" y="96520"/>
                </a:lnTo>
                <a:lnTo>
                  <a:pt x="51832" y="102870"/>
                </a:lnTo>
                <a:lnTo>
                  <a:pt x="51447" y="102870"/>
                </a:lnTo>
                <a:lnTo>
                  <a:pt x="48018" y="109220"/>
                </a:lnTo>
                <a:lnTo>
                  <a:pt x="47663" y="109220"/>
                </a:lnTo>
                <a:lnTo>
                  <a:pt x="43878" y="116839"/>
                </a:lnTo>
                <a:lnTo>
                  <a:pt x="44183" y="116839"/>
                </a:lnTo>
                <a:lnTo>
                  <a:pt x="41325" y="123189"/>
                </a:lnTo>
                <a:lnTo>
                  <a:pt x="41033" y="123189"/>
                </a:lnTo>
                <a:lnTo>
                  <a:pt x="37960" y="130810"/>
                </a:lnTo>
                <a:lnTo>
                  <a:pt x="38201" y="130810"/>
                </a:lnTo>
                <a:lnTo>
                  <a:pt x="35957" y="137160"/>
                </a:lnTo>
                <a:lnTo>
                  <a:pt x="35725" y="137160"/>
                </a:lnTo>
                <a:lnTo>
                  <a:pt x="33743" y="144779"/>
                </a:lnTo>
                <a:lnTo>
                  <a:pt x="33591" y="144779"/>
                </a:lnTo>
                <a:lnTo>
                  <a:pt x="31958" y="152400"/>
                </a:lnTo>
                <a:lnTo>
                  <a:pt x="31826" y="152400"/>
                </a:lnTo>
                <a:lnTo>
                  <a:pt x="30541" y="160020"/>
                </a:lnTo>
                <a:lnTo>
                  <a:pt x="29349" y="168910"/>
                </a:lnTo>
                <a:lnTo>
                  <a:pt x="28862" y="175260"/>
                </a:lnTo>
                <a:lnTo>
                  <a:pt x="28790" y="176529"/>
                </a:lnTo>
                <a:lnTo>
                  <a:pt x="28605" y="184150"/>
                </a:lnTo>
                <a:lnTo>
                  <a:pt x="28605" y="869950"/>
                </a:lnTo>
                <a:lnTo>
                  <a:pt x="28790" y="877570"/>
                </a:lnTo>
                <a:lnTo>
                  <a:pt x="29413" y="885189"/>
                </a:lnTo>
                <a:lnTo>
                  <a:pt x="30429" y="894079"/>
                </a:lnTo>
                <a:lnTo>
                  <a:pt x="31826" y="901700"/>
                </a:lnTo>
                <a:lnTo>
                  <a:pt x="31958" y="901700"/>
                </a:lnTo>
                <a:lnTo>
                  <a:pt x="33591" y="909320"/>
                </a:lnTo>
                <a:lnTo>
                  <a:pt x="33798" y="909320"/>
                </a:lnTo>
                <a:lnTo>
                  <a:pt x="35725" y="915670"/>
                </a:lnTo>
                <a:lnTo>
                  <a:pt x="35509" y="915670"/>
                </a:lnTo>
                <a:lnTo>
                  <a:pt x="38201" y="923289"/>
                </a:lnTo>
                <a:lnTo>
                  <a:pt x="37960" y="923289"/>
                </a:lnTo>
                <a:lnTo>
                  <a:pt x="41033" y="930910"/>
                </a:lnTo>
                <a:lnTo>
                  <a:pt x="41325" y="930910"/>
                </a:lnTo>
                <a:lnTo>
                  <a:pt x="44183" y="937260"/>
                </a:lnTo>
                <a:lnTo>
                  <a:pt x="43878" y="937260"/>
                </a:lnTo>
                <a:lnTo>
                  <a:pt x="47663" y="944879"/>
                </a:lnTo>
                <a:lnTo>
                  <a:pt x="48018" y="944879"/>
                </a:lnTo>
                <a:lnTo>
                  <a:pt x="51447" y="951229"/>
                </a:lnTo>
                <a:lnTo>
                  <a:pt x="51832" y="951229"/>
                </a:lnTo>
                <a:lnTo>
                  <a:pt x="55537" y="957579"/>
                </a:lnTo>
                <a:lnTo>
                  <a:pt x="55951" y="957579"/>
                </a:lnTo>
                <a:lnTo>
                  <a:pt x="59931" y="963929"/>
                </a:lnTo>
                <a:lnTo>
                  <a:pt x="60540" y="963929"/>
                </a:lnTo>
                <a:lnTo>
                  <a:pt x="64604" y="969010"/>
                </a:lnTo>
                <a:lnTo>
                  <a:pt x="64160" y="969010"/>
                </a:lnTo>
                <a:lnTo>
                  <a:pt x="69545" y="975360"/>
                </a:lnTo>
                <a:lnTo>
                  <a:pt x="70220" y="975360"/>
                </a:lnTo>
                <a:lnTo>
                  <a:pt x="74752" y="980439"/>
                </a:lnTo>
                <a:lnTo>
                  <a:pt x="74269" y="980439"/>
                </a:lnTo>
                <a:lnTo>
                  <a:pt x="80213" y="985520"/>
                </a:lnTo>
                <a:lnTo>
                  <a:pt x="79705" y="985520"/>
                </a:lnTo>
                <a:lnTo>
                  <a:pt x="85915" y="990600"/>
                </a:lnTo>
                <a:lnTo>
                  <a:pt x="85394" y="990600"/>
                </a:lnTo>
                <a:lnTo>
                  <a:pt x="91859" y="995679"/>
                </a:lnTo>
                <a:lnTo>
                  <a:pt x="92989" y="995679"/>
                </a:lnTo>
                <a:lnTo>
                  <a:pt x="98018" y="999489"/>
                </a:lnTo>
                <a:lnTo>
                  <a:pt x="97447" y="999489"/>
                </a:lnTo>
                <a:lnTo>
                  <a:pt x="104393" y="1003300"/>
                </a:lnTo>
                <a:lnTo>
                  <a:pt x="103809" y="1003300"/>
                </a:lnTo>
                <a:lnTo>
                  <a:pt x="110972" y="1007109"/>
                </a:lnTo>
                <a:lnTo>
                  <a:pt x="110363" y="1007109"/>
                </a:lnTo>
                <a:lnTo>
                  <a:pt x="117741" y="1010920"/>
                </a:lnTo>
                <a:lnTo>
                  <a:pt x="117119" y="1010920"/>
                </a:lnTo>
                <a:lnTo>
                  <a:pt x="124701" y="1013459"/>
                </a:lnTo>
                <a:lnTo>
                  <a:pt x="124053" y="1013459"/>
                </a:lnTo>
                <a:lnTo>
                  <a:pt x="131826" y="1017270"/>
                </a:lnTo>
                <a:lnTo>
                  <a:pt x="133815" y="1017270"/>
                </a:lnTo>
                <a:lnTo>
                  <a:pt x="139115" y="1019809"/>
                </a:lnTo>
                <a:lnTo>
                  <a:pt x="142493" y="1019809"/>
                </a:lnTo>
                <a:lnTo>
                  <a:pt x="146558" y="1021079"/>
                </a:lnTo>
                <a:lnTo>
                  <a:pt x="145872" y="1021079"/>
                </a:lnTo>
                <a:lnTo>
                  <a:pt x="154152" y="1023620"/>
                </a:lnTo>
                <a:lnTo>
                  <a:pt x="157657" y="1023620"/>
                </a:lnTo>
                <a:lnTo>
                  <a:pt x="161874" y="1024890"/>
                </a:lnTo>
                <a:lnTo>
                  <a:pt x="169011" y="1024890"/>
                </a:lnTo>
                <a:lnTo>
                  <a:pt x="177698" y="1026159"/>
                </a:lnTo>
                <a:lnTo>
                  <a:pt x="10567907" y="1026159"/>
                </a:lnTo>
                <a:lnTo>
                  <a:pt x="10565396" y="1027429"/>
                </a:lnTo>
                <a:lnTo>
                  <a:pt x="10506595" y="1051559"/>
                </a:lnTo>
                <a:lnTo>
                  <a:pt x="10488180" y="1054100"/>
                </a:lnTo>
                <a:close/>
              </a:path>
              <a:path w="10654665" h="1055370">
                <a:moveTo>
                  <a:pt x="10501223" y="31750"/>
                </a:moveTo>
                <a:lnTo>
                  <a:pt x="10492790" y="29210"/>
                </a:lnTo>
                <a:lnTo>
                  <a:pt x="10485653" y="29210"/>
                </a:lnTo>
                <a:lnTo>
                  <a:pt x="10476966" y="27939"/>
                </a:lnTo>
                <a:lnTo>
                  <a:pt x="10567907" y="27939"/>
                </a:lnTo>
                <a:lnTo>
                  <a:pt x="10572927" y="30479"/>
                </a:lnTo>
                <a:lnTo>
                  <a:pt x="10500512" y="30479"/>
                </a:lnTo>
                <a:lnTo>
                  <a:pt x="10501223" y="31750"/>
                </a:lnTo>
                <a:close/>
              </a:path>
              <a:path w="10654665" h="1055370">
                <a:moveTo>
                  <a:pt x="153441" y="31750"/>
                </a:moveTo>
                <a:lnTo>
                  <a:pt x="154152" y="30479"/>
                </a:lnTo>
                <a:lnTo>
                  <a:pt x="157657" y="30479"/>
                </a:lnTo>
                <a:lnTo>
                  <a:pt x="153441" y="31750"/>
                </a:lnTo>
                <a:close/>
              </a:path>
              <a:path w="10654665" h="1055370">
                <a:moveTo>
                  <a:pt x="10516222" y="35560"/>
                </a:moveTo>
                <a:lnTo>
                  <a:pt x="10508107" y="33020"/>
                </a:lnTo>
                <a:lnTo>
                  <a:pt x="10508792" y="33020"/>
                </a:lnTo>
                <a:lnTo>
                  <a:pt x="10500512" y="30479"/>
                </a:lnTo>
                <a:lnTo>
                  <a:pt x="10572927" y="30479"/>
                </a:lnTo>
                <a:lnTo>
                  <a:pt x="10577286" y="34289"/>
                </a:lnTo>
                <a:lnTo>
                  <a:pt x="10515549" y="34289"/>
                </a:lnTo>
                <a:lnTo>
                  <a:pt x="10516222" y="35560"/>
                </a:lnTo>
                <a:close/>
              </a:path>
              <a:path w="10654665" h="1055370">
                <a:moveTo>
                  <a:pt x="138429" y="35560"/>
                </a:moveTo>
                <a:lnTo>
                  <a:pt x="139115" y="34289"/>
                </a:lnTo>
                <a:lnTo>
                  <a:pt x="142494" y="34289"/>
                </a:lnTo>
                <a:lnTo>
                  <a:pt x="138429" y="35560"/>
                </a:lnTo>
                <a:close/>
              </a:path>
              <a:path w="10654665" h="1055370">
                <a:moveTo>
                  <a:pt x="10523499" y="38100"/>
                </a:moveTo>
                <a:lnTo>
                  <a:pt x="10515549" y="34289"/>
                </a:lnTo>
                <a:lnTo>
                  <a:pt x="10577286" y="34289"/>
                </a:lnTo>
                <a:lnTo>
                  <a:pt x="10580192" y="36829"/>
                </a:lnTo>
                <a:lnTo>
                  <a:pt x="10522839" y="36829"/>
                </a:lnTo>
                <a:lnTo>
                  <a:pt x="10523499" y="38100"/>
                </a:lnTo>
                <a:close/>
              </a:path>
              <a:path w="10654665" h="1055370">
                <a:moveTo>
                  <a:pt x="131165" y="38100"/>
                </a:moveTo>
                <a:lnTo>
                  <a:pt x="131826" y="36829"/>
                </a:lnTo>
                <a:lnTo>
                  <a:pt x="133815" y="36829"/>
                </a:lnTo>
                <a:lnTo>
                  <a:pt x="131165" y="38100"/>
                </a:lnTo>
                <a:close/>
              </a:path>
              <a:path w="10654665" h="1055370">
                <a:moveTo>
                  <a:pt x="10563352" y="59689"/>
                </a:moveTo>
                <a:lnTo>
                  <a:pt x="10556646" y="54610"/>
                </a:lnTo>
                <a:lnTo>
                  <a:pt x="10557217" y="54610"/>
                </a:lnTo>
                <a:lnTo>
                  <a:pt x="10550271" y="50800"/>
                </a:lnTo>
                <a:lnTo>
                  <a:pt x="10550855" y="50800"/>
                </a:lnTo>
                <a:lnTo>
                  <a:pt x="10543692" y="46989"/>
                </a:lnTo>
                <a:lnTo>
                  <a:pt x="10544302" y="46989"/>
                </a:lnTo>
                <a:lnTo>
                  <a:pt x="10536923" y="43179"/>
                </a:lnTo>
                <a:lnTo>
                  <a:pt x="10537545" y="43179"/>
                </a:lnTo>
                <a:lnTo>
                  <a:pt x="10529963" y="40639"/>
                </a:lnTo>
                <a:lnTo>
                  <a:pt x="10530611" y="40639"/>
                </a:lnTo>
                <a:lnTo>
                  <a:pt x="10522839" y="36829"/>
                </a:lnTo>
                <a:lnTo>
                  <a:pt x="10580192" y="36829"/>
                </a:lnTo>
                <a:lnTo>
                  <a:pt x="10587189" y="41910"/>
                </a:lnTo>
                <a:lnTo>
                  <a:pt x="10593920" y="46989"/>
                </a:lnTo>
                <a:lnTo>
                  <a:pt x="10600359" y="53339"/>
                </a:lnTo>
                <a:lnTo>
                  <a:pt x="10605267" y="58420"/>
                </a:lnTo>
                <a:lnTo>
                  <a:pt x="10562805" y="58420"/>
                </a:lnTo>
                <a:lnTo>
                  <a:pt x="10563352" y="59689"/>
                </a:lnTo>
                <a:close/>
              </a:path>
              <a:path w="10654665" h="1055370">
                <a:moveTo>
                  <a:pt x="91312" y="59689"/>
                </a:moveTo>
                <a:lnTo>
                  <a:pt x="91859" y="58420"/>
                </a:lnTo>
                <a:lnTo>
                  <a:pt x="92989" y="58420"/>
                </a:lnTo>
                <a:lnTo>
                  <a:pt x="91312" y="59689"/>
                </a:lnTo>
                <a:close/>
              </a:path>
              <a:path w="10654665" h="1055370">
                <a:moveTo>
                  <a:pt x="10585577" y="80010"/>
                </a:moveTo>
                <a:lnTo>
                  <a:pt x="10579912" y="73660"/>
                </a:lnTo>
                <a:lnTo>
                  <a:pt x="10580395" y="73660"/>
                </a:lnTo>
                <a:lnTo>
                  <a:pt x="10574451" y="68579"/>
                </a:lnTo>
                <a:lnTo>
                  <a:pt x="10574959" y="68579"/>
                </a:lnTo>
                <a:lnTo>
                  <a:pt x="10568749" y="63500"/>
                </a:lnTo>
                <a:lnTo>
                  <a:pt x="10569270" y="63500"/>
                </a:lnTo>
                <a:lnTo>
                  <a:pt x="10562805" y="58420"/>
                </a:lnTo>
                <a:lnTo>
                  <a:pt x="10605267" y="58420"/>
                </a:lnTo>
                <a:lnTo>
                  <a:pt x="10606493" y="59689"/>
                </a:lnTo>
                <a:lnTo>
                  <a:pt x="10612323" y="67310"/>
                </a:lnTo>
                <a:lnTo>
                  <a:pt x="10617822" y="73660"/>
                </a:lnTo>
                <a:lnTo>
                  <a:pt x="10621268" y="78739"/>
                </a:lnTo>
                <a:lnTo>
                  <a:pt x="10585119" y="78739"/>
                </a:lnTo>
                <a:lnTo>
                  <a:pt x="10585577" y="80010"/>
                </a:lnTo>
                <a:close/>
              </a:path>
              <a:path w="10654665" h="1055370">
                <a:moveTo>
                  <a:pt x="69087" y="80010"/>
                </a:moveTo>
                <a:lnTo>
                  <a:pt x="69545" y="78739"/>
                </a:lnTo>
                <a:lnTo>
                  <a:pt x="70220" y="78739"/>
                </a:lnTo>
                <a:lnTo>
                  <a:pt x="69087" y="80010"/>
                </a:lnTo>
                <a:close/>
              </a:path>
              <a:path w="10654665" h="1055370">
                <a:moveTo>
                  <a:pt x="10595140" y="91439"/>
                </a:moveTo>
                <a:lnTo>
                  <a:pt x="10590060" y="85089"/>
                </a:lnTo>
                <a:lnTo>
                  <a:pt x="10590491" y="85089"/>
                </a:lnTo>
                <a:lnTo>
                  <a:pt x="10585119" y="78739"/>
                </a:lnTo>
                <a:lnTo>
                  <a:pt x="10621268" y="78739"/>
                </a:lnTo>
                <a:lnTo>
                  <a:pt x="10622991" y="81279"/>
                </a:lnTo>
                <a:lnTo>
                  <a:pt x="10627817" y="88900"/>
                </a:lnTo>
                <a:lnTo>
                  <a:pt x="10628560" y="90170"/>
                </a:lnTo>
                <a:lnTo>
                  <a:pt x="10594733" y="90170"/>
                </a:lnTo>
                <a:lnTo>
                  <a:pt x="10595140" y="91439"/>
                </a:lnTo>
                <a:close/>
              </a:path>
              <a:path w="10654665" h="1055370">
                <a:moveTo>
                  <a:pt x="59524" y="91439"/>
                </a:moveTo>
                <a:lnTo>
                  <a:pt x="59931" y="90170"/>
                </a:lnTo>
                <a:lnTo>
                  <a:pt x="60540" y="90170"/>
                </a:lnTo>
                <a:lnTo>
                  <a:pt x="59524" y="91439"/>
                </a:lnTo>
                <a:close/>
              </a:path>
              <a:path w="10654665" h="1055370">
                <a:moveTo>
                  <a:pt x="10599508" y="97789"/>
                </a:moveTo>
                <a:lnTo>
                  <a:pt x="10594733" y="90170"/>
                </a:lnTo>
                <a:lnTo>
                  <a:pt x="10628560" y="90170"/>
                </a:lnTo>
                <a:lnTo>
                  <a:pt x="10632274" y="96520"/>
                </a:lnTo>
                <a:lnTo>
                  <a:pt x="10599127" y="96520"/>
                </a:lnTo>
                <a:lnTo>
                  <a:pt x="10599508" y="97789"/>
                </a:lnTo>
                <a:close/>
              </a:path>
              <a:path w="10654665" h="1055370">
                <a:moveTo>
                  <a:pt x="55156" y="97789"/>
                </a:moveTo>
                <a:lnTo>
                  <a:pt x="55537" y="96520"/>
                </a:lnTo>
                <a:lnTo>
                  <a:pt x="55951" y="96520"/>
                </a:lnTo>
                <a:lnTo>
                  <a:pt x="55156" y="97789"/>
                </a:lnTo>
                <a:close/>
              </a:path>
              <a:path w="10654665" h="1055370">
                <a:moveTo>
                  <a:pt x="10603572" y="104139"/>
                </a:moveTo>
                <a:lnTo>
                  <a:pt x="10599127" y="96520"/>
                </a:lnTo>
                <a:lnTo>
                  <a:pt x="10632274" y="96520"/>
                </a:lnTo>
                <a:lnTo>
                  <a:pt x="10635693" y="102870"/>
                </a:lnTo>
                <a:lnTo>
                  <a:pt x="10603217" y="102870"/>
                </a:lnTo>
                <a:lnTo>
                  <a:pt x="10603572" y="104139"/>
                </a:lnTo>
                <a:close/>
              </a:path>
              <a:path w="10654665" h="1055370">
                <a:moveTo>
                  <a:pt x="51092" y="104139"/>
                </a:moveTo>
                <a:lnTo>
                  <a:pt x="51447" y="102870"/>
                </a:lnTo>
                <a:lnTo>
                  <a:pt x="51832" y="102870"/>
                </a:lnTo>
                <a:lnTo>
                  <a:pt x="51092" y="104139"/>
                </a:lnTo>
                <a:close/>
              </a:path>
              <a:path w="10654665" h="1055370">
                <a:moveTo>
                  <a:pt x="10607332" y="110489"/>
                </a:moveTo>
                <a:lnTo>
                  <a:pt x="10603217" y="102870"/>
                </a:lnTo>
                <a:lnTo>
                  <a:pt x="10635693" y="102870"/>
                </a:lnTo>
                <a:lnTo>
                  <a:pt x="10636377" y="104139"/>
                </a:lnTo>
                <a:lnTo>
                  <a:pt x="10638496" y="109220"/>
                </a:lnTo>
                <a:lnTo>
                  <a:pt x="10607001" y="109220"/>
                </a:lnTo>
                <a:lnTo>
                  <a:pt x="10607332" y="110489"/>
                </a:lnTo>
                <a:close/>
              </a:path>
              <a:path w="10654665" h="1055370">
                <a:moveTo>
                  <a:pt x="47332" y="110489"/>
                </a:moveTo>
                <a:lnTo>
                  <a:pt x="47663" y="109220"/>
                </a:lnTo>
                <a:lnTo>
                  <a:pt x="48018" y="109220"/>
                </a:lnTo>
                <a:lnTo>
                  <a:pt x="47332" y="110489"/>
                </a:lnTo>
                <a:close/>
              </a:path>
              <a:path w="10654665" h="1055370">
                <a:moveTo>
                  <a:pt x="10613910" y="124460"/>
                </a:moveTo>
                <a:lnTo>
                  <a:pt x="10610481" y="116839"/>
                </a:lnTo>
                <a:lnTo>
                  <a:pt x="10610786" y="116839"/>
                </a:lnTo>
                <a:lnTo>
                  <a:pt x="10607001" y="109220"/>
                </a:lnTo>
                <a:lnTo>
                  <a:pt x="10638496" y="109220"/>
                </a:lnTo>
                <a:lnTo>
                  <a:pt x="10640085" y="113029"/>
                </a:lnTo>
                <a:lnTo>
                  <a:pt x="10643412" y="120650"/>
                </a:lnTo>
                <a:lnTo>
                  <a:pt x="10644247" y="123189"/>
                </a:lnTo>
                <a:lnTo>
                  <a:pt x="10613631" y="123189"/>
                </a:lnTo>
                <a:lnTo>
                  <a:pt x="10613910" y="124460"/>
                </a:lnTo>
                <a:close/>
              </a:path>
              <a:path w="10654665" h="1055370">
                <a:moveTo>
                  <a:pt x="40754" y="124460"/>
                </a:moveTo>
                <a:lnTo>
                  <a:pt x="41033" y="123189"/>
                </a:lnTo>
                <a:lnTo>
                  <a:pt x="41325" y="123189"/>
                </a:lnTo>
                <a:lnTo>
                  <a:pt x="40754" y="124460"/>
                </a:lnTo>
                <a:close/>
              </a:path>
              <a:path w="10654665" h="1055370">
                <a:moveTo>
                  <a:pt x="10619143" y="138429"/>
                </a:moveTo>
                <a:lnTo>
                  <a:pt x="10616463" y="130810"/>
                </a:lnTo>
                <a:lnTo>
                  <a:pt x="10616704" y="130810"/>
                </a:lnTo>
                <a:lnTo>
                  <a:pt x="10613631" y="123189"/>
                </a:lnTo>
                <a:lnTo>
                  <a:pt x="10644247" y="123189"/>
                </a:lnTo>
                <a:lnTo>
                  <a:pt x="10646333" y="129539"/>
                </a:lnTo>
                <a:lnTo>
                  <a:pt x="10648478" y="137160"/>
                </a:lnTo>
                <a:lnTo>
                  <a:pt x="10618939" y="137160"/>
                </a:lnTo>
                <a:lnTo>
                  <a:pt x="10619143" y="138429"/>
                </a:lnTo>
                <a:close/>
              </a:path>
              <a:path w="10654665" h="1055370">
                <a:moveTo>
                  <a:pt x="35509" y="138429"/>
                </a:moveTo>
                <a:lnTo>
                  <a:pt x="35725" y="137160"/>
                </a:lnTo>
                <a:lnTo>
                  <a:pt x="35957" y="137160"/>
                </a:lnTo>
                <a:lnTo>
                  <a:pt x="35509" y="138429"/>
                </a:lnTo>
                <a:close/>
              </a:path>
              <a:path w="10654665" h="1055370">
                <a:moveTo>
                  <a:pt x="10621251" y="146050"/>
                </a:moveTo>
                <a:lnTo>
                  <a:pt x="10618939" y="137160"/>
                </a:lnTo>
                <a:lnTo>
                  <a:pt x="10648478" y="137160"/>
                </a:lnTo>
                <a:lnTo>
                  <a:pt x="10648835" y="138429"/>
                </a:lnTo>
                <a:lnTo>
                  <a:pt x="10650314" y="144779"/>
                </a:lnTo>
                <a:lnTo>
                  <a:pt x="10621073" y="144779"/>
                </a:lnTo>
                <a:lnTo>
                  <a:pt x="10621251" y="146050"/>
                </a:lnTo>
                <a:close/>
              </a:path>
              <a:path w="10654665" h="1055370">
                <a:moveTo>
                  <a:pt x="33413" y="146050"/>
                </a:moveTo>
                <a:lnTo>
                  <a:pt x="33591" y="144779"/>
                </a:lnTo>
                <a:lnTo>
                  <a:pt x="33743" y="144779"/>
                </a:lnTo>
                <a:lnTo>
                  <a:pt x="33413" y="146050"/>
                </a:lnTo>
                <a:close/>
              </a:path>
              <a:path w="10654665" h="1055370">
                <a:moveTo>
                  <a:pt x="10622978" y="153670"/>
                </a:moveTo>
                <a:lnTo>
                  <a:pt x="10621073" y="144779"/>
                </a:lnTo>
                <a:lnTo>
                  <a:pt x="10650314" y="144779"/>
                </a:lnTo>
                <a:lnTo>
                  <a:pt x="10650905" y="147320"/>
                </a:lnTo>
                <a:lnTo>
                  <a:pt x="10651834" y="152400"/>
                </a:lnTo>
                <a:lnTo>
                  <a:pt x="10622838" y="152400"/>
                </a:lnTo>
                <a:lnTo>
                  <a:pt x="10622978" y="153670"/>
                </a:lnTo>
                <a:close/>
              </a:path>
              <a:path w="10654665" h="1055370">
                <a:moveTo>
                  <a:pt x="31686" y="153670"/>
                </a:moveTo>
                <a:lnTo>
                  <a:pt x="31826" y="152400"/>
                </a:lnTo>
                <a:lnTo>
                  <a:pt x="31958" y="152400"/>
                </a:lnTo>
                <a:lnTo>
                  <a:pt x="31686" y="153670"/>
                </a:lnTo>
                <a:close/>
              </a:path>
              <a:path w="10654665" h="1055370">
                <a:moveTo>
                  <a:pt x="10654665" y="869950"/>
                </a:moveTo>
                <a:lnTo>
                  <a:pt x="10626090" y="869950"/>
                </a:lnTo>
                <a:lnTo>
                  <a:pt x="10626059" y="184150"/>
                </a:lnTo>
                <a:lnTo>
                  <a:pt x="10625874" y="176529"/>
                </a:lnTo>
                <a:lnTo>
                  <a:pt x="10625802" y="175260"/>
                </a:lnTo>
                <a:lnTo>
                  <a:pt x="10625251" y="168910"/>
                </a:lnTo>
                <a:lnTo>
                  <a:pt x="10624235" y="160020"/>
                </a:lnTo>
                <a:lnTo>
                  <a:pt x="10622838" y="152400"/>
                </a:lnTo>
                <a:lnTo>
                  <a:pt x="10651834" y="152400"/>
                </a:lnTo>
                <a:lnTo>
                  <a:pt x="10652531" y="156210"/>
                </a:lnTo>
                <a:lnTo>
                  <a:pt x="10653712" y="166370"/>
                </a:lnTo>
                <a:lnTo>
                  <a:pt x="10654423" y="175260"/>
                </a:lnTo>
                <a:lnTo>
                  <a:pt x="10654665" y="184150"/>
                </a:lnTo>
                <a:lnTo>
                  <a:pt x="10654665" y="869950"/>
                </a:lnTo>
                <a:close/>
              </a:path>
              <a:path w="10654665" h="1055370">
                <a:moveTo>
                  <a:pt x="30327" y="161289"/>
                </a:moveTo>
                <a:lnTo>
                  <a:pt x="30429" y="160020"/>
                </a:lnTo>
                <a:lnTo>
                  <a:pt x="30327" y="161289"/>
                </a:lnTo>
                <a:close/>
              </a:path>
              <a:path w="10654665" h="1055370">
                <a:moveTo>
                  <a:pt x="10624337" y="161289"/>
                </a:moveTo>
                <a:lnTo>
                  <a:pt x="10624123" y="160020"/>
                </a:lnTo>
                <a:lnTo>
                  <a:pt x="10624337" y="161289"/>
                </a:lnTo>
                <a:close/>
              </a:path>
              <a:path w="10654665" h="1055370">
                <a:moveTo>
                  <a:pt x="28605" y="869950"/>
                </a:moveTo>
                <a:lnTo>
                  <a:pt x="28575" y="868679"/>
                </a:lnTo>
                <a:lnTo>
                  <a:pt x="28605" y="869950"/>
                </a:lnTo>
                <a:close/>
              </a:path>
              <a:path w="10654665" h="1055370">
                <a:moveTo>
                  <a:pt x="10652974" y="894079"/>
                </a:moveTo>
                <a:lnTo>
                  <a:pt x="10624235" y="894079"/>
                </a:lnTo>
                <a:lnTo>
                  <a:pt x="10625315" y="885189"/>
                </a:lnTo>
                <a:lnTo>
                  <a:pt x="10625912" y="877570"/>
                </a:lnTo>
                <a:lnTo>
                  <a:pt x="10626090" y="868679"/>
                </a:lnTo>
                <a:lnTo>
                  <a:pt x="10626090" y="869950"/>
                </a:lnTo>
                <a:lnTo>
                  <a:pt x="10654665" y="869950"/>
                </a:lnTo>
                <a:lnTo>
                  <a:pt x="10654423" y="878839"/>
                </a:lnTo>
                <a:lnTo>
                  <a:pt x="10653712" y="887729"/>
                </a:lnTo>
                <a:lnTo>
                  <a:pt x="10652974" y="894079"/>
                </a:lnTo>
                <a:close/>
              </a:path>
              <a:path w="10654665" h="1055370">
                <a:moveTo>
                  <a:pt x="30541" y="894079"/>
                </a:moveTo>
                <a:lnTo>
                  <a:pt x="30327" y="892810"/>
                </a:lnTo>
                <a:lnTo>
                  <a:pt x="30541" y="894079"/>
                </a:lnTo>
                <a:close/>
              </a:path>
              <a:path w="10654665" h="1055370">
                <a:moveTo>
                  <a:pt x="10651834" y="901700"/>
                </a:moveTo>
                <a:lnTo>
                  <a:pt x="10622838" y="901700"/>
                </a:lnTo>
                <a:lnTo>
                  <a:pt x="10624337" y="892810"/>
                </a:lnTo>
                <a:lnTo>
                  <a:pt x="10624235" y="894079"/>
                </a:lnTo>
                <a:lnTo>
                  <a:pt x="10652974" y="894079"/>
                </a:lnTo>
                <a:lnTo>
                  <a:pt x="10652531" y="897889"/>
                </a:lnTo>
                <a:lnTo>
                  <a:pt x="10651834" y="901700"/>
                </a:lnTo>
                <a:close/>
              </a:path>
              <a:path w="10654665" h="1055370">
                <a:moveTo>
                  <a:pt x="31958" y="901700"/>
                </a:moveTo>
                <a:lnTo>
                  <a:pt x="31826" y="901700"/>
                </a:lnTo>
                <a:lnTo>
                  <a:pt x="31686" y="900429"/>
                </a:lnTo>
                <a:lnTo>
                  <a:pt x="31958" y="901700"/>
                </a:lnTo>
                <a:close/>
              </a:path>
              <a:path w="10654665" h="1055370">
                <a:moveTo>
                  <a:pt x="10650314" y="909320"/>
                </a:moveTo>
                <a:lnTo>
                  <a:pt x="10621073" y="909320"/>
                </a:lnTo>
                <a:lnTo>
                  <a:pt x="10622978" y="900429"/>
                </a:lnTo>
                <a:lnTo>
                  <a:pt x="10622838" y="901700"/>
                </a:lnTo>
                <a:lnTo>
                  <a:pt x="10651834" y="901700"/>
                </a:lnTo>
                <a:lnTo>
                  <a:pt x="10650905" y="906779"/>
                </a:lnTo>
                <a:lnTo>
                  <a:pt x="10650314" y="909320"/>
                </a:lnTo>
                <a:close/>
              </a:path>
              <a:path w="10654665" h="1055370">
                <a:moveTo>
                  <a:pt x="33798" y="909320"/>
                </a:moveTo>
                <a:lnTo>
                  <a:pt x="33591" y="909320"/>
                </a:lnTo>
                <a:lnTo>
                  <a:pt x="33413" y="908050"/>
                </a:lnTo>
                <a:lnTo>
                  <a:pt x="33798" y="909320"/>
                </a:lnTo>
                <a:close/>
              </a:path>
              <a:path w="10654665" h="1055370">
                <a:moveTo>
                  <a:pt x="10644247" y="930910"/>
                </a:moveTo>
                <a:lnTo>
                  <a:pt x="10613631" y="930910"/>
                </a:lnTo>
                <a:lnTo>
                  <a:pt x="10616704" y="923289"/>
                </a:lnTo>
                <a:lnTo>
                  <a:pt x="10616463" y="923289"/>
                </a:lnTo>
                <a:lnTo>
                  <a:pt x="10619143" y="915670"/>
                </a:lnTo>
                <a:lnTo>
                  <a:pt x="10618939" y="915670"/>
                </a:lnTo>
                <a:lnTo>
                  <a:pt x="10621251" y="908050"/>
                </a:lnTo>
                <a:lnTo>
                  <a:pt x="10621073" y="909320"/>
                </a:lnTo>
                <a:lnTo>
                  <a:pt x="10650314" y="909320"/>
                </a:lnTo>
                <a:lnTo>
                  <a:pt x="10648835" y="915670"/>
                </a:lnTo>
                <a:lnTo>
                  <a:pt x="10646333" y="924560"/>
                </a:lnTo>
                <a:lnTo>
                  <a:pt x="10644247" y="930910"/>
                </a:lnTo>
                <a:close/>
              </a:path>
              <a:path w="10654665" h="1055370">
                <a:moveTo>
                  <a:pt x="41325" y="930910"/>
                </a:moveTo>
                <a:lnTo>
                  <a:pt x="41033" y="930910"/>
                </a:lnTo>
                <a:lnTo>
                  <a:pt x="40754" y="929639"/>
                </a:lnTo>
                <a:lnTo>
                  <a:pt x="41325" y="930910"/>
                </a:lnTo>
                <a:close/>
              </a:path>
              <a:path w="10654665" h="1055370">
                <a:moveTo>
                  <a:pt x="10638496" y="944879"/>
                </a:moveTo>
                <a:lnTo>
                  <a:pt x="10607001" y="944879"/>
                </a:lnTo>
                <a:lnTo>
                  <a:pt x="10610786" y="937260"/>
                </a:lnTo>
                <a:lnTo>
                  <a:pt x="10610481" y="937260"/>
                </a:lnTo>
                <a:lnTo>
                  <a:pt x="10613910" y="929639"/>
                </a:lnTo>
                <a:lnTo>
                  <a:pt x="10613631" y="930910"/>
                </a:lnTo>
                <a:lnTo>
                  <a:pt x="10644247" y="930910"/>
                </a:lnTo>
                <a:lnTo>
                  <a:pt x="10643412" y="933450"/>
                </a:lnTo>
                <a:lnTo>
                  <a:pt x="10640085" y="941070"/>
                </a:lnTo>
                <a:lnTo>
                  <a:pt x="10638496" y="944879"/>
                </a:lnTo>
                <a:close/>
              </a:path>
              <a:path w="10654665" h="1055370">
                <a:moveTo>
                  <a:pt x="48018" y="944879"/>
                </a:moveTo>
                <a:lnTo>
                  <a:pt x="47663" y="944879"/>
                </a:lnTo>
                <a:lnTo>
                  <a:pt x="47332" y="943610"/>
                </a:lnTo>
                <a:lnTo>
                  <a:pt x="48018" y="944879"/>
                </a:lnTo>
                <a:close/>
              </a:path>
              <a:path w="10654665" h="1055370">
                <a:moveTo>
                  <a:pt x="10635693" y="951229"/>
                </a:moveTo>
                <a:lnTo>
                  <a:pt x="10603217" y="951229"/>
                </a:lnTo>
                <a:lnTo>
                  <a:pt x="10607332" y="943610"/>
                </a:lnTo>
                <a:lnTo>
                  <a:pt x="10607001" y="944879"/>
                </a:lnTo>
                <a:lnTo>
                  <a:pt x="10638496" y="944879"/>
                </a:lnTo>
                <a:lnTo>
                  <a:pt x="10636377" y="949960"/>
                </a:lnTo>
                <a:lnTo>
                  <a:pt x="10635693" y="951229"/>
                </a:lnTo>
                <a:close/>
              </a:path>
              <a:path w="10654665" h="1055370">
                <a:moveTo>
                  <a:pt x="51832" y="951229"/>
                </a:moveTo>
                <a:lnTo>
                  <a:pt x="51447" y="951229"/>
                </a:lnTo>
                <a:lnTo>
                  <a:pt x="51092" y="949960"/>
                </a:lnTo>
                <a:lnTo>
                  <a:pt x="51832" y="951229"/>
                </a:lnTo>
                <a:close/>
              </a:path>
              <a:path w="10654665" h="1055370">
                <a:moveTo>
                  <a:pt x="10632274" y="957579"/>
                </a:moveTo>
                <a:lnTo>
                  <a:pt x="10599127" y="957579"/>
                </a:lnTo>
                <a:lnTo>
                  <a:pt x="10603572" y="949960"/>
                </a:lnTo>
                <a:lnTo>
                  <a:pt x="10603217" y="951229"/>
                </a:lnTo>
                <a:lnTo>
                  <a:pt x="10635693" y="951229"/>
                </a:lnTo>
                <a:lnTo>
                  <a:pt x="10632274" y="957579"/>
                </a:lnTo>
                <a:close/>
              </a:path>
              <a:path w="10654665" h="1055370">
                <a:moveTo>
                  <a:pt x="55951" y="957579"/>
                </a:moveTo>
                <a:lnTo>
                  <a:pt x="55537" y="957579"/>
                </a:lnTo>
                <a:lnTo>
                  <a:pt x="55156" y="956310"/>
                </a:lnTo>
                <a:lnTo>
                  <a:pt x="55951" y="957579"/>
                </a:lnTo>
                <a:close/>
              </a:path>
              <a:path w="10654665" h="1055370">
                <a:moveTo>
                  <a:pt x="10628560" y="963929"/>
                </a:moveTo>
                <a:lnTo>
                  <a:pt x="10594733" y="963929"/>
                </a:lnTo>
                <a:lnTo>
                  <a:pt x="10599508" y="956310"/>
                </a:lnTo>
                <a:lnTo>
                  <a:pt x="10599127" y="957579"/>
                </a:lnTo>
                <a:lnTo>
                  <a:pt x="10632274" y="957579"/>
                </a:lnTo>
                <a:lnTo>
                  <a:pt x="10628560" y="963929"/>
                </a:lnTo>
                <a:close/>
              </a:path>
              <a:path w="10654665" h="1055370">
                <a:moveTo>
                  <a:pt x="60540" y="963929"/>
                </a:moveTo>
                <a:lnTo>
                  <a:pt x="59931" y="963929"/>
                </a:lnTo>
                <a:lnTo>
                  <a:pt x="59524" y="962660"/>
                </a:lnTo>
                <a:lnTo>
                  <a:pt x="60540" y="963929"/>
                </a:lnTo>
                <a:close/>
              </a:path>
              <a:path w="10654665" h="1055370">
                <a:moveTo>
                  <a:pt x="10621268" y="975360"/>
                </a:moveTo>
                <a:lnTo>
                  <a:pt x="10585119" y="975360"/>
                </a:lnTo>
                <a:lnTo>
                  <a:pt x="10590491" y="969010"/>
                </a:lnTo>
                <a:lnTo>
                  <a:pt x="10590060" y="969010"/>
                </a:lnTo>
                <a:lnTo>
                  <a:pt x="10595140" y="962660"/>
                </a:lnTo>
                <a:lnTo>
                  <a:pt x="10594733" y="963929"/>
                </a:lnTo>
                <a:lnTo>
                  <a:pt x="10628560" y="963929"/>
                </a:lnTo>
                <a:lnTo>
                  <a:pt x="10627817" y="965200"/>
                </a:lnTo>
                <a:lnTo>
                  <a:pt x="10622991" y="972820"/>
                </a:lnTo>
                <a:lnTo>
                  <a:pt x="10621268" y="975360"/>
                </a:lnTo>
                <a:close/>
              </a:path>
              <a:path w="10654665" h="1055370">
                <a:moveTo>
                  <a:pt x="70220" y="975360"/>
                </a:moveTo>
                <a:lnTo>
                  <a:pt x="69545" y="975360"/>
                </a:lnTo>
                <a:lnTo>
                  <a:pt x="69087" y="974089"/>
                </a:lnTo>
                <a:lnTo>
                  <a:pt x="70220" y="975360"/>
                </a:lnTo>
                <a:close/>
              </a:path>
              <a:path w="10654665" h="1055370">
                <a:moveTo>
                  <a:pt x="10605267" y="995679"/>
                </a:moveTo>
                <a:lnTo>
                  <a:pt x="10562805" y="995679"/>
                </a:lnTo>
                <a:lnTo>
                  <a:pt x="10569270" y="990600"/>
                </a:lnTo>
                <a:lnTo>
                  <a:pt x="10568749" y="990600"/>
                </a:lnTo>
                <a:lnTo>
                  <a:pt x="10574959" y="985520"/>
                </a:lnTo>
                <a:lnTo>
                  <a:pt x="10574451" y="985520"/>
                </a:lnTo>
                <a:lnTo>
                  <a:pt x="10580395" y="980439"/>
                </a:lnTo>
                <a:lnTo>
                  <a:pt x="10579912" y="980439"/>
                </a:lnTo>
                <a:lnTo>
                  <a:pt x="10585577" y="974089"/>
                </a:lnTo>
                <a:lnTo>
                  <a:pt x="10585119" y="975360"/>
                </a:lnTo>
                <a:lnTo>
                  <a:pt x="10621268" y="975360"/>
                </a:lnTo>
                <a:lnTo>
                  <a:pt x="10617822" y="980439"/>
                </a:lnTo>
                <a:lnTo>
                  <a:pt x="10612323" y="986789"/>
                </a:lnTo>
                <a:lnTo>
                  <a:pt x="10606493" y="994410"/>
                </a:lnTo>
                <a:lnTo>
                  <a:pt x="10605267" y="995679"/>
                </a:lnTo>
                <a:close/>
              </a:path>
              <a:path w="10654665" h="1055370">
                <a:moveTo>
                  <a:pt x="92989" y="995679"/>
                </a:moveTo>
                <a:lnTo>
                  <a:pt x="91859" y="995679"/>
                </a:lnTo>
                <a:lnTo>
                  <a:pt x="91312" y="994410"/>
                </a:lnTo>
                <a:lnTo>
                  <a:pt x="92989" y="995679"/>
                </a:lnTo>
                <a:close/>
              </a:path>
              <a:path w="10654665" h="1055370">
                <a:moveTo>
                  <a:pt x="10580192" y="1017270"/>
                </a:moveTo>
                <a:lnTo>
                  <a:pt x="10522839" y="1017270"/>
                </a:lnTo>
                <a:lnTo>
                  <a:pt x="10530611" y="1013459"/>
                </a:lnTo>
                <a:lnTo>
                  <a:pt x="10529963" y="1013459"/>
                </a:lnTo>
                <a:lnTo>
                  <a:pt x="10537545" y="1010920"/>
                </a:lnTo>
                <a:lnTo>
                  <a:pt x="10536923" y="1010920"/>
                </a:lnTo>
                <a:lnTo>
                  <a:pt x="10544302" y="1007109"/>
                </a:lnTo>
                <a:lnTo>
                  <a:pt x="10543692" y="1007109"/>
                </a:lnTo>
                <a:lnTo>
                  <a:pt x="10550855" y="1003300"/>
                </a:lnTo>
                <a:lnTo>
                  <a:pt x="10550271" y="1003300"/>
                </a:lnTo>
                <a:lnTo>
                  <a:pt x="10557217" y="999489"/>
                </a:lnTo>
                <a:lnTo>
                  <a:pt x="10556646" y="999489"/>
                </a:lnTo>
                <a:lnTo>
                  <a:pt x="10563352" y="994410"/>
                </a:lnTo>
                <a:lnTo>
                  <a:pt x="10562805" y="995679"/>
                </a:lnTo>
                <a:lnTo>
                  <a:pt x="10605267" y="995679"/>
                </a:lnTo>
                <a:lnTo>
                  <a:pt x="10600359" y="1000760"/>
                </a:lnTo>
                <a:lnTo>
                  <a:pt x="10593920" y="1007109"/>
                </a:lnTo>
                <a:lnTo>
                  <a:pt x="10587189" y="1012190"/>
                </a:lnTo>
                <a:lnTo>
                  <a:pt x="10580192" y="1017270"/>
                </a:lnTo>
                <a:close/>
              </a:path>
              <a:path w="10654665" h="1055370">
                <a:moveTo>
                  <a:pt x="133815" y="1017270"/>
                </a:moveTo>
                <a:lnTo>
                  <a:pt x="131826" y="1017270"/>
                </a:lnTo>
                <a:lnTo>
                  <a:pt x="131165" y="1016000"/>
                </a:lnTo>
                <a:lnTo>
                  <a:pt x="133815" y="1017270"/>
                </a:lnTo>
                <a:close/>
              </a:path>
              <a:path w="10654665" h="1055370">
                <a:moveTo>
                  <a:pt x="10577286" y="1019809"/>
                </a:moveTo>
                <a:lnTo>
                  <a:pt x="10515549" y="1019809"/>
                </a:lnTo>
                <a:lnTo>
                  <a:pt x="10523499" y="1016000"/>
                </a:lnTo>
                <a:lnTo>
                  <a:pt x="10522839" y="1017270"/>
                </a:lnTo>
                <a:lnTo>
                  <a:pt x="10580192" y="1017270"/>
                </a:lnTo>
                <a:lnTo>
                  <a:pt x="10577286" y="1019809"/>
                </a:lnTo>
                <a:close/>
              </a:path>
              <a:path w="10654665" h="1055370">
                <a:moveTo>
                  <a:pt x="142493" y="1019809"/>
                </a:moveTo>
                <a:lnTo>
                  <a:pt x="139115" y="1019809"/>
                </a:lnTo>
                <a:lnTo>
                  <a:pt x="138429" y="1018540"/>
                </a:lnTo>
                <a:lnTo>
                  <a:pt x="142493" y="1019809"/>
                </a:lnTo>
                <a:close/>
              </a:path>
              <a:path w="10654665" h="1055370">
                <a:moveTo>
                  <a:pt x="10572927" y="1023620"/>
                </a:moveTo>
                <a:lnTo>
                  <a:pt x="10500512" y="1023620"/>
                </a:lnTo>
                <a:lnTo>
                  <a:pt x="10508792" y="1021079"/>
                </a:lnTo>
                <a:lnTo>
                  <a:pt x="10508107" y="1021079"/>
                </a:lnTo>
                <a:lnTo>
                  <a:pt x="10516222" y="1018540"/>
                </a:lnTo>
                <a:lnTo>
                  <a:pt x="10515549" y="1019809"/>
                </a:lnTo>
                <a:lnTo>
                  <a:pt x="10577286" y="1019809"/>
                </a:lnTo>
                <a:lnTo>
                  <a:pt x="10572927" y="1023620"/>
                </a:lnTo>
                <a:close/>
              </a:path>
              <a:path w="10654665" h="1055370">
                <a:moveTo>
                  <a:pt x="157657" y="1023620"/>
                </a:moveTo>
                <a:lnTo>
                  <a:pt x="154152" y="1023620"/>
                </a:lnTo>
                <a:lnTo>
                  <a:pt x="153441" y="1022350"/>
                </a:lnTo>
                <a:lnTo>
                  <a:pt x="157657" y="1023620"/>
                </a:lnTo>
                <a:close/>
              </a:path>
              <a:path w="10654665" h="1055370">
                <a:moveTo>
                  <a:pt x="10567907" y="1026159"/>
                </a:moveTo>
                <a:lnTo>
                  <a:pt x="10476966" y="1026159"/>
                </a:lnTo>
                <a:lnTo>
                  <a:pt x="10485653" y="1024890"/>
                </a:lnTo>
                <a:lnTo>
                  <a:pt x="10492790" y="1024890"/>
                </a:lnTo>
                <a:lnTo>
                  <a:pt x="10501223" y="1022350"/>
                </a:lnTo>
                <a:lnTo>
                  <a:pt x="10500512" y="1023620"/>
                </a:lnTo>
                <a:lnTo>
                  <a:pt x="10572927" y="1023620"/>
                </a:lnTo>
                <a:lnTo>
                  <a:pt x="10567907" y="1026159"/>
                </a:lnTo>
                <a:close/>
              </a:path>
              <a:path w="10654665" h="1055370">
                <a:moveTo>
                  <a:pt x="10469422" y="1055370"/>
                </a:moveTo>
                <a:lnTo>
                  <a:pt x="185242" y="1055370"/>
                </a:lnTo>
                <a:lnTo>
                  <a:pt x="175895" y="1054100"/>
                </a:lnTo>
                <a:lnTo>
                  <a:pt x="10478770" y="1054100"/>
                </a:lnTo>
                <a:lnTo>
                  <a:pt x="10469422" y="1055370"/>
                </a:lnTo>
                <a:close/>
              </a:path>
            </a:pathLst>
          </a:custGeom>
          <a:solidFill>
            <a:srgbClr val="423A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26794" y="3191789"/>
            <a:ext cx="10362565" cy="323659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490220" indent="-457200">
              <a:lnSpc>
                <a:spcPct val="100000"/>
              </a:lnSpc>
              <a:spcBef>
                <a:spcPts val="1040"/>
              </a:spcBef>
              <a:buFont typeface="Arial"/>
              <a:buChar char="➢"/>
              <a:tabLst>
                <a:tab pos="489584" algn="l"/>
                <a:tab pos="490220" algn="l"/>
              </a:tabLst>
            </a:pPr>
            <a:r>
              <a:rPr sz="2600" b="1" spc="-5" dirty="0">
                <a:solidFill>
                  <a:srgbClr val="C00000"/>
                </a:solidFill>
                <a:latin typeface="微软雅黑"/>
                <a:cs typeface="微软雅黑"/>
              </a:rPr>
              <a:t>新生入学教</a:t>
            </a:r>
            <a:r>
              <a:rPr sz="2600" b="1" dirty="0">
                <a:solidFill>
                  <a:srgbClr val="C00000"/>
                </a:solidFill>
                <a:latin typeface="微软雅黑"/>
                <a:cs typeface="微软雅黑"/>
              </a:rPr>
              <a:t>育</a:t>
            </a:r>
            <a:endParaRPr sz="2600" dirty="0">
              <a:latin typeface="微软雅黑"/>
              <a:cs typeface="微软雅黑"/>
            </a:endParaRPr>
          </a:p>
          <a:p>
            <a:pPr marL="455295">
              <a:lnSpc>
                <a:spcPct val="100000"/>
              </a:lnSpc>
              <a:spcBef>
                <a:spcPts val="860"/>
              </a:spcBef>
              <a:tabLst>
                <a:tab pos="1350645" algn="l"/>
                <a:tab pos="2113915" algn="l"/>
              </a:tabLst>
            </a:pPr>
            <a:r>
              <a:rPr sz="2400" b="1" dirty="0">
                <a:latin typeface="微软雅黑"/>
                <a:cs typeface="微软雅黑"/>
              </a:rPr>
              <a:t>时	间：	</a:t>
            </a:r>
            <a:r>
              <a:rPr sz="2400" b="1" dirty="0">
                <a:latin typeface="楷体"/>
                <a:cs typeface="楷体"/>
              </a:rPr>
              <a:t>主要集中在开学两周</a:t>
            </a:r>
            <a:r>
              <a:rPr sz="2400" b="1" spc="-10" dirty="0">
                <a:latin typeface="楷体"/>
                <a:cs typeface="楷体"/>
              </a:rPr>
              <a:t>内</a:t>
            </a:r>
            <a:endParaRPr sz="2400" dirty="0">
              <a:latin typeface="楷体"/>
              <a:cs typeface="楷体"/>
            </a:endParaRPr>
          </a:p>
          <a:p>
            <a:pPr marL="455295">
              <a:lnSpc>
                <a:spcPct val="100000"/>
              </a:lnSpc>
              <a:spcBef>
                <a:spcPts val="715"/>
              </a:spcBef>
              <a:tabLst>
                <a:tab pos="2132330" algn="l"/>
              </a:tabLst>
            </a:pPr>
            <a:r>
              <a:rPr sz="2400" b="1" dirty="0">
                <a:latin typeface="微软雅黑"/>
                <a:cs typeface="微软雅黑"/>
              </a:rPr>
              <a:t>主题内容：	</a:t>
            </a:r>
            <a:r>
              <a:rPr sz="2400" b="1" spc="-5" dirty="0">
                <a:latin typeface="楷体"/>
                <a:cs typeface="楷体"/>
              </a:rPr>
              <a:t>围绕爱国主义教育，以“立德树人”为核心，设置六个主</a:t>
            </a:r>
            <a:r>
              <a:rPr sz="2400" b="1" spc="-10" dirty="0">
                <a:latin typeface="楷体"/>
                <a:cs typeface="楷体"/>
              </a:rPr>
              <a:t>题</a:t>
            </a:r>
            <a:endParaRPr sz="2400" dirty="0">
              <a:latin typeface="楷体"/>
              <a:cs typeface="楷体"/>
            </a:endParaRPr>
          </a:p>
          <a:p>
            <a:pPr marL="494030">
              <a:lnSpc>
                <a:spcPct val="100000"/>
              </a:lnSpc>
              <a:spcBef>
                <a:spcPts val="715"/>
              </a:spcBef>
            </a:pPr>
            <a:r>
              <a:rPr sz="2400" b="1" dirty="0">
                <a:latin typeface="微软雅黑"/>
                <a:cs typeface="微软雅黑"/>
              </a:rPr>
              <a:t>教育形式：</a:t>
            </a:r>
            <a:r>
              <a:rPr sz="2400" b="1" spc="-85" dirty="0">
                <a:latin typeface="微软雅黑"/>
                <a:cs typeface="微软雅黑"/>
              </a:rPr>
              <a:t> </a:t>
            </a:r>
            <a:r>
              <a:rPr sz="2400" b="1" spc="-5" dirty="0">
                <a:latin typeface="楷体"/>
                <a:cs typeface="楷体"/>
              </a:rPr>
              <a:t>学校指定内容、院系自选内</a:t>
            </a:r>
            <a:r>
              <a:rPr sz="2400" b="1" spc="-10" dirty="0">
                <a:latin typeface="楷体"/>
                <a:cs typeface="楷体"/>
              </a:rPr>
              <a:t>容</a:t>
            </a:r>
            <a:endParaRPr sz="2400" dirty="0">
              <a:latin typeface="楷体"/>
              <a:cs typeface="楷体"/>
            </a:endParaRPr>
          </a:p>
          <a:p>
            <a:pPr marL="12700" marR="5080">
              <a:lnSpc>
                <a:spcPct val="150000"/>
              </a:lnSpc>
              <a:spcBef>
                <a:spcPts val="2350"/>
              </a:spcBef>
            </a:pPr>
            <a:r>
              <a:rPr sz="2200" b="1" spc="-5" dirty="0">
                <a:latin typeface="微软雅黑"/>
                <a:cs typeface="微软雅黑"/>
              </a:rPr>
              <a:t>院系做好研究生入学教育筹备工作，强化思想引领，内容贴合实际，鼓励导师参与，  </a:t>
            </a:r>
            <a:r>
              <a:rPr sz="2200" b="1" dirty="0">
                <a:latin typeface="微软雅黑"/>
                <a:cs typeface="微软雅黑"/>
              </a:rPr>
              <a:t>加强院系合作，活动安排紧</a:t>
            </a:r>
            <a:r>
              <a:rPr sz="2200" b="1" spc="-5" dirty="0">
                <a:latin typeface="微软雅黑"/>
                <a:cs typeface="微软雅黑"/>
              </a:rPr>
              <a:t>凑</a:t>
            </a:r>
            <a:endParaRPr sz="22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55108" y="0"/>
            <a:ext cx="2082164" cy="1651000"/>
          </a:xfrm>
          <a:custGeom>
            <a:avLst/>
            <a:gdLst/>
            <a:ahLst/>
            <a:cxnLst/>
            <a:rect l="l" t="t" r="r" b="b"/>
            <a:pathLst>
              <a:path w="2082165" h="1651000">
                <a:moveTo>
                  <a:pt x="1040891" y="1650492"/>
                </a:moveTo>
                <a:lnTo>
                  <a:pt x="0" y="0"/>
                </a:lnTo>
                <a:lnTo>
                  <a:pt x="2081784" y="0"/>
                </a:lnTo>
                <a:lnTo>
                  <a:pt x="1040891" y="1650492"/>
                </a:lnTo>
                <a:close/>
              </a:path>
            </a:pathLst>
          </a:custGeom>
          <a:solidFill>
            <a:srgbClr val="5D5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676772" y="6135204"/>
            <a:ext cx="838835" cy="723265"/>
          </a:xfrm>
          <a:custGeom>
            <a:avLst/>
            <a:gdLst/>
            <a:ahLst/>
            <a:cxnLst/>
            <a:rect l="l" t="t" r="r" b="b"/>
            <a:pathLst>
              <a:path w="838834" h="723265">
                <a:moveTo>
                  <a:pt x="838453" y="722795"/>
                </a:moveTo>
                <a:lnTo>
                  <a:pt x="0" y="722795"/>
                </a:lnTo>
                <a:lnTo>
                  <a:pt x="419226" y="0"/>
                </a:lnTo>
                <a:lnTo>
                  <a:pt x="838453" y="722795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17037" y="2465171"/>
            <a:ext cx="414655" cy="357505"/>
          </a:xfrm>
          <a:custGeom>
            <a:avLst/>
            <a:gdLst/>
            <a:ahLst/>
            <a:cxnLst/>
            <a:rect l="l" t="t" r="r" b="b"/>
            <a:pathLst>
              <a:path w="414654" h="357505">
                <a:moveTo>
                  <a:pt x="414223" y="357073"/>
                </a:moveTo>
                <a:lnTo>
                  <a:pt x="0" y="357073"/>
                </a:lnTo>
                <a:lnTo>
                  <a:pt x="207111" y="0"/>
                </a:lnTo>
                <a:lnTo>
                  <a:pt x="216297" y="15836"/>
                </a:lnTo>
                <a:lnTo>
                  <a:pt x="201625" y="15836"/>
                </a:lnTo>
                <a:lnTo>
                  <a:pt x="207117" y="25307"/>
                </a:lnTo>
                <a:lnTo>
                  <a:pt x="22054" y="344373"/>
                </a:lnTo>
                <a:lnTo>
                  <a:pt x="11023" y="344373"/>
                </a:lnTo>
                <a:lnTo>
                  <a:pt x="16522" y="353910"/>
                </a:lnTo>
                <a:lnTo>
                  <a:pt x="412388" y="353910"/>
                </a:lnTo>
                <a:lnTo>
                  <a:pt x="414223" y="357073"/>
                </a:lnTo>
                <a:close/>
              </a:path>
              <a:path w="414654" h="357505">
                <a:moveTo>
                  <a:pt x="207117" y="25307"/>
                </a:moveTo>
                <a:lnTo>
                  <a:pt x="201625" y="15836"/>
                </a:lnTo>
                <a:lnTo>
                  <a:pt x="212610" y="15836"/>
                </a:lnTo>
                <a:lnTo>
                  <a:pt x="207117" y="25307"/>
                </a:lnTo>
                <a:close/>
              </a:path>
              <a:path w="414654" h="357505">
                <a:moveTo>
                  <a:pt x="397700" y="353910"/>
                </a:moveTo>
                <a:lnTo>
                  <a:pt x="207117" y="25307"/>
                </a:lnTo>
                <a:lnTo>
                  <a:pt x="212610" y="15836"/>
                </a:lnTo>
                <a:lnTo>
                  <a:pt x="216297" y="15836"/>
                </a:lnTo>
                <a:lnTo>
                  <a:pt x="406856" y="344373"/>
                </a:lnTo>
                <a:lnTo>
                  <a:pt x="403199" y="344373"/>
                </a:lnTo>
                <a:lnTo>
                  <a:pt x="397700" y="353910"/>
                </a:lnTo>
                <a:close/>
              </a:path>
              <a:path w="414654" h="357505">
                <a:moveTo>
                  <a:pt x="16522" y="353910"/>
                </a:moveTo>
                <a:lnTo>
                  <a:pt x="11023" y="344373"/>
                </a:lnTo>
                <a:lnTo>
                  <a:pt x="22054" y="344373"/>
                </a:lnTo>
                <a:lnTo>
                  <a:pt x="16522" y="353910"/>
                </a:lnTo>
                <a:close/>
              </a:path>
              <a:path w="414654" h="357505">
                <a:moveTo>
                  <a:pt x="397700" y="353910"/>
                </a:moveTo>
                <a:lnTo>
                  <a:pt x="16522" y="353910"/>
                </a:lnTo>
                <a:lnTo>
                  <a:pt x="22054" y="344373"/>
                </a:lnTo>
                <a:lnTo>
                  <a:pt x="392168" y="344373"/>
                </a:lnTo>
                <a:lnTo>
                  <a:pt x="397700" y="353910"/>
                </a:lnTo>
                <a:close/>
              </a:path>
              <a:path w="414654" h="357505">
                <a:moveTo>
                  <a:pt x="412388" y="353910"/>
                </a:moveTo>
                <a:lnTo>
                  <a:pt x="397700" y="353910"/>
                </a:lnTo>
                <a:lnTo>
                  <a:pt x="403199" y="344373"/>
                </a:lnTo>
                <a:lnTo>
                  <a:pt x="406856" y="344373"/>
                </a:lnTo>
                <a:lnTo>
                  <a:pt x="412388" y="353910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865095" y="3501516"/>
            <a:ext cx="400685" cy="397510"/>
          </a:xfrm>
          <a:custGeom>
            <a:avLst/>
            <a:gdLst/>
            <a:ahLst/>
            <a:cxnLst/>
            <a:rect l="l" t="t" r="r" b="b"/>
            <a:pathLst>
              <a:path w="400684" h="397510">
                <a:moveTo>
                  <a:pt x="288734" y="397395"/>
                </a:moveTo>
                <a:lnTo>
                  <a:pt x="0" y="100393"/>
                </a:lnTo>
                <a:lnTo>
                  <a:pt x="400405" y="0"/>
                </a:lnTo>
                <a:lnTo>
                  <a:pt x="398410" y="7099"/>
                </a:lnTo>
                <a:lnTo>
                  <a:pt x="385216" y="7099"/>
                </a:lnTo>
                <a:lnTo>
                  <a:pt x="382255" y="17636"/>
                </a:lnTo>
                <a:lnTo>
                  <a:pt x="55979" y="99453"/>
                </a:lnTo>
                <a:lnTo>
                  <a:pt x="16789" y="99453"/>
                </a:lnTo>
                <a:lnTo>
                  <a:pt x="13792" y="110032"/>
                </a:lnTo>
                <a:lnTo>
                  <a:pt x="27074" y="110032"/>
                </a:lnTo>
                <a:lnTo>
                  <a:pt x="282470" y="372738"/>
                </a:lnTo>
                <a:lnTo>
                  <a:pt x="279488" y="383349"/>
                </a:lnTo>
                <a:lnTo>
                  <a:pt x="292681" y="383349"/>
                </a:lnTo>
                <a:lnTo>
                  <a:pt x="288734" y="397395"/>
                </a:lnTo>
                <a:close/>
              </a:path>
              <a:path w="400684" h="397510">
                <a:moveTo>
                  <a:pt x="382255" y="17636"/>
                </a:moveTo>
                <a:lnTo>
                  <a:pt x="385216" y="7099"/>
                </a:lnTo>
                <a:lnTo>
                  <a:pt x="392874" y="14973"/>
                </a:lnTo>
                <a:lnTo>
                  <a:pt x="382255" y="17636"/>
                </a:lnTo>
                <a:close/>
              </a:path>
              <a:path w="400684" h="397510">
                <a:moveTo>
                  <a:pt x="292681" y="383349"/>
                </a:moveTo>
                <a:lnTo>
                  <a:pt x="279488" y="383349"/>
                </a:lnTo>
                <a:lnTo>
                  <a:pt x="290156" y="380644"/>
                </a:lnTo>
                <a:lnTo>
                  <a:pt x="282470" y="372738"/>
                </a:lnTo>
                <a:lnTo>
                  <a:pt x="382255" y="17636"/>
                </a:lnTo>
                <a:lnTo>
                  <a:pt x="392874" y="14973"/>
                </a:lnTo>
                <a:lnTo>
                  <a:pt x="385216" y="7099"/>
                </a:lnTo>
                <a:lnTo>
                  <a:pt x="398410" y="7099"/>
                </a:lnTo>
                <a:lnTo>
                  <a:pt x="292681" y="383349"/>
                </a:lnTo>
                <a:close/>
              </a:path>
              <a:path w="400684" h="397510">
                <a:moveTo>
                  <a:pt x="13792" y="110032"/>
                </a:moveTo>
                <a:lnTo>
                  <a:pt x="16789" y="99453"/>
                </a:lnTo>
                <a:lnTo>
                  <a:pt x="24470" y="107354"/>
                </a:lnTo>
                <a:lnTo>
                  <a:pt x="13792" y="110032"/>
                </a:lnTo>
                <a:close/>
              </a:path>
              <a:path w="400684" h="397510">
                <a:moveTo>
                  <a:pt x="24470" y="107354"/>
                </a:moveTo>
                <a:lnTo>
                  <a:pt x="16789" y="99453"/>
                </a:lnTo>
                <a:lnTo>
                  <a:pt x="55979" y="99453"/>
                </a:lnTo>
                <a:lnTo>
                  <a:pt x="24470" y="107354"/>
                </a:lnTo>
                <a:close/>
              </a:path>
              <a:path w="400684" h="397510">
                <a:moveTo>
                  <a:pt x="27074" y="110032"/>
                </a:moveTo>
                <a:lnTo>
                  <a:pt x="13792" y="110032"/>
                </a:lnTo>
                <a:lnTo>
                  <a:pt x="24470" y="107354"/>
                </a:lnTo>
                <a:lnTo>
                  <a:pt x="27074" y="110032"/>
                </a:lnTo>
                <a:close/>
              </a:path>
              <a:path w="400684" h="397510">
                <a:moveTo>
                  <a:pt x="279488" y="383349"/>
                </a:moveTo>
                <a:lnTo>
                  <a:pt x="282470" y="372738"/>
                </a:lnTo>
                <a:lnTo>
                  <a:pt x="290156" y="380644"/>
                </a:lnTo>
                <a:lnTo>
                  <a:pt x="279488" y="383349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56620" y="3143021"/>
            <a:ext cx="641794" cy="554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92039" y="3101949"/>
            <a:ext cx="2729877" cy="6718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5633" y="395998"/>
            <a:ext cx="583145" cy="3843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08581" y="370598"/>
            <a:ext cx="2493060" cy="4605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2800" y="1123314"/>
            <a:ext cx="3149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1990" indent="-669290">
              <a:lnSpc>
                <a:spcPct val="100000"/>
              </a:lnSpc>
              <a:spcBef>
                <a:spcPts val="100"/>
              </a:spcBef>
              <a:buSzPct val="87500"/>
              <a:buFont typeface="Arial"/>
              <a:buChar char="➢"/>
              <a:tabLst>
                <a:tab pos="681355" algn="l"/>
                <a:tab pos="681990" algn="l"/>
              </a:tabLst>
            </a:pPr>
            <a:r>
              <a:rPr sz="2400" b="1" dirty="0" smtClean="0">
                <a:latin typeface="微软雅黑"/>
                <a:cs typeface="微软雅黑"/>
              </a:rPr>
              <a:t>晨</a:t>
            </a:r>
            <a:r>
              <a:rPr lang="en-US" altLang="zh-CN" sz="2400" b="1" dirty="0" smtClean="0">
                <a:latin typeface="微软雅黑"/>
                <a:cs typeface="微软雅黑"/>
              </a:rPr>
              <a:t>-</a:t>
            </a:r>
            <a:r>
              <a:rPr sz="2400" b="1" dirty="0" smtClean="0">
                <a:latin typeface="微软雅黑"/>
                <a:cs typeface="微软雅黑"/>
              </a:rPr>
              <a:t>午</a:t>
            </a:r>
            <a:r>
              <a:rPr lang="en-US" altLang="zh-CN" sz="2400" b="1" dirty="0" smtClean="0">
                <a:latin typeface="微软雅黑"/>
                <a:cs typeface="微软雅黑"/>
              </a:rPr>
              <a:t>-</a:t>
            </a:r>
            <a:r>
              <a:rPr sz="2400" b="1" dirty="0" err="1" smtClean="0">
                <a:latin typeface="微软雅黑"/>
                <a:cs typeface="微软雅黑"/>
              </a:rPr>
              <a:t>晚检制度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0">
              <a:lnSpc>
                <a:spcPct val="150000"/>
              </a:lnSpc>
              <a:spcBef>
                <a:spcPts val="100"/>
              </a:spcBef>
            </a:pPr>
            <a:r>
              <a:rPr sz="2400" spc="-5" dirty="0"/>
              <a:t>学生在南京大学APP“</a:t>
            </a:r>
            <a:r>
              <a:rPr sz="2400" spc="-5" dirty="0">
                <a:solidFill>
                  <a:srgbClr val="C00000"/>
                </a:solidFill>
              </a:rPr>
              <a:t>每日健康打卡</a:t>
            </a:r>
            <a:r>
              <a:rPr sz="2400" spc="-5" dirty="0"/>
              <a:t>”模块按时填报健康信息（包括校外</a:t>
            </a:r>
            <a:r>
              <a:rPr sz="2400" spc="-10" dirty="0"/>
              <a:t>住 </a:t>
            </a:r>
            <a:r>
              <a:rPr sz="2400" dirty="0"/>
              <a:t>宿同学</a:t>
            </a:r>
            <a:r>
              <a:rPr sz="2400" spc="-10" dirty="0"/>
              <a:t>）</a:t>
            </a:r>
            <a:endParaRPr sz="2400" dirty="0"/>
          </a:p>
          <a:p>
            <a:pPr marL="622300">
              <a:lnSpc>
                <a:spcPct val="100000"/>
              </a:lnSpc>
              <a:spcBef>
                <a:spcPts val="1440"/>
              </a:spcBef>
            </a:pPr>
            <a:r>
              <a:rPr sz="2400" dirty="0"/>
              <a:t>每日三次对学生进行体温检</a:t>
            </a:r>
            <a:r>
              <a:rPr sz="2400" spc="-10" dirty="0"/>
              <a:t>测</a:t>
            </a:r>
            <a:endParaRPr sz="2400" dirty="0"/>
          </a:p>
          <a:p>
            <a:pPr marL="622300" indent="-609600">
              <a:lnSpc>
                <a:spcPct val="100000"/>
              </a:lnSpc>
              <a:spcBef>
                <a:spcPts val="1515"/>
              </a:spcBef>
              <a:buSzPct val="75000"/>
              <a:buFont typeface="Arial"/>
              <a:buChar char="➢"/>
              <a:tabLst>
                <a:tab pos="621665" algn="l"/>
                <a:tab pos="622300" algn="l"/>
              </a:tabLst>
            </a:pPr>
            <a:r>
              <a:rPr sz="2400" dirty="0">
                <a:latin typeface="微软雅黑"/>
                <a:cs typeface="微软雅黑"/>
              </a:rPr>
              <a:t>晚点名制度</a:t>
            </a:r>
          </a:p>
          <a:p>
            <a:pPr marL="647700">
              <a:lnSpc>
                <a:spcPct val="100000"/>
              </a:lnSpc>
              <a:spcBef>
                <a:spcPts val="1410"/>
              </a:spcBef>
            </a:pPr>
            <a:r>
              <a:rPr spc="-5" dirty="0"/>
              <a:t>组建临时小组，对同学进行</a:t>
            </a:r>
            <a:r>
              <a:rPr spc="-5" dirty="0">
                <a:solidFill>
                  <a:srgbClr val="C00000"/>
                </a:solidFill>
              </a:rPr>
              <a:t>晚点名</a:t>
            </a:r>
            <a:r>
              <a:rPr spc="-5" dirty="0"/>
              <a:t>，每晚</a:t>
            </a:r>
            <a:r>
              <a:rPr spc="-10" dirty="0"/>
              <a:t>10:30</a:t>
            </a:r>
            <a:r>
              <a:rPr spc="-5" dirty="0"/>
              <a:t>前汇总报告辅导</a:t>
            </a:r>
            <a:r>
              <a:rPr spc="-15" dirty="0"/>
              <a:t>员</a:t>
            </a:r>
          </a:p>
          <a:p>
            <a:pPr marL="647700">
              <a:lnSpc>
                <a:spcPct val="100000"/>
              </a:lnSpc>
              <a:spcBef>
                <a:spcPts val="1500"/>
              </a:spcBef>
            </a:pPr>
            <a:r>
              <a:rPr dirty="0"/>
              <a:t>（包括校外住宿同学</a:t>
            </a:r>
            <a:r>
              <a:rPr spc="-15" dirty="0"/>
              <a:t>）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2800" y="4843145"/>
            <a:ext cx="3479800" cy="11226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723900" indent="-711200">
              <a:lnSpc>
                <a:spcPct val="100000"/>
              </a:lnSpc>
              <a:spcBef>
                <a:spcPts val="1540"/>
              </a:spcBef>
              <a:buSzPct val="75000"/>
              <a:buFont typeface="Arial"/>
              <a:buChar char="➢"/>
              <a:tabLst>
                <a:tab pos="723265" algn="l"/>
                <a:tab pos="723900" algn="l"/>
              </a:tabLst>
            </a:pPr>
            <a:r>
              <a:rPr sz="2400" b="1" dirty="0">
                <a:latin typeface="微软雅黑"/>
                <a:cs typeface="微软雅黑"/>
              </a:rPr>
              <a:t>缺课登记及跟踪制度</a:t>
            </a:r>
            <a:endParaRPr sz="2400">
              <a:latin typeface="微软雅黑"/>
              <a:cs typeface="微软雅黑"/>
            </a:endParaRPr>
          </a:p>
          <a:p>
            <a:pPr marL="723900" indent="-711200">
              <a:lnSpc>
                <a:spcPct val="100000"/>
              </a:lnSpc>
              <a:spcBef>
                <a:spcPts val="1440"/>
              </a:spcBef>
              <a:buSzPct val="75000"/>
              <a:buFont typeface="Arial"/>
              <a:buChar char="➢"/>
              <a:tabLst>
                <a:tab pos="723265" algn="l"/>
                <a:tab pos="723900" algn="l"/>
              </a:tabLst>
            </a:pPr>
            <a:r>
              <a:rPr sz="2400" b="1" dirty="0">
                <a:latin typeface="微软雅黑"/>
                <a:cs typeface="微软雅黑"/>
              </a:rPr>
              <a:t>复课证明查验制度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69790" y="5003672"/>
            <a:ext cx="67176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500" b="1" spc="-5" dirty="0">
                <a:latin typeface="楷体"/>
                <a:cs typeface="楷体"/>
              </a:rPr>
              <a:t>辅导员应及时与教务员沟通学生情况，报告学</a:t>
            </a:r>
            <a:r>
              <a:rPr sz="2500" b="1" spc="-15" dirty="0">
                <a:latin typeface="楷体"/>
                <a:cs typeface="楷体"/>
              </a:rPr>
              <a:t>校 </a:t>
            </a:r>
            <a:r>
              <a:rPr sz="2500" b="1" dirty="0">
                <a:latin typeface="楷体"/>
                <a:cs typeface="楷体"/>
              </a:rPr>
              <a:t>相关部</a:t>
            </a:r>
            <a:r>
              <a:rPr sz="2500" b="1" spc="-15" dirty="0">
                <a:latin typeface="楷体"/>
                <a:cs typeface="楷体"/>
              </a:rPr>
              <a:t>门</a:t>
            </a:r>
            <a:endParaRPr sz="25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5580" y="1711198"/>
            <a:ext cx="9586595" cy="10768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500" b="1" spc="-5" dirty="0" err="1">
                <a:latin typeface="楷体"/>
                <a:cs typeface="楷体"/>
              </a:rPr>
              <a:t>学生如需</a:t>
            </a:r>
            <a:r>
              <a:rPr sz="2500" b="1" spc="-5" dirty="0" err="1">
                <a:solidFill>
                  <a:srgbClr val="C00000"/>
                </a:solidFill>
                <a:latin typeface="楷体"/>
                <a:cs typeface="楷体"/>
              </a:rPr>
              <a:t>离开南京，</a:t>
            </a:r>
            <a:r>
              <a:rPr sz="2500" b="1" spc="-5" dirty="0" err="1">
                <a:solidFill>
                  <a:srgbClr val="C00000"/>
                </a:solidFill>
                <a:latin typeface="楷体"/>
                <a:cs typeface="楷体"/>
              </a:rPr>
              <a:t>须向</a:t>
            </a:r>
            <a:r>
              <a:rPr lang="zh-CN" altLang="en-US" sz="2500" b="1" spc="-5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学院</a:t>
            </a:r>
            <a:r>
              <a:rPr sz="2500" b="1" spc="-5" dirty="0" err="1" smtClean="0">
                <a:solidFill>
                  <a:srgbClr val="C00000"/>
                </a:solidFill>
                <a:latin typeface="楷体"/>
                <a:cs typeface="楷体"/>
              </a:rPr>
              <a:t>提出申请</a:t>
            </a:r>
            <a:r>
              <a:rPr sz="2500" b="1" spc="-5" dirty="0" err="1">
                <a:solidFill>
                  <a:srgbClr val="C00000"/>
                </a:solidFill>
                <a:latin typeface="楷体"/>
                <a:cs typeface="楷体"/>
              </a:rPr>
              <a:t>，严格执行请销假制度</a:t>
            </a:r>
            <a:r>
              <a:rPr sz="2500" b="1" spc="-15" dirty="0">
                <a:latin typeface="楷体"/>
                <a:cs typeface="楷体"/>
              </a:rPr>
              <a:t>。 </a:t>
            </a:r>
            <a:r>
              <a:rPr sz="2500" b="1" spc="-5" dirty="0" err="1">
                <a:latin typeface="楷体"/>
                <a:cs typeface="楷体"/>
              </a:rPr>
              <a:t>院系应严格把关进出校申请，学生出校后应避免前往中高风险地区</a:t>
            </a:r>
            <a:r>
              <a:rPr sz="2500" b="1" spc="-15" dirty="0" smtClean="0">
                <a:latin typeface="楷体"/>
                <a:cs typeface="楷体"/>
              </a:rPr>
              <a:t>。</a:t>
            </a:r>
            <a:endParaRPr sz="2500" dirty="0">
              <a:latin typeface="楷体"/>
              <a:cs typeface="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67130" y="911225"/>
            <a:ext cx="22599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SzPct val="75000"/>
              <a:buFont typeface="Arial"/>
              <a:buChar char="➢"/>
              <a:tabLst>
                <a:tab pos="469265" algn="l"/>
                <a:tab pos="469900" algn="l"/>
              </a:tabLst>
            </a:pPr>
            <a:r>
              <a:rPr sz="2800" dirty="0">
                <a:solidFill>
                  <a:srgbClr val="C00000"/>
                </a:solidFill>
              </a:rPr>
              <a:t>请销假制</a:t>
            </a:r>
            <a:r>
              <a:rPr sz="2800" spc="-5" dirty="0">
                <a:solidFill>
                  <a:srgbClr val="C00000"/>
                </a:solidFill>
              </a:rPr>
              <a:t>度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81213" y="359803"/>
            <a:ext cx="637120" cy="382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20429" y="332422"/>
            <a:ext cx="2476398" cy="4613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1990" indent="-669290">
              <a:lnSpc>
                <a:spcPct val="100000"/>
              </a:lnSpc>
              <a:spcBef>
                <a:spcPts val="100"/>
              </a:spcBef>
              <a:buSzPct val="87500"/>
              <a:buFont typeface="Arial"/>
              <a:buChar char="➢"/>
              <a:tabLst>
                <a:tab pos="681355" algn="l"/>
                <a:tab pos="681990" algn="l"/>
              </a:tabLst>
            </a:pPr>
            <a:r>
              <a:rPr dirty="0"/>
              <a:t>最新风险等级提醒（</a:t>
            </a:r>
            <a:r>
              <a:rPr spc="-5" dirty="0"/>
              <a:t>8</a:t>
            </a:r>
            <a:r>
              <a:rPr dirty="0"/>
              <a:t>月</a:t>
            </a:r>
            <a:r>
              <a:rPr spc="-5" dirty="0"/>
              <a:t>10</a:t>
            </a:r>
            <a:r>
              <a:rPr dirty="0"/>
              <a:t>日晚）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4830" y="1308100"/>
            <a:ext cx="10701655" cy="516890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647700">
              <a:lnSpc>
                <a:spcPct val="100000"/>
              </a:lnSpc>
              <a:spcBef>
                <a:spcPts val="1600"/>
              </a:spcBef>
            </a:pP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3</a:t>
            </a:r>
            <a:r>
              <a:rPr sz="2500" b="1" dirty="0">
                <a:solidFill>
                  <a:srgbClr val="C00000"/>
                </a:solidFill>
                <a:latin typeface="楷体"/>
                <a:cs typeface="楷体"/>
              </a:rPr>
              <a:t>个高风险地</a:t>
            </a:r>
            <a:r>
              <a:rPr sz="2500" b="1" spc="-15" dirty="0">
                <a:solidFill>
                  <a:srgbClr val="C00000"/>
                </a:solidFill>
                <a:latin typeface="楷体"/>
                <a:cs typeface="楷体"/>
              </a:rPr>
              <a:t>区</a:t>
            </a:r>
            <a:endParaRPr sz="2500" dirty="0">
              <a:latin typeface="楷体"/>
              <a:cs typeface="楷体"/>
            </a:endParaRPr>
          </a:p>
          <a:p>
            <a:pPr marL="647700" marR="3513454">
              <a:lnSpc>
                <a:spcPct val="150000"/>
              </a:lnSpc>
            </a:pPr>
            <a:r>
              <a:rPr sz="2500" b="1" spc="-5" dirty="0">
                <a:latin typeface="楷体"/>
                <a:cs typeface="楷体"/>
              </a:rPr>
              <a:t>新疆乌鲁木齐市</a:t>
            </a:r>
            <a:r>
              <a:rPr sz="2500" b="1" spc="-10" dirty="0">
                <a:latin typeface="楷体"/>
                <a:cs typeface="楷体"/>
              </a:rPr>
              <a:t>（2）：</a:t>
            </a:r>
            <a:r>
              <a:rPr sz="2500" b="1" spc="-5" dirty="0">
                <a:latin typeface="楷体"/>
                <a:cs typeface="楷体"/>
              </a:rPr>
              <a:t>天山区、沙依巴克区</a:t>
            </a:r>
            <a:r>
              <a:rPr sz="2500" b="1" spc="-15" dirty="0">
                <a:latin typeface="楷体"/>
                <a:cs typeface="楷体"/>
              </a:rPr>
              <a:t>；  </a:t>
            </a:r>
            <a:r>
              <a:rPr sz="2500" b="1" dirty="0">
                <a:latin typeface="楷体"/>
                <a:cs typeface="楷体"/>
              </a:rPr>
              <a:t>大连市（</a:t>
            </a:r>
            <a:r>
              <a:rPr sz="2500" b="1" spc="-5" dirty="0">
                <a:latin typeface="楷体"/>
                <a:cs typeface="楷体"/>
              </a:rPr>
              <a:t>1</a:t>
            </a:r>
            <a:r>
              <a:rPr sz="2500" b="1" dirty="0">
                <a:latin typeface="楷体"/>
                <a:cs typeface="楷体"/>
              </a:rPr>
              <a:t>）：甘井子区大连湾街</a:t>
            </a:r>
            <a:r>
              <a:rPr sz="2500" b="1" spc="-15" dirty="0">
                <a:latin typeface="楷体"/>
                <a:cs typeface="楷体"/>
              </a:rPr>
              <a:t>道</a:t>
            </a:r>
            <a:endParaRPr sz="2500" dirty="0">
              <a:latin typeface="楷体"/>
              <a:cs typeface="楷体"/>
            </a:endParaRPr>
          </a:p>
          <a:p>
            <a:pPr marL="647700">
              <a:lnSpc>
                <a:spcPct val="100000"/>
              </a:lnSpc>
              <a:spcBef>
                <a:spcPts val="1500"/>
              </a:spcBef>
            </a:pP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6</a:t>
            </a:r>
            <a:r>
              <a:rPr sz="2500" b="1" dirty="0">
                <a:solidFill>
                  <a:srgbClr val="C00000"/>
                </a:solidFill>
                <a:latin typeface="楷体"/>
                <a:cs typeface="楷体"/>
              </a:rPr>
              <a:t>个中风险地</a:t>
            </a:r>
            <a:r>
              <a:rPr sz="2500" b="1" spc="-15" dirty="0">
                <a:solidFill>
                  <a:srgbClr val="C00000"/>
                </a:solidFill>
                <a:latin typeface="楷体"/>
                <a:cs typeface="楷体"/>
              </a:rPr>
              <a:t>区</a:t>
            </a:r>
            <a:endParaRPr sz="2500" dirty="0">
              <a:latin typeface="楷体"/>
              <a:cs typeface="楷体"/>
            </a:endParaRPr>
          </a:p>
          <a:p>
            <a:pPr marL="12700" marR="5080" indent="635000">
              <a:lnSpc>
                <a:spcPct val="150000"/>
              </a:lnSpc>
            </a:pPr>
            <a:r>
              <a:rPr sz="2500" b="1" spc="-5" dirty="0">
                <a:latin typeface="楷体"/>
                <a:cs typeface="楷体"/>
              </a:rPr>
              <a:t>新疆乌鲁木齐市</a:t>
            </a:r>
            <a:r>
              <a:rPr sz="2500" b="1" spc="-10" dirty="0">
                <a:latin typeface="楷体"/>
                <a:cs typeface="楷体"/>
              </a:rPr>
              <a:t>（3）：</a:t>
            </a:r>
            <a:r>
              <a:rPr sz="2500" b="1" spc="-5" dirty="0">
                <a:latin typeface="楷体"/>
                <a:cs typeface="楷体"/>
              </a:rPr>
              <a:t>经济技术开发区</a:t>
            </a:r>
            <a:r>
              <a:rPr sz="2500" b="1" spc="-10" dirty="0">
                <a:latin typeface="楷体"/>
                <a:cs typeface="楷体"/>
              </a:rPr>
              <a:t>(</a:t>
            </a:r>
            <a:r>
              <a:rPr sz="2500" b="1" spc="-5" dirty="0">
                <a:latin typeface="楷体"/>
                <a:cs typeface="楷体"/>
              </a:rPr>
              <a:t>头屯河区</a:t>
            </a:r>
            <a:r>
              <a:rPr sz="2500" b="1" spc="-10" dirty="0">
                <a:latin typeface="楷体"/>
                <a:cs typeface="楷体"/>
              </a:rPr>
              <a:t>)</a:t>
            </a:r>
            <a:r>
              <a:rPr sz="2500" b="1" spc="-5" dirty="0">
                <a:latin typeface="楷体"/>
                <a:cs typeface="楷体"/>
              </a:rPr>
              <a:t>、高新技术产业开</a:t>
            </a:r>
            <a:r>
              <a:rPr sz="2500" b="1" spc="-15" dirty="0">
                <a:latin typeface="楷体"/>
                <a:cs typeface="楷体"/>
              </a:rPr>
              <a:t>发 </a:t>
            </a:r>
            <a:r>
              <a:rPr sz="2500" b="1" dirty="0">
                <a:latin typeface="楷体"/>
                <a:cs typeface="楷体"/>
              </a:rPr>
              <a:t>区</a:t>
            </a:r>
            <a:r>
              <a:rPr sz="2500" b="1" spc="-5" dirty="0">
                <a:latin typeface="楷体"/>
                <a:cs typeface="楷体"/>
              </a:rPr>
              <a:t>(</a:t>
            </a:r>
            <a:r>
              <a:rPr sz="2500" b="1" dirty="0">
                <a:latin typeface="楷体"/>
                <a:cs typeface="楷体"/>
              </a:rPr>
              <a:t>新市区</a:t>
            </a:r>
            <a:r>
              <a:rPr sz="2500" b="1" spc="-5" dirty="0">
                <a:latin typeface="楷体"/>
                <a:cs typeface="楷体"/>
              </a:rPr>
              <a:t>)</a:t>
            </a:r>
            <a:r>
              <a:rPr sz="2500" b="1" dirty="0">
                <a:latin typeface="楷体"/>
                <a:cs typeface="楷体"/>
              </a:rPr>
              <a:t>、水磨沟区</a:t>
            </a:r>
            <a:r>
              <a:rPr sz="2500" b="1" spc="-15" dirty="0">
                <a:latin typeface="楷体"/>
                <a:cs typeface="楷体"/>
              </a:rPr>
              <a:t>；</a:t>
            </a:r>
            <a:endParaRPr sz="2500" dirty="0">
              <a:latin typeface="楷体"/>
              <a:cs typeface="楷体"/>
            </a:endParaRPr>
          </a:p>
          <a:p>
            <a:pPr marL="12700" marR="6985" indent="635000">
              <a:lnSpc>
                <a:spcPct val="150000"/>
              </a:lnSpc>
            </a:pPr>
            <a:r>
              <a:rPr sz="2500" b="1" spc="-5" dirty="0">
                <a:latin typeface="楷体"/>
                <a:cs typeface="楷体"/>
              </a:rPr>
              <a:t>大连市</a:t>
            </a:r>
            <a:r>
              <a:rPr sz="2500" b="1" spc="-10" dirty="0">
                <a:latin typeface="楷体"/>
                <a:cs typeface="楷体"/>
              </a:rPr>
              <a:t>（3）：</a:t>
            </a:r>
            <a:r>
              <a:rPr sz="2500" b="1" spc="-5" dirty="0">
                <a:latin typeface="楷体"/>
                <a:cs typeface="楷体"/>
              </a:rPr>
              <a:t>金普新区站前街道盛滨社区，金普新区站前街道杨家村</a:t>
            </a:r>
            <a:r>
              <a:rPr sz="2500" b="1" spc="-15" dirty="0">
                <a:latin typeface="楷体"/>
                <a:cs typeface="楷体"/>
              </a:rPr>
              <a:t>，  </a:t>
            </a:r>
            <a:r>
              <a:rPr sz="2500" b="1" dirty="0">
                <a:latin typeface="楷体"/>
                <a:cs typeface="楷体"/>
              </a:rPr>
              <a:t>金普新区先进街道桃园社区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 dirty="0">
              <a:latin typeface="楷体"/>
              <a:cs typeface="楷体"/>
            </a:endParaRPr>
          </a:p>
          <a:p>
            <a:pPr marL="647700">
              <a:lnSpc>
                <a:spcPct val="100000"/>
              </a:lnSpc>
              <a:spcBef>
                <a:spcPts val="1495"/>
              </a:spcBef>
            </a:pPr>
            <a:r>
              <a:rPr sz="2500" b="1" dirty="0">
                <a:solidFill>
                  <a:srgbClr val="C00000"/>
                </a:solidFill>
                <a:latin typeface="楷体"/>
                <a:cs typeface="楷体"/>
              </a:rPr>
              <a:t>境外仍全部为高风险地区</a:t>
            </a:r>
            <a:r>
              <a:rPr sz="2500" b="1" spc="-15" dirty="0">
                <a:solidFill>
                  <a:srgbClr val="C00000"/>
                </a:solidFill>
                <a:latin typeface="楷体"/>
                <a:cs typeface="楷体"/>
              </a:rPr>
              <a:t>。</a:t>
            </a:r>
            <a:endParaRPr sz="2500" dirty="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5975" y="953135"/>
            <a:ext cx="282765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1990" indent="-669290">
              <a:lnSpc>
                <a:spcPct val="100000"/>
              </a:lnSpc>
              <a:spcBef>
                <a:spcPts val="95"/>
              </a:spcBef>
              <a:buSzPct val="75000"/>
              <a:buFont typeface="Arial"/>
              <a:buChar char="➢"/>
              <a:tabLst>
                <a:tab pos="681355" algn="l"/>
                <a:tab pos="681990" algn="l"/>
              </a:tabLst>
            </a:pPr>
            <a:r>
              <a:rPr sz="2800" dirty="0"/>
              <a:t>中高风险地</a:t>
            </a:r>
            <a:r>
              <a:rPr sz="2800" spc="-5" dirty="0"/>
              <a:t>区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15975" y="1579752"/>
            <a:ext cx="10702925" cy="439674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647700">
              <a:lnSpc>
                <a:spcPct val="100000"/>
              </a:lnSpc>
              <a:spcBef>
                <a:spcPts val="1600"/>
              </a:spcBef>
            </a:pPr>
            <a:r>
              <a:rPr sz="2500" b="1" spc="-5" dirty="0">
                <a:latin typeface="楷体"/>
                <a:cs typeface="楷体"/>
              </a:rPr>
              <a:t>中高风险地区学生暂缓返校（包括经停、中转、逗留等情况）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 dirty="0">
              <a:latin typeface="楷体"/>
              <a:cs typeface="楷体"/>
            </a:endParaRPr>
          </a:p>
          <a:p>
            <a:pPr marL="12700" marR="6985" indent="635000">
              <a:lnSpc>
                <a:spcPct val="150000"/>
              </a:lnSpc>
            </a:pP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来自</a:t>
            </a:r>
            <a:r>
              <a:rPr sz="2500" b="1" spc="-5" dirty="0">
                <a:latin typeface="楷体"/>
                <a:cs typeface="楷体"/>
              </a:rPr>
              <a:t>中高风险地区的学生，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地区风险等级解除</a:t>
            </a:r>
            <a:r>
              <a:rPr sz="2500" b="1" spc="-10" dirty="0">
                <a:latin typeface="楷体"/>
                <a:cs typeface="楷体"/>
              </a:rPr>
              <a:t>+</a:t>
            </a:r>
            <a:r>
              <a:rPr sz="2500" b="1" spc="-5" dirty="0">
                <a:latin typeface="楷体"/>
                <a:cs typeface="楷体"/>
              </a:rPr>
              <a:t>苏康码绿色</a:t>
            </a:r>
            <a:r>
              <a:rPr sz="2500" b="1" spc="-10" dirty="0">
                <a:latin typeface="楷体"/>
                <a:cs typeface="楷体"/>
              </a:rPr>
              <a:t>+7</a:t>
            </a:r>
            <a:r>
              <a:rPr sz="2500" b="1" spc="-5" dirty="0">
                <a:latin typeface="楷体"/>
                <a:cs typeface="楷体"/>
              </a:rPr>
              <a:t>日内有效</a:t>
            </a:r>
            <a:r>
              <a:rPr sz="2500" b="1" spc="-15" dirty="0">
                <a:latin typeface="楷体"/>
                <a:cs typeface="楷体"/>
              </a:rPr>
              <a:t>核 </a:t>
            </a:r>
            <a:r>
              <a:rPr sz="2500" b="1" dirty="0">
                <a:latin typeface="楷体"/>
                <a:cs typeface="楷体"/>
              </a:rPr>
              <a:t>酸检测结果，方可返校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 dirty="0">
              <a:latin typeface="楷体"/>
              <a:cs typeface="楷体"/>
            </a:endParaRPr>
          </a:p>
          <a:p>
            <a:pPr marL="12700" marR="5080" indent="635000">
              <a:lnSpc>
                <a:spcPct val="150000"/>
              </a:lnSpc>
            </a:pPr>
            <a:r>
              <a:rPr sz="2500" b="1" spc="-5" dirty="0" err="1" smtClean="0">
                <a:solidFill>
                  <a:srgbClr val="C00000"/>
                </a:solidFill>
                <a:latin typeface="楷体"/>
                <a:cs typeface="楷体"/>
              </a:rPr>
              <a:t>经过</a:t>
            </a:r>
            <a:r>
              <a:rPr lang="zh-CN" altLang="en-US" sz="2500" b="1" spc="-5" dirty="0" smtClean="0">
                <a:solidFill>
                  <a:srgbClr val="C00000"/>
                </a:solidFill>
                <a:latin typeface="楷体"/>
                <a:cs typeface="楷体"/>
              </a:rPr>
              <a:t>（不下车）</a:t>
            </a:r>
            <a:r>
              <a:rPr sz="2500" b="1" spc="-5" dirty="0" smtClean="0">
                <a:latin typeface="楷体"/>
                <a:cs typeface="楷体"/>
              </a:rPr>
              <a:t>中高风险地区的学生</a:t>
            </a:r>
            <a:r>
              <a:rPr sz="2500" b="1" spc="-5" dirty="0">
                <a:latin typeface="楷体"/>
                <a:cs typeface="楷体"/>
              </a:rPr>
              <a:t>，自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经过该地区之日起满</a:t>
            </a:r>
            <a:r>
              <a:rPr sz="2500" b="1" spc="-10" dirty="0">
                <a:solidFill>
                  <a:srgbClr val="C00000"/>
                </a:solidFill>
                <a:latin typeface="楷体"/>
                <a:cs typeface="楷体"/>
              </a:rPr>
              <a:t>14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日</a:t>
            </a:r>
            <a:r>
              <a:rPr sz="2500" b="1" spc="-10" dirty="0">
                <a:latin typeface="楷体"/>
                <a:cs typeface="楷体"/>
              </a:rPr>
              <a:t>+</a:t>
            </a:r>
            <a:r>
              <a:rPr sz="2500" b="1" spc="-5" dirty="0">
                <a:latin typeface="楷体"/>
                <a:cs typeface="楷体"/>
              </a:rPr>
              <a:t>苏康码绿色</a:t>
            </a:r>
            <a:r>
              <a:rPr sz="2500" b="1" spc="-10" dirty="0">
                <a:latin typeface="楷体"/>
                <a:cs typeface="楷体"/>
              </a:rPr>
              <a:t>+7</a:t>
            </a:r>
            <a:r>
              <a:rPr sz="2500" b="1" spc="-15" dirty="0" smtClean="0">
                <a:latin typeface="楷体"/>
                <a:cs typeface="楷体"/>
              </a:rPr>
              <a:t>日</a:t>
            </a:r>
            <a:r>
              <a:rPr sz="2500" b="1" dirty="0" smtClean="0">
                <a:latin typeface="楷体"/>
                <a:cs typeface="楷体"/>
              </a:rPr>
              <a:t>内有效核酸检测结果</a:t>
            </a:r>
            <a:r>
              <a:rPr sz="2500" b="1" dirty="0">
                <a:latin typeface="楷体"/>
                <a:cs typeface="楷体"/>
              </a:rPr>
              <a:t>，方可返校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 dirty="0">
              <a:latin typeface="楷体"/>
              <a:cs typeface="楷体"/>
            </a:endParaRPr>
          </a:p>
          <a:p>
            <a:pPr marL="12700" marR="15875" indent="711200">
              <a:lnSpc>
                <a:spcPct val="150000"/>
              </a:lnSpc>
              <a:spcBef>
                <a:spcPts val="1840"/>
              </a:spcBef>
            </a:pPr>
            <a:r>
              <a:rPr sz="2800" b="1" spc="-5" dirty="0">
                <a:solidFill>
                  <a:srgbClr val="C00000"/>
                </a:solidFill>
                <a:latin typeface="微软雅黑"/>
                <a:cs typeface="微软雅黑"/>
              </a:rPr>
              <a:t>根据学校最新要求，来自乌鲁木齐、大连的学生暂不返校（包括 </a:t>
            </a:r>
            <a:r>
              <a:rPr sz="2800" b="1" dirty="0" err="1">
                <a:solidFill>
                  <a:srgbClr val="C00000"/>
                </a:solidFill>
                <a:latin typeface="微软雅黑"/>
                <a:cs typeface="微软雅黑"/>
              </a:rPr>
              <a:t>经停、</a:t>
            </a:r>
            <a:r>
              <a:rPr sz="2800"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中转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、逗留等情况</a:t>
            </a:r>
            <a:r>
              <a:rPr sz="2800" b="1" dirty="0" smtClean="0">
                <a:solidFill>
                  <a:srgbClr val="C00000"/>
                </a:solidFill>
                <a:latin typeface="微软雅黑"/>
                <a:cs typeface="微软雅黑"/>
              </a:rPr>
              <a:t>）</a:t>
            </a:r>
            <a:r>
              <a:rPr sz="2800" b="1" spc="-5" dirty="0" smtClean="0">
                <a:solidFill>
                  <a:srgbClr val="C00000"/>
                </a:solidFill>
                <a:latin typeface="微软雅黑"/>
                <a:cs typeface="微软雅黑"/>
              </a:rPr>
              <a:t>。</a:t>
            </a:r>
            <a:endParaRPr sz="28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1850" y="1066164"/>
            <a:ext cx="247205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1990" indent="-669290">
              <a:lnSpc>
                <a:spcPct val="100000"/>
              </a:lnSpc>
              <a:spcBef>
                <a:spcPts val="95"/>
              </a:spcBef>
              <a:buSzPct val="75000"/>
              <a:buFont typeface="Arial"/>
              <a:buChar char="➢"/>
              <a:tabLst>
                <a:tab pos="681355" algn="l"/>
                <a:tab pos="681990" algn="l"/>
              </a:tabLst>
            </a:pPr>
            <a:r>
              <a:rPr sz="2800" dirty="0"/>
              <a:t>低风险地</a:t>
            </a:r>
            <a:r>
              <a:rPr sz="2800" spc="-5" dirty="0"/>
              <a:t>区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31850" y="1692782"/>
            <a:ext cx="9906635" cy="417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indent="635000">
              <a:lnSpc>
                <a:spcPct val="150000"/>
              </a:lnSpc>
              <a:spcBef>
                <a:spcPts val="100"/>
              </a:spcBef>
            </a:pP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新疆其他低风险地区</a:t>
            </a:r>
            <a:r>
              <a:rPr sz="2500" b="1" spc="-5" dirty="0">
                <a:latin typeface="楷体"/>
                <a:cs typeface="楷体"/>
              </a:rPr>
              <a:t>的学生，苏康码绿色</a:t>
            </a:r>
            <a:r>
              <a:rPr sz="2500" b="1" spc="-10" dirty="0">
                <a:latin typeface="楷体"/>
                <a:cs typeface="楷体"/>
              </a:rPr>
              <a:t>+7</a:t>
            </a:r>
            <a:r>
              <a:rPr sz="2500" b="1" spc="-5" dirty="0">
                <a:latin typeface="楷体"/>
                <a:cs typeface="楷体"/>
              </a:rPr>
              <a:t>日内有效核酸检测结</a:t>
            </a:r>
            <a:r>
              <a:rPr sz="2500" b="1" spc="-15" dirty="0">
                <a:latin typeface="楷体"/>
                <a:cs typeface="楷体"/>
              </a:rPr>
              <a:t>果 </a:t>
            </a:r>
            <a:r>
              <a:rPr sz="2500" b="1" dirty="0">
                <a:latin typeface="楷体"/>
                <a:cs typeface="楷体"/>
              </a:rPr>
              <a:t>可以申请返校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 dirty="0">
              <a:latin typeface="楷体"/>
              <a:cs typeface="楷体"/>
            </a:endParaRPr>
          </a:p>
          <a:p>
            <a:pPr marL="12700" marR="9525" indent="635000">
              <a:lnSpc>
                <a:spcPct val="150000"/>
              </a:lnSpc>
            </a:pPr>
            <a:r>
              <a:rPr lang="zh-CN" altLang="en-US" sz="2500" b="1" spc="-5" dirty="0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各位同学要</a:t>
            </a:r>
            <a:r>
              <a:rPr sz="2500" b="1" spc="-5" dirty="0" err="1" smtClean="0">
                <a:latin typeface="楷体" panose="02010609060101010101" pitchFamily="49" charset="-122"/>
                <a:ea typeface="楷体" panose="02010609060101010101" pitchFamily="49" charset="-122"/>
                <a:cs typeface="楷体"/>
              </a:rPr>
              <a:t>做好到南京后苏康码变黄的心理准备</a:t>
            </a:r>
            <a:r>
              <a:rPr sz="2500" b="1" spc="-5" dirty="0" err="1">
                <a:latin typeface="楷体"/>
                <a:cs typeface="楷体"/>
              </a:rPr>
              <a:t>。如果苏康码</a:t>
            </a:r>
            <a:r>
              <a:rPr sz="2500" b="1" spc="-15" dirty="0" err="1">
                <a:latin typeface="楷体"/>
                <a:cs typeface="楷体"/>
              </a:rPr>
              <a:t>变</a:t>
            </a:r>
            <a:r>
              <a:rPr sz="2500" b="1" spc="-15" dirty="0">
                <a:latin typeface="楷体"/>
                <a:cs typeface="楷体"/>
              </a:rPr>
              <a:t> </a:t>
            </a:r>
            <a:r>
              <a:rPr sz="2500" b="1" spc="-5" dirty="0">
                <a:latin typeface="楷体"/>
                <a:cs typeface="楷体"/>
              </a:rPr>
              <a:t>黄，政府将统一安排隔离和核酸检测，食宿费用自理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 dirty="0">
              <a:latin typeface="楷体"/>
              <a:cs typeface="楷体"/>
            </a:endParaRPr>
          </a:p>
          <a:p>
            <a:pPr marL="12700" marR="5080" indent="635000">
              <a:lnSpc>
                <a:spcPct val="150000"/>
              </a:lnSpc>
              <a:spcBef>
                <a:spcPts val="1200"/>
              </a:spcBef>
            </a:pP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曾经去过新疆、大连的低风险地区</a:t>
            </a:r>
            <a:r>
              <a:rPr sz="2500" b="1" spc="-5" dirty="0">
                <a:latin typeface="楷体"/>
                <a:cs typeface="楷体"/>
              </a:rPr>
              <a:t>，如果近</a:t>
            </a:r>
            <a:r>
              <a:rPr sz="2500" b="1" spc="-10" dirty="0">
                <a:latin typeface="楷体"/>
                <a:cs typeface="楷体"/>
              </a:rPr>
              <a:t>14</a:t>
            </a:r>
            <a:r>
              <a:rPr sz="2500" b="1" spc="-5" dirty="0">
                <a:latin typeface="楷体"/>
                <a:cs typeface="楷体"/>
              </a:rPr>
              <a:t>日行程轨迹显示到</a:t>
            </a:r>
            <a:r>
              <a:rPr sz="2500" b="1" spc="-15" dirty="0">
                <a:latin typeface="楷体"/>
                <a:cs typeface="楷体"/>
              </a:rPr>
              <a:t>过 </a:t>
            </a:r>
            <a:r>
              <a:rPr sz="2500" b="1" spc="-5" dirty="0">
                <a:latin typeface="楷体"/>
                <a:cs typeface="楷体"/>
              </a:rPr>
              <a:t>新疆、大连，返校也需要满足苏康码绿色</a:t>
            </a:r>
            <a:r>
              <a:rPr sz="2500" b="1" spc="-10" dirty="0">
                <a:latin typeface="楷体"/>
                <a:cs typeface="楷体"/>
              </a:rPr>
              <a:t>+7</a:t>
            </a:r>
            <a:r>
              <a:rPr sz="2500" b="1" spc="-5" dirty="0">
                <a:latin typeface="楷体"/>
                <a:cs typeface="楷体"/>
              </a:rPr>
              <a:t>日内有效核酸检测结果。</a:t>
            </a:r>
            <a:r>
              <a:rPr sz="2500" b="1" spc="-15" dirty="0">
                <a:latin typeface="楷体"/>
                <a:cs typeface="楷体"/>
              </a:rPr>
              <a:t>近</a:t>
            </a:r>
            <a:endParaRPr sz="2500" dirty="0">
              <a:latin typeface="楷体"/>
              <a:cs typeface="楷体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2500" b="1" spc="-5" dirty="0">
                <a:latin typeface="楷体"/>
                <a:cs typeface="楷体"/>
              </a:rPr>
              <a:t>14</a:t>
            </a:r>
            <a:r>
              <a:rPr sz="2500" b="1" dirty="0">
                <a:latin typeface="楷体"/>
                <a:cs typeface="楷体"/>
              </a:rPr>
              <a:t>日行程轨迹没有显示则不需要提供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 dirty="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2339" y="1051560"/>
            <a:ext cx="247205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1990" indent="-669290">
              <a:lnSpc>
                <a:spcPct val="100000"/>
              </a:lnSpc>
              <a:spcBef>
                <a:spcPts val="95"/>
              </a:spcBef>
              <a:buSzPct val="75000"/>
              <a:buFont typeface="Arial"/>
              <a:buChar char="➢"/>
              <a:tabLst>
                <a:tab pos="681355" algn="l"/>
                <a:tab pos="681990" algn="l"/>
              </a:tabLst>
            </a:pPr>
            <a:r>
              <a:rPr sz="2800" dirty="0"/>
              <a:t>低风险地</a:t>
            </a:r>
            <a:r>
              <a:rPr sz="2800" spc="-5" dirty="0"/>
              <a:t>区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42339" y="1838198"/>
            <a:ext cx="10225405" cy="3088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" indent="635000" algn="just">
              <a:lnSpc>
                <a:spcPct val="150000"/>
              </a:lnSpc>
              <a:spcBef>
                <a:spcPts val="100"/>
              </a:spcBef>
            </a:pP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北京地区</a:t>
            </a:r>
            <a:r>
              <a:rPr sz="2500" b="1" spc="-5" dirty="0">
                <a:latin typeface="楷体"/>
                <a:cs typeface="楷体"/>
              </a:rPr>
              <a:t>的同学，苏康码绿色</a:t>
            </a:r>
            <a:r>
              <a:rPr sz="2500" b="1" spc="-10" dirty="0">
                <a:latin typeface="楷体"/>
                <a:cs typeface="楷体"/>
              </a:rPr>
              <a:t>+7</a:t>
            </a:r>
            <a:r>
              <a:rPr sz="2500" b="1" spc="-5" dirty="0">
                <a:latin typeface="楷体"/>
                <a:cs typeface="楷体"/>
              </a:rPr>
              <a:t>日内有效核酸检测结果，可以返校</a:t>
            </a:r>
            <a:r>
              <a:rPr sz="2500" b="1" spc="-15" dirty="0">
                <a:latin typeface="楷体"/>
                <a:cs typeface="楷体"/>
              </a:rPr>
              <a:t>。 </a:t>
            </a:r>
            <a:r>
              <a:rPr sz="2500" b="1" spc="-5" dirty="0">
                <a:latin typeface="楷体"/>
                <a:cs typeface="楷体"/>
              </a:rPr>
              <a:t>离开北京超过</a:t>
            </a:r>
            <a:r>
              <a:rPr sz="2500" b="1" spc="-10" dirty="0">
                <a:latin typeface="楷体"/>
                <a:cs typeface="楷体"/>
              </a:rPr>
              <a:t>14</a:t>
            </a:r>
            <a:r>
              <a:rPr sz="2500" b="1" spc="-5" dirty="0">
                <a:latin typeface="楷体"/>
                <a:cs typeface="楷体"/>
              </a:rPr>
              <a:t>天，不需要提供核酸检测结果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>
              <a:latin typeface="楷体"/>
              <a:cs typeface="楷体"/>
            </a:endParaRPr>
          </a:p>
          <a:p>
            <a:pPr marL="12700" marR="5080" indent="635000" algn="just">
              <a:lnSpc>
                <a:spcPct val="150000"/>
              </a:lnSpc>
              <a:spcBef>
                <a:spcPts val="1614"/>
              </a:spcBef>
            </a:pP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湖北地区</a:t>
            </a:r>
            <a:r>
              <a:rPr sz="2500" b="1" spc="-5" dirty="0">
                <a:latin typeface="楷体"/>
                <a:cs typeface="楷体"/>
              </a:rPr>
              <a:t>的同学，苏康码绿色</a:t>
            </a:r>
            <a:r>
              <a:rPr sz="2500" b="1" spc="-10" dirty="0">
                <a:latin typeface="楷体"/>
                <a:cs typeface="楷体"/>
              </a:rPr>
              <a:t>+7</a:t>
            </a:r>
            <a:r>
              <a:rPr sz="2500" b="1" spc="-5" dirty="0">
                <a:latin typeface="楷体"/>
                <a:cs typeface="楷体"/>
              </a:rPr>
              <a:t>日内有效核酸检测结果，可以返校</a:t>
            </a:r>
            <a:r>
              <a:rPr sz="2500" b="1" spc="-15" dirty="0">
                <a:latin typeface="楷体"/>
                <a:cs typeface="楷体"/>
              </a:rPr>
              <a:t>。 </a:t>
            </a:r>
            <a:r>
              <a:rPr sz="2500" b="1" spc="-5" dirty="0">
                <a:latin typeface="楷体"/>
                <a:cs typeface="楷体"/>
              </a:rPr>
              <a:t>离开湖北超过</a:t>
            </a:r>
            <a:r>
              <a:rPr sz="2500" b="1" spc="-10" dirty="0">
                <a:latin typeface="楷体"/>
                <a:cs typeface="楷体"/>
              </a:rPr>
              <a:t>14</a:t>
            </a:r>
            <a:r>
              <a:rPr sz="2500" b="1" spc="-5" dirty="0">
                <a:latin typeface="楷体"/>
                <a:cs typeface="楷体"/>
              </a:rPr>
              <a:t>天，不需要提供核酸检测结果。也可返校后在校医院进</a:t>
            </a:r>
            <a:r>
              <a:rPr sz="2500" b="1" spc="-15" dirty="0">
                <a:latin typeface="楷体"/>
                <a:cs typeface="楷体"/>
              </a:rPr>
              <a:t>行 </a:t>
            </a:r>
            <a:r>
              <a:rPr sz="2500" b="1" dirty="0">
                <a:latin typeface="楷体"/>
                <a:cs typeface="楷体"/>
              </a:rPr>
              <a:t>核酸检测。武汉地区不需要再加测抗体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7094" y="1424305"/>
            <a:ext cx="3538854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1990" indent="-669290">
              <a:lnSpc>
                <a:spcPct val="100000"/>
              </a:lnSpc>
              <a:spcBef>
                <a:spcPts val="95"/>
              </a:spcBef>
              <a:buSzPct val="75000"/>
              <a:buFont typeface="Arial"/>
              <a:buChar char="➢"/>
              <a:tabLst>
                <a:tab pos="681355" algn="l"/>
                <a:tab pos="681990" algn="l"/>
              </a:tabLst>
            </a:pPr>
            <a:r>
              <a:rPr sz="2800" dirty="0"/>
              <a:t>港澳台及境外学</a:t>
            </a:r>
            <a:r>
              <a:rPr sz="2800" spc="-5" dirty="0"/>
              <a:t>生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87094" y="2119502"/>
            <a:ext cx="10065385" cy="2882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indent="635000">
              <a:lnSpc>
                <a:spcPct val="150000"/>
              </a:lnSpc>
              <a:spcBef>
                <a:spcPts val="100"/>
              </a:spcBef>
            </a:pPr>
            <a:r>
              <a:rPr sz="2500" b="1" spc="-5" dirty="0">
                <a:latin typeface="楷体"/>
                <a:cs typeface="楷体"/>
              </a:rPr>
              <a:t>港澳台及境外学生入境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超过</a:t>
            </a:r>
            <a:r>
              <a:rPr sz="2500" b="1" spc="-10" dirty="0">
                <a:solidFill>
                  <a:srgbClr val="C00000"/>
                </a:solidFill>
                <a:latin typeface="楷体"/>
                <a:cs typeface="楷体"/>
              </a:rPr>
              <a:t>28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天</a:t>
            </a:r>
            <a:r>
              <a:rPr sz="2500" b="1" spc="-5" dirty="0">
                <a:latin typeface="楷体"/>
                <a:cs typeface="楷体"/>
              </a:rPr>
              <a:t>后，持</a:t>
            </a:r>
            <a:r>
              <a:rPr sz="2500" b="1" spc="-10" dirty="0">
                <a:solidFill>
                  <a:srgbClr val="C00000"/>
                </a:solidFill>
                <a:latin typeface="楷体"/>
                <a:cs typeface="楷体"/>
              </a:rPr>
              <a:t>3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次有效核酸检测结果</a:t>
            </a:r>
            <a:r>
              <a:rPr sz="2500" b="1" spc="-5" dirty="0">
                <a:latin typeface="楷体"/>
                <a:cs typeface="楷体"/>
              </a:rPr>
              <a:t>（入</a:t>
            </a:r>
            <a:r>
              <a:rPr sz="2500" b="1" spc="-15" dirty="0">
                <a:latin typeface="楷体"/>
                <a:cs typeface="楷体"/>
              </a:rPr>
              <a:t>境 </a:t>
            </a:r>
            <a:r>
              <a:rPr sz="2500" b="1" spc="-5" dirty="0">
                <a:latin typeface="楷体"/>
                <a:cs typeface="楷体"/>
              </a:rPr>
              <a:t>时的报告、</a:t>
            </a:r>
            <a:r>
              <a:rPr sz="2500" b="1" spc="-10" dirty="0">
                <a:latin typeface="楷体"/>
                <a:cs typeface="楷体"/>
              </a:rPr>
              <a:t>14</a:t>
            </a:r>
            <a:r>
              <a:rPr sz="2500" b="1" spc="-5" dirty="0">
                <a:latin typeface="楷体"/>
                <a:cs typeface="楷体"/>
              </a:rPr>
              <a:t>天隔离期满时的报告、返校前自行检测的报告），可以</a:t>
            </a:r>
            <a:r>
              <a:rPr sz="2500" b="1" spc="-15" dirty="0">
                <a:latin typeface="楷体"/>
                <a:cs typeface="楷体"/>
              </a:rPr>
              <a:t>返 </a:t>
            </a:r>
            <a:r>
              <a:rPr sz="2500" b="1" dirty="0">
                <a:latin typeface="楷体"/>
                <a:cs typeface="楷体"/>
              </a:rPr>
              <a:t>校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>
              <a:latin typeface="楷体"/>
              <a:cs typeface="楷体"/>
            </a:endParaRPr>
          </a:p>
          <a:p>
            <a:pPr marL="12700" marR="5080" indent="635000">
              <a:lnSpc>
                <a:spcPct val="150000"/>
              </a:lnSpc>
            </a:pPr>
            <a:r>
              <a:rPr sz="2500" b="1" spc="-5" dirty="0">
                <a:latin typeface="楷体"/>
                <a:cs typeface="楷体"/>
              </a:rPr>
              <a:t>入境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超过</a:t>
            </a:r>
            <a:r>
              <a:rPr sz="2500" b="1" spc="-10" dirty="0">
                <a:solidFill>
                  <a:srgbClr val="C00000"/>
                </a:solidFill>
                <a:latin typeface="楷体"/>
                <a:cs typeface="楷体"/>
              </a:rPr>
              <a:t>42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天</a:t>
            </a:r>
            <a:r>
              <a:rPr sz="2500" b="1" spc="-5" dirty="0">
                <a:latin typeface="楷体"/>
                <a:cs typeface="楷体"/>
              </a:rPr>
              <a:t>，持</a:t>
            </a:r>
            <a:r>
              <a:rPr sz="2500" b="1" spc="-10" dirty="0">
                <a:solidFill>
                  <a:srgbClr val="C00000"/>
                </a:solidFill>
                <a:latin typeface="楷体"/>
                <a:cs typeface="楷体"/>
              </a:rPr>
              <a:t>2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次有效核酸检测结果</a:t>
            </a:r>
            <a:r>
              <a:rPr sz="2500" b="1" spc="-5" dirty="0">
                <a:latin typeface="楷体"/>
                <a:cs typeface="楷体"/>
              </a:rPr>
              <a:t>（入境时的报告和</a:t>
            </a:r>
            <a:r>
              <a:rPr sz="2500" b="1" spc="-10" dirty="0">
                <a:latin typeface="楷体"/>
                <a:cs typeface="楷体"/>
              </a:rPr>
              <a:t>14</a:t>
            </a:r>
            <a:r>
              <a:rPr sz="2500" b="1" spc="-5" dirty="0">
                <a:latin typeface="楷体"/>
                <a:cs typeface="楷体"/>
              </a:rPr>
              <a:t>天隔</a:t>
            </a:r>
            <a:r>
              <a:rPr sz="2500" b="1" spc="-15" dirty="0">
                <a:latin typeface="楷体"/>
                <a:cs typeface="楷体"/>
              </a:rPr>
              <a:t>离 </a:t>
            </a:r>
            <a:r>
              <a:rPr sz="2500" b="1" dirty="0">
                <a:latin typeface="楷体"/>
                <a:cs typeface="楷体"/>
              </a:rPr>
              <a:t>期满时的报告），可以返校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9160" y="1493519"/>
            <a:ext cx="282765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1990" indent="-669290">
              <a:lnSpc>
                <a:spcPct val="100000"/>
              </a:lnSpc>
              <a:spcBef>
                <a:spcPts val="95"/>
              </a:spcBef>
              <a:buSzPct val="75000"/>
              <a:buFont typeface="Arial"/>
              <a:buChar char="➢"/>
              <a:tabLst>
                <a:tab pos="681355" algn="l"/>
                <a:tab pos="681990" algn="l"/>
              </a:tabLst>
            </a:pPr>
            <a:r>
              <a:rPr sz="2800" dirty="0"/>
              <a:t>时间计算说</a:t>
            </a:r>
            <a:r>
              <a:rPr sz="2800" spc="-5" dirty="0"/>
              <a:t>明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05358" rIns="0" bIns="0" rtlCol="0">
            <a:spAutoFit/>
          </a:bodyPr>
          <a:lstStyle/>
          <a:p>
            <a:pPr marL="99060" marR="9525" indent="635000">
              <a:lnSpc>
                <a:spcPct val="150000"/>
              </a:lnSpc>
              <a:spcBef>
                <a:spcPts val="100"/>
              </a:spcBef>
            </a:pPr>
            <a:r>
              <a:rPr spc="-10" dirty="0"/>
              <a:t>7</a:t>
            </a:r>
            <a:r>
              <a:rPr spc="-5" dirty="0"/>
              <a:t>日内有效核酸检测结果，指自返校之日起前</a:t>
            </a:r>
            <a:r>
              <a:rPr spc="-10" dirty="0"/>
              <a:t>7</a:t>
            </a:r>
            <a:r>
              <a:rPr spc="-5" dirty="0"/>
              <a:t>日内的检测结果。例</a:t>
            </a:r>
            <a:r>
              <a:rPr spc="-15" dirty="0"/>
              <a:t>如 </a:t>
            </a:r>
            <a:r>
              <a:rPr dirty="0"/>
              <a:t>下周二返校，需提供本周三及以后的报告</a:t>
            </a:r>
            <a:r>
              <a:rPr spc="-15" dirty="0"/>
              <a:t>。</a:t>
            </a:r>
          </a:p>
          <a:p>
            <a:pPr marL="99060" marR="5080" indent="635000">
              <a:lnSpc>
                <a:spcPct val="150000"/>
              </a:lnSpc>
              <a:spcBef>
                <a:spcPts val="1614"/>
              </a:spcBef>
            </a:pPr>
            <a:r>
              <a:rPr spc="-5" dirty="0"/>
              <a:t>超过</a:t>
            </a:r>
            <a:r>
              <a:rPr spc="-10" dirty="0"/>
              <a:t>n</a:t>
            </a:r>
            <a:r>
              <a:rPr spc="-5" dirty="0"/>
              <a:t>天，指的是从第</a:t>
            </a:r>
            <a:r>
              <a:rPr spc="-10" dirty="0"/>
              <a:t>n+1</a:t>
            </a:r>
            <a:r>
              <a:rPr spc="-5" dirty="0"/>
              <a:t>天起开始。例如入境超过</a:t>
            </a:r>
            <a:r>
              <a:rPr spc="-10" dirty="0"/>
              <a:t>28</a:t>
            </a:r>
            <a:r>
              <a:rPr spc="-5" dirty="0"/>
              <a:t>天，则第</a:t>
            </a:r>
            <a:r>
              <a:rPr spc="-10" dirty="0"/>
              <a:t>29</a:t>
            </a:r>
            <a:r>
              <a:rPr spc="-5" dirty="0"/>
              <a:t>天</a:t>
            </a:r>
            <a:r>
              <a:rPr spc="-15" dirty="0"/>
              <a:t>可 </a:t>
            </a:r>
            <a:r>
              <a:rPr dirty="0"/>
              <a:t>以返校</a:t>
            </a:r>
            <a:r>
              <a:rPr spc="-15" dirty="0"/>
              <a:t>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5180" y="1029335"/>
            <a:ext cx="272161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5945" indent="-563245">
              <a:lnSpc>
                <a:spcPct val="100000"/>
              </a:lnSpc>
              <a:spcBef>
                <a:spcPts val="95"/>
              </a:spcBef>
              <a:buSzPct val="75000"/>
              <a:buFont typeface="Arial"/>
              <a:buChar char="➢"/>
              <a:tabLst>
                <a:tab pos="575310" algn="l"/>
                <a:tab pos="575945" algn="l"/>
              </a:tabLst>
            </a:pPr>
            <a:r>
              <a:rPr sz="2800" dirty="0"/>
              <a:t>核酸检测说</a:t>
            </a:r>
            <a:r>
              <a:rPr sz="2800" spc="-5" dirty="0"/>
              <a:t>明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05180" y="1800732"/>
            <a:ext cx="10540365" cy="3759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00">
              <a:lnSpc>
                <a:spcPct val="150000"/>
              </a:lnSpc>
              <a:spcBef>
                <a:spcPts val="100"/>
              </a:spcBef>
            </a:pPr>
            <a:r>
              <a:rPr sz="2500" b="1" spc="-5" dirty="0">
                <a:latin typeface="楷体"/>
                <a:cs typeface="楷体"/>
              </a:rPr>
              <a:t>进行过核酸检测，但没有纸质报告，可以在网上查询，凡是能查到结</a:t>
            </a:r>
            <a:r>
              <a:rPr sz="2500" b="1" spc="-15" dirty="0">
                <a:latin typeface="楷体"/>
                <a:cs typeface="楷体"/>
              </a:rPr>
              <a:t>果 </a:t>
            </a:r>
            <a:r>
              <a:rPr sz="2500" b="1" dirty="0">
                <a:latin typeface="楷体"/>
                <a:cs typeface="楷体"/>
              </a:rPr>
              <a:t>的都认可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>
              <a:latin typeface="楷体"/>
              <a:cs typeface="楷体"/>
            </a:endParaRPr>
          </a:p>
          <a:p>
            <a:pPr marL="12700" marR="5080" indent="635000">
              <a:lnSpc>
                <a:spcPct val="150000"/>
              </a:lnSpc>
              <a:spcBef>
                <a:spcPts val="1200"/>
              </a:spcBef>
            </a:pPr>
            <a:r>
              <a:rPr sz="2500" b="1" spc="-5" dirty="0">
                <a:latin typeface="楷体"/>
                <a:cs typeface="楷体"/>
              </a:rPr>
              <a:t>返校系统无法精准查验中高风险地区，苏康码也不是万能的，请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院系</a:t>
            </a:r>
            <a:r>
              <a:rPr sz="2500" b="1" spc="-15" dirty="0">
                <a:solidFill>
                  <a:srgbClr val="C00000"/>
                </a:solidFill>
                <a:latin typeface="楷体"/>
                <a:cs typeface="楷体"/>
              </a:rPr>
              <a:t>严 </a:t>
            </a:r>
            <a:r>
              <a:rPr sz="2500" b="1" dirty="0">
                <a:solidFill>
                  <a:srgbClr val="C00000"/>
                </a:solidFill>
                <a:latin typeface="楷体"/>
                <a:cs typeface="楷体"/>
              </a:rPr>
              <a:t>格把关</a:t>
            </a:r>
            <a:r>
              <a:rPr sz="2500" b="1" dirty="0">
                <a:latin typeface="楷体"/>
                <a:cs typeface="楷体"/>
              </a:rPr>
              <a:t>，并审核相关学生的核酸检测报告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>
              <a:latin typeface="楷体"/>
              <a:cs typeface="楷体"/>
            </a:endParaRPr>
          </a:p>
          <a:p>
            <a:pPr marL="12700" marR="5080" indent="635000">
              <a:lnSpc>
                <a:spcPct val="150000"/>
              </a:lnSpc>
              <a:spcBef>
                <a:spcPts val="1200"/>
              </a:spcBef>
            </a:pPr>
            <a:r>
              <a:rPr sz="2500" b="1" spc="-5" dirty="0">
                <a:latin typeface="楷体"/>
                <a:cs typeface="楷体"/>
              </a:rPr>
              <a:t>费用：自原疫情重点地区或中高风险地区回来的学生进行检测的费用</a:t>
            </a:r>
            <a:r>
              <a:rPr sz="2500" b="1" spc="-15" dirty="0">
                <a:latin typeface="楷体"/>
                <a:cs typeface="楷体"/>
              </a:rPr>
              <a:t>，  </a:t>
            </a:r>
            <a:r>
              <a:rPr sz="2500" b="1" spc="-5" dirty="0">
                <a:latin typeface="楷体"/>
                <a:cs typeface="楷体"/>
              </a:rPr>
              <a:t>无需学生本人负担。但需要提醒学生，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隔离期间的食宿费用自理</a:t>
            </a:r>
            <a:r>
              <a:rPr sz="2500" b="1" spc="-15" dirty="0">
                <a:latin typeface="楷体"/>
                <a:cs typeface="楷体"/>
              </a:rPr>
              <a:t>。</a:t>
            </a:r>
            <a:endParaRPr sz="25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3464" y="512444"/>
            <a:ext cx="47491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SzPct val="75000"/>
              <a:buFont typeface="Arial"/>
              <a:buChar char="➢"/>
              <a:tabLst>
                <a:tab pos="469265" algn="l"/>
                <a:tab pos="469900" algn="l"/>
              </a:tabLst>
            </a:pPr>
            <a:r>
              <a:rPr sz="2800" dirty="0"/>
              <a:t>校医院关于核酸检测的通</a:t>
            </a:r>
            <a:r>
              <a:rPr sz="2800" spc="-5" dirty="0"/>
              <a:t>知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075055" y="1302385"/>
            <a:ext cx="342265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5" dirty="0">
                <a:latin typeface="楷体"/>
                <a:cs typeface="楷体"/>
              </a:rPr>
              <a:t>原</a:t>
            </a:r>
            <a:endParaRPr sz="2500" dirty="0">
              <a:latin typeface="楷体"/>
              <a:cs typeface="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3904" y="1302385"/>
            <a:ext cx="7673975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楷体"/>
                <a:cs typeface="楷体"/>
              </a:rPr>
              <a:t>则：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重点人员应检尽检；其他人员自愿自费，愿检尽</a:t>
            </a:r>
            <a:r>
              <a:rPr sz="2500" b="1" spc="-15" dirty="0">
                <a:solidFill>
                  <a:srgbClr val="C00000"/>
                </a:solidFill>
                <a:latin typeface="楷体"/>
                <a:cs typeface="楷体"/>
              </a:rPr>
              <a:t>检</a:t>
            </a:r>
            <a:endParaRPr sz="2500" dirty="0">
              <a:latin typeface="楷体"/>
              <a:cs typeface="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5055" y="1931035"/>
            <a:ext cx="342265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5" dirty="0">
                <a:latin typeface="楷体"/>
                <a:cs typeface="楷体"/>
              </a:rPr>
              <a:t>时</a:t>
            </a:r>
            <a:endParaRPr sz="2500">
              <a:latin typeface="楷体"/>
              <a:cs typeface="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3904" y="1931035"/>
            <a:ext cx="5131435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楷体"/>
                <a:cs typeface="楷体"/>
              </a:rPr>
              <a:t>间</a:t>
            </a:r>
            <a:r>
              <a:rPr sz="2500" b="1" spc="-10" dirty="0">
                <a:latin typeface="楷体"/>
                <a:cs typeface="楷体"/>
              </a:rPr>
              <a:t>：8</a:t>
            </a:r>
            <a:r>
              <a:rPr sz="2500" b="1" spc="-5" dirty="0">
                <a:latin typeface="楷体"/>
                <a:cs typeface="楷体"/>
              </a:rPr>
              <a:t>月</a:t>
            </a:r>
            <a:r>
              <a:rPr sz="2500" b="1" spc="-10" dirty="0">
                <a:latin typeface="楷体"/>
                <a:cs typeface="楷体"/>
              </a:rPr>
              <a:t>12-15</a:t>
            </a:r>
            <a:r>
              <a:rPr sz="2500" b="1" spc="-5" dirty="0">
                <a:latin typeface="楷体"/>
                <a:cs typeface="楷体"/>
              </a:rPr>
              <a:t>日、</a:t>
            </a:r>
            <a:r>
              <a:rPr sz="2500" b="1" spc="-10" dirty="0">
                <a:latin typeface="楷体"/>
                <a:cs typeface="楷体"/>
              </a:rPr>
              <a:t>8</a:t>
            </a:r>
            <a:r>
              <a:rPr sz="2500" b="1" spc="-5" dirty="0">
                <a:latin typeface="楷体"/>
                <a:cs typeface="楷体"/>
              </a:rPr>
              <a:t>月</a:t>
            </a:r>
            <a:r>
              <a:rPr sz="2500" b="1" spc="-10" dirty="0">
                <a:latin typeface="楷体"/>
                <a:cs typeface="楷体"/>
              </a:rPr>
              <a:t>19</a:t>
            </a:r>
            <a:r>
              <a:rPr sz="2500" b="1" spc="-5" dirty="0">
                <a:latin typeface="楷体"/>
                <a:cs typeface="楷体"/>
              </a:rPr>
              <a:t>日、</a:t>
            </a:r>
            <a:r>
              <a:rPr sz="2500" b="1" spc="-10" dirty="0">
                <a:latin typeface="楷体"/>
                <a:cs typeface="楷体"/>
              </a:rPr>
              <a:t>8</a:t>
            </a:r>
            <a:r>
              <a:rPr sz="2500" b="1" spc="-5" dirty="0">
                <a:latin typeface="楷体"/>
                <a:cs typeface="楷体"/>
              </a:rPr>
              <a:t>月</a:t>
            </a:r>
            <a:r>
              <a:rPr sz="2500" b="1" spc="-10" dirty="0">
                <a:latin typeface="楷体"/>
                <a:cs typeface="楷体"/>
              </a:rPr>
              <a:t>20</a:t>
            </a:r>
            <a:r>
              <a:rPr sz="2500" b="1" spc="-15" dirty="0">
                <a:latin typeface="楷体"/>
                <a:cs typeface="楷体"/>
              </a:rPr>
              <a:t>日</a:t>
            </a:r>
            <a:endParaRPr sz="2500">
              <a:latin typeface="楷体"/>
              <a:cs typeface="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5254" y="2559685"/>
            <a:ext cx="3217545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0" dirty="0">
                <a:latin typeface="楷体"/>
                <a:cs typeface="楷体"/>
              </a:rPr>
              <a:t>9</a:t>
            </a:r>
            <a:r>
              <a:rPr sz="2500" b="1" spc="-5" dirty="0">
                <a:latin typeface="楷体"/>
                <a:cs typeface="楷体"/>
              </a:rPr>
              <a:t>月</a:t>
            </a:r>
            <a:r>
              <a:rPr sz="2500" b="1" spc="-10" dirty="0">
                <a:latin typeface="楷体"/>
                <a:cs typeface="楷体"/>
              </a:rPr>
              <a:t>1-8</a:t>
            </a:r>
            <a:r>
              <a:rPr sz="2500" b="1" spc="-5" dirty="0">
                <a:latin typeface="楷体"/>
                <a:cs typeface="楷体"/>
              </a:rPr>
              <a:t>日</a:t>
            </a:r>
            <a:r>
              <a:rPr sz="2500" b="1" spc="-10" dirty="0">
                <a:latin typeface="楷体"/>
                <a:cs typeface="楷体"/>
              </a:rPr>
              <a:t>，9</a:t>
            </a:r>
            <a:r>
              <a:rPr sz="2500" b="1" spc="-5" dirty="0">
                <a:latin typeface="楷体"/>
                <a:cs typeface="楷体"/>
              </a:rPr>
              <a:t>月</a:t>
            </a:r>
            <a:r>
              <a:rPr sz="2500" b="1" spc="-10" dirty="0">
                <a:latin typeface="楷体"/>
                <a:cs typeface="楷体"/>
              </a:rPr>
              <a:t>10-13</a:t>
            </a:r>
            <a:r>
              <a:rPr sz="2500" b="1" spc="-15" dirty="0">
                <a:latin typeface="楷体"/>
                <a:cs typeface="楷体"/>
              </a:rPr>
              <a:t>日</a:t>
            </a:r>
            <a:endParaRPr sz="2500" dirty="0">
              <a:latin typeface="楷体"/>
              <a:cs typeface="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5055" y="3188335"/>
            <a:ext cx="342265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5" dirty="0">
                <a:latin typeface="楷体"/>
                <a:cs typeface="楷体"/>
              </a:rPr>
              <a:t>地</a:t>
            </a:r>
            <a:endParaRPr sz="2500">
              <a:latin typeface="楷体"/>
              <a:cs typeface="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33904" y="3188335"/>
            <a:ext cx="7676515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楷体"/>
                <a:cs typeface="楷体"/>
              </a:rPr>
              <a:t>点：校医院（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请注意预约界面选</a:t>
            </a:r>
            <a:r>
              <a:rPr sz="2500" b="1" spc="-15" dirty="0">
                <a:solidFill>
                  <a:srgbClr val="C00000"/>
                </a:solidFill>
                <a:latin typeface="楷体"/>
                <a:cs typeface="楷体"/>
              </a:rPr>
              <a:t>择</a:t>
            </a:r>
            <a:r>
              <a:rPr sz="2500" b="1" spc="10" dirty="0">
                <a:solidFill>
                  <a:srgbClr val="C00000"/>
                </a:solidFill>
                <a:latin typeface="楷体"/>
                <a:cs typeface="楷体"/>
              </a:rPr>
              <a:t> 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鼓楼</a:t>
            </a:r>
            <a:r>
              <a:rPr sz="2500" b="1" spc="-15" dirty="0">
                <a:solidFill>
                  <a:srgbClr val="C00000"/>
                </a:solidFill>
                <a:latin typeface="楷体"/>
                <a:cs typeface="楷体"/>
              </a:rPr>
              <a:t>/</a:t>
            </a:r>
            <a:r>
              <a:rPr sz="2500" b="1" spc="5" dirty="0">
                <a:solidFill>
                  <a:srgbClr val="C00000"/>
                </a:solidFill>
                <a:latin typeface="楷体"/>
                <a:cs typeface="楷体"/>
              </a:rPr>
              <a:t> 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仙</a:t>
            </a:r>
            <a:r>
              <a:rPr sz="2500" b="1" spc="-15" dirty="0">
                <a:solidFill>
                  <a:srgbClr val="C00000"/>
                </a:solidFill>
                <a:latin typeface="楷体"/>
                <a:cs typeface="楷体"/>
              </a:rPr>
              <a:t>林</a:t>
            </a:r>
            <a:r>
              <a:rPr sz="2500" b="1" spc="10" dirty="0">
                <a:solidFill>
                  <a:srgbClr val="C00000"/>
                </a:solidFill>
                <a:latin typeface="楷体"/>
                <a:cs typeface="楷体"/>
              </a:rPr>
              <a:t> </a:t>
            </a:r>
            <a:r>
              <a:rPr sz="2500" b="1" spc="-5" dirty="0">
                <a:solidFill>
                  <a:srgbClr val="C00000"/>
                </a:solidFill>
                <a:latin typeface="楷体"/>
                <a:cs typeface="楷体"/>
              </a:rPr>
              <a:t>校区</a:t>
            </a:r>
            <a:r>
              <a:rPr sz="2500" b="1" spc="-15" dirty="0">
                <a:latin typeface="楷体"/>
                <a:cs typeface="楷体"/>
              </a:rPr>
              <a:t>）</a:t>
            </a:r>
            <a:endParaRPr sz="2500">
              <a:latin typeface="楷体"/>
              <a:cs typeface="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5055" y="3816984"/>
            <a:ext cx="7058659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楷体"/>
                <a:cs typeface="楷体"/>
              </a:rPr>
              <a:t>网上预约</a:t>
            </a:r>
            <a:r>
              <a:rPr sz="2500" b="1" spc="-10" dirty="0">
                <a:latin typeface="楷体"/>
                <a:cs typeface="楷体"/>
              </a:rPr>
              <a:t>：</a:t>
            </a:r>
            <a:r>
              <a:rPr sz="2500" b="1" spc="-10" dirty="0">
                <a:latin typeface="楷体"/>
                <a:cs typeface="楷体"/>
                <a:hlinkClick r:id="rId2"/>
              </a:rPr>
              <a:t>http://114.212.194.65/TestSelfHelp</a:t>
            </a:r>
            <a:endParaRPr sz="2500">
              <a:latin typeface="楷体"/>
              <a:cs typeface="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5055" y="4445634"/>
            <a:ext cx="342265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5" dirty="0">
                <a:latin typeface="楷体"/>
                <a:cs typeface="楷体"/>
              </a:rPr>
              <a:t>路</a:t>
            </a:r>
            <a:endParaRPr sz="2500">
              <a:latin typeface="楷体"/>
              <a:cs typeface="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33904" y="4445634"/>
            <a:ext cx="7673975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楷体"/>
                <a:cs typeface="楷体"/>
              </a:rPr>
              <a:t>径：核酸自助→核酸检测→确认订单→支付→预约检</a:t>
            </a:r>
            <a:r>
              <a:rPr sz="2500" b="1" spc="-15" dirty="0">
                <a:latin typeface="楷体"/>
                <a:cs typeface="楷体"/>
              </a:rPr>
              <a:t>测</a:t>
            </a:r>
            <a:endParaRPr sz="2500">
              <a:latin typeface="楷体"/>
              <a:cs typeface="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5055" y="4724400"/>
            <a:ext cx="9912985" cy="1797050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2500" b="1" dirty="0">
                <a:latin typeface="楷体"/>
                <a:cs typeface="楷体"/>
              </a:rPr>
              <a:t>注意事项：</a:t>
            </a:r>
            <a:r>
              <a:rPr sz="2500" b="1" spc="-5" dirty="0">
                <a:latin typeface="楷体"/>
                <a:cs typeface="楷体"/>
              </a:rPr>
              <a:t>1.</a:t>
            </a:r>
            <a:r>
              <a:rPr sz="2500" b="1" dirty="0">
                <a:latin typeface="楷体"/>
                <a:cs typeface="楷体"/>
              </a:rPr>
              <a:t>需</a:t>
            </a:r>
            <a:r>
              <a:rPr sz="2500" b="1" dirty="0">
                <a:solidFill>
                  <a:srgbClr val="C00000"/>
                </a:solidFill>
                <a:latin typeface="楷体"/>
                <a:cs typeface="楷体"/>
              </a:rPr>
              <a:t>携带身份证和校园</a:t>
            </a:r>
            <a:r>
              <a:rPr sz="2500" b="1" spc="-15" dirty="0">
                <a:solidFill>
                  <a:srgbClr val="C00000"/>
                </a:solidFill>
                <a:latin typeface="楷体"/>
                <a:cs typeface="楷体"/>
              </a:rPr>
              <a:t>卡</a:t>
            </a:r>
            <a:endParaRPr sz="2500" dirty="0">
              <a:latin typeface="楷体"/>
              <a:cs typeface="楷体"/>
            </a:endParaRPr>
          </a:p>
          <a:p>
            <a:pPr marL="1612265">
              <a:lnSpc>
                <a:spcPct val="100000"/>
              </a:lnSpc>
              <a:spcBef>
                <a:spcPts val="1645"/>
              </a:spcBef>
            </a:pPr>
            <a:r>
              <a:rPr sz="2500" b="1" spc="-10" dirty="0">
                <a:latin typeface="楷体"/>
                <a:cs typeface="楷体"/>
              </a:rPr>
              <a:t>2.</a:t>
            </a:r>
            <a:r>
              <a:rPr sz="2500" b="1" spc="-5" dirty="0">
                <a:latin typeface="楷体"/>
                <a:cs typeface="楷体"/>
              </a:rPr>
              <a:t>学校将承担部分费用，给予师生开学季核酸检测团体优</a:t>
            </a:r>
            <a:r>
              <a:rPr sz="2500" b="1" spc="-15" dirty="0">
                <a:latin typeface="楷体"/>
                <a:cs typeface="楷体"/>
              </a:rPr>
              <a:t>惠</a:t>
            </a:r>
            <a:endParaRPr sz="2500" dirty="0">
              <a:latin typeface="楷体"/>
              <a:cs typeface="楷体"/>
            </a:endParaRPr>
          </a:p>
          <a:p>
            <a:pPr marL="1612265">
              <a:lnSpc>
                <a:spcPct val="100000"/>
              </a:lnSpc>
              <a:spcBef>
                <a:spcPts val="1645"/>
              </a:spcBef>
            </a:pPr>
            <a:r>
              <a:rPr sz="2500" b="1" spc="-10" dirty="0">
                <a:latin typeface="楷体"/>
                <a:cs typeface="楷体"/>
              </a:rPr>
              <a:t>3.</a:t>
            </a:r>
            <a:r>
              <a:rPr sz="2500" b="1" spc="-5" dirty="0">
                <a:latin typeface="楷体"/>
                <a:cs typeface="楷体"/>
              </a:rPr>
              <a:t>对家庭经济困难学生，补贴全部检测费</a:t>
            </a:r>
            <a:r>
              <a:rPr sz="2500" b="1" spc="-15" dirty="0">
                <a:latin typeface="楷体"/>
                <a:cs typeface="楷体"/>
              </a:rPr>
              <a:t>用</a:t>
            </a:r>
            <a:endParaRPr sz="2500" dirty="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958850"/>
          </a:xfrm>
          <a:custGeom>
            <a:avLst/>
            <a:gdLst/>
            <a:ahLst/>
            <a:cxnLst/>
            <a:rect l="l" t="t" r="r" b="b"/>
            <a:pathLst>
              <a:path w="12192000" h="958850">
                <a:moveTo>
                  <a:pt x="0" y="958596"/>
                </a:moveTo>
                <a:lnTo>
                  <a:pt x="12192000" y="958596"/>
                </a:lnTo>
                <a:lnTo>
                  <a:pt x="12192000" y="0"/>
                </a:lnTo>
                <a:lnTo>
                  <a:pt x="0" y="0"/>
                </a:lnTo>
                <a:lnTo>
                  <a:pt x="0" y="95859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899403"/>
            <a:ext cx="12192000" cy="958850"/>
          </a:xfrm>
          <a:custGeom>
            <a:avLst/>
            <a:gdLst/>
            <a:ahLst/>
            <a:cxnLst/>
            <a:rect l="l" t="t" r="r" b="b"/>
            <a:pathLst>
              <a:path w="12192000" h="958850">
                <a:moveTo>
                  <a:pt x="0" y="958595"/>
                </a:moveTo>
                <a:lnTo>
                  <a:pt x="12192000" y="958595"/>
                </a:lnTo>
                <a:lnTo>
                  <a:pt x="12192000" y="0"/>
                </a:lnTo>
                <a:lnTo>
                  <a:pt x="0" y="0"/>
                </a:lnTo>
                <a:lnTo>
                  <a:pt x="0" y="95859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958596"/>
            <a:ext cx="12192000" cy="4940935"/>
          </a:xfrm>
          <a:custGeom>
            <a:avLst/>
            <a:gdLst/>
            <a:ahLst/>
            <a:cxnLst/>
            <a:rect l="l" t="t" r="r" b="b"/>
            <a:pathLst>
              <a:path w="12192000" h="4940935">
                <a:moveTo>
                  <a:pt x="0" y="0"/>
                </a:moveTo>
                <a:lnTo>
                  <a:pt x="12192000" y="0"/>
                </a:lnTo>
                <a:lnTo>
                  <a:pt x="12192000" y="4940808"/>
                </a:lnTo>
                <a:lnTo>
                  <a:pt x="0" y="49408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82637" y="5463476"/>
            <a:ext cx="1085215" cy="1385570"/>
          </a:xfrm>
          <a:custGeom>
            <a:avLst/>
            <a:gdLst/>
            <a:ahLst/>
            <a:cxnLst/>
            <a:rect l="l" t="t" r="r" b="b"/>
            <a:pathLst>
              <a:path w="1085214" h="1385570">
                <a:moveTo>
                  <a:pt x="1085100" y="1385519"/>
                </a:moveTo>
                <a:lnTo>
                  <a:pt x="360121" y="1385519"/>
                </a:lnTo>
                <a:lnTo>
                  <a:pt x="0" y="688238"/>
                </a:lnTo>
                <a:lnTo>
                  <a:pt x="360121" y="0"/>
                </a:lnTo>
                <a:lnTo>
                  <a:pt x="1085100" y="1385519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462271"/>
            <a:ext cx="1233170" cy="2386965"/>
          </a:xfrm>
          <a:custGeom>
            <a:avLst/>
            <a:gdLst/>
            <a:ahLst/>
            <a:cxnLst/>
            <a:rect l="l" t="t" r="r" b="b"/>
            <a:pathLst>
              <a:path w="1233170" h="2386965">
                <a:moveTo>
                  <a:pt x="1232916" y="2386583"/>
                </a:moveTo>
                <a:lnTo>
                  <a:pt x="0" y="2386583"/>
                </a:lnTo>
                <a:lnTo>
                  <a:pt x="0" y="0"/>
                </a:lnTo>
                <a:lnTo>
                  <a:pt x="1232916" y="2386583"/>
                </a:lnTo>
                <a:close/>
              </a:path>
            </a:pathLst>
          </a:custGeom>
          <a:solidFill>
            <a:srgbClr val="5D5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5027" y="5463540"/>
            <a:ext cx="647700" cy="600710"/>
          </a:xfrm>
          <a:custGeom>
            <a:avLst/>
            <a:gdLst/>
            <a:ahLst/>
            <a:cxnLst/>
            <a:rect l="l" t="t" r="r" b="b"/>
            <a:pathLst>
              <a:path w="647700" h="600710">
                <a:moveTo>
                  <a:pt x="324612" y="600456"/>
                </a:moveTo>
                <a:lnTo>
                  <a:pt x="0" y="0"/>
                </a:lnTo>
                <a:lnTo>
                  <a:pt x="647700" y="0"/>
                </a:lnTo>
                <a:lnTo>
                  <a:pt x="324612" y="600456"/>
                </a:lnTo>
                <a:close/>
              </a:path>
            </a:pathLst>
          </a:custGeom>
          <a:solidFill>
            <a:srgbClr val="4A57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121862" y="0"/>
            <a:ext cx="1085215" cy="1385570"/>
          </a:xfrm>
          <a:custGeom>
            <a:avLst/>
            <a:gdLst/>
            <a:ahLst/>
            <a:cxnLst/>
            <a:rect l="l" t="t" r="r" b="b"/>
            <a:pathLst>
              <a:path w="1085215" h="1385570">
                <a:moveTo>
                  <a:pt x="724979" y="1385531"/>
                </a:moveTo>
                <a:lnTo>
                  <a:pt x="0" y="0"/>
                </a:lnTo>
                <a:lnTo>
                  <a:pt x="724979" y="0"/>
                </a:lnTo>
                <a:lnTo>
                  <a:pt x="1085100" y="697280"/>
                </a:lnTo>
                <a:lnTo>
                  <a:pt x="724979" y="1385531"/>
                </a:lnTo>
                <a:close/>
              </a:path>
            </a:pathLst>
          </a:custGeom>
          <a:solidFill>
            <a:srgbClr val="815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957559" y="0"/>
            <a:ext cx="1231900" cy="2386965"/>
          </a:xfrm>
          <a:custGeom>
            <a:avLst/>
            <a:gdLst/>
            <a:ahLst/>
            <a:cxnLst/>
            <a:rect l="l" t="t" r="r" b="b"/>
            <a:pathLst>
              <a:path w="1231900" h="2386965">
                <a:moveTo>
                  <a:pt x="1231392" y="2386584"/>
                </a:moveTo>
                <a:lnTo>
                  <a:pt x="0" y="0"/>
                </a:lnTo>
                <a:lnTo>
                  <a:pt x="1231392" y="0"/>
                </a:lnTo>
                <a:lnTo>
                  <a:pt x="1231392" y="2386584"/>
                </a:lnTo>
                <a:close/>
              </a:path>
            </a:pathLst>
          </a:custGeom>
          <a:solidFill>
            <a:srgbClr val="5D5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936223" y="784859"/>
            <a:ext cx="647700" cy="600710"/>
          </a:xfrm>
          <a:custGeom>
            <a:avLst/>
            <a:gdLst/>
            <a:ahLst/>
            <a:cxnLst/>
            <a:rect l="l" t="t" r="r" b="b"/>
            <a:pathLst>
              <a:path w="647700" h="600710">
                <a:moveTo>
                  <a:pt x="647700" y="600455"/>
                </a:moveTo>
                <a:lnTo>
                  <a:pt x="0" y="600455"/>
                </a:lnTo>
                <a:lnTo>
                  <a:pt x="324611" y="0"/>
                </a:lnTo>
                <a:lnTo>
                  <a:pt x="647700" y="600455"/>
                </a:lnTo>
                <a:close/>
              </a:path>
            </a:pathLst>
          </a:custGeom>
          <a:solidFill>
            <a:srgbClr val="4A57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75503" y="2980944"/>
            <a:ext cx="2536190" cy="368935"/>
          </a:xfrm>
          <a:custGeom>
            <a:avLst/>
            <a:gdLst/>
            <a:ahLst/>
            <a:cxnLst/>
            <a:rect l="l" t="t" r="r" b="b"/>
            <a:pathLst>
              <a:path w="2536190" h="368935">
                <a:moveTo>
                  <a:pt x="0" y="0"/>
                </a:moveTo>
                <a:lnTo>
                  <a:pt x="2535936" y="0"/>
                </a:lnTo>
                <a:lnTo>
                  <a:pt x="2535936" y="368807"/>
                </a:lnTo>
                <a:lnTo>
                  <a:pt x="0" y="3688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3362" y="263512"/>
            <a:ext cx="2790748" cy="9663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 txBox="1"/>
          <p:nvPr/>
        </p:nvSpPr>
        <p:spPr>
          <a:xfrm>
            <a:off x="1569085" y="2876094"/>
            <a:ext cx="905382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60"/>
              </a:spcBef>
            </a:pPr>
            <a:r>
              <a:rPr lang="zh-CN" altLang="en-US" sz="3600" b="1" spc="145" dirty="0" smtClean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仿宋"/>
              </a:rPr>
              <a:t>祝各位</a:t>
            </a:r>
            <a:r>
              <a:rPr lang="zh-CN" altLang="en-US" sz="3600" b="1" spc="145" dirty="0" smtClean="0">
                <a:solidFill>
                  <a:srgbClr val="431A5D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华文中宋"/>
              </a:rPr>
              <a:t>新生同学一切顺利，南大见！</a:t>
            </a:r>
            <a:endParaRPr sz="3600" dirty="0">
              <a:latin typeface="方正小标宋简体" panose="02000000000000000000" pitchFamily="2" charset="-122"/>
              <a:ea typeface="方正小标宋简体" panose="02000000000000000000" pitchFamily="2" charset="-122"/>
              <a:cs typeface="华文中宋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1025</Words>
  <Application>Microsoft Office PowerPoint</Application>
  <PresentationFormat>宽屏</PresentationFormat>
  <Paragraphs>112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等线</vt:lpstr>
      <vt:lpstr>方正小标宋简体</vt:lpstr>
      <vt:lpstr>仿宋</vt:lpstr>
      <vt:lpstr>华文中宋</vt:lpstr>
      <vt:lpstr>楷体</vt:lpstr>
      <vt:lpstr>宋体</vt:lpstr>
      <vt:lpstr>微软雅黑</vt:lpstr>
      <vt:lpstr>Arial</vt:lpstr>
      <vt:lpstr>Calibri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1.2.2 入校前疫情防控</vt:lpstr>
      <vt:lpstr>PowerPoint 演示文稿</vt:lpstr>
      <vt:lpstr>PowerPoint 演示文稿</vt:lpstr>
      <vt:lpstr>PowerPoint 演示文稿</vt:lpstr>
      <vt:lpstr>新生开学典礼</vt:lpstr>
      <vt:lpstr>PowerPoint 演示文稿</vt:lpstr>
      <vt:lpstr>PowerPoint 演示文稿</vt:lpstr>
      <vt:lpstr>请销假制度</vt:lpstr>
      <vt:lpstr>最新风险等级提醒（8月10日晚）</vt:lpstr>
      <vt:lpstr>中高风险地区</vt:lpstr>
      <vt:lpstr>低风险地区</vt:lpstr>
      <vt:lpstr>低风险地区</vt:lpstr>
      <vt:lpstr>港澳台及境外学生</vt:lpstr>
      <vt:lpstr>时间计算说明</vt:lpstr>
      <vt:lpstr>核酸检测说明</vt:lpstr>
      <vt:lpstr>校医院关于核酸检测的通知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刘 千里</cp:lastModifiedBy>
  <cp:revision>11</cp:revision>
  <dcterms:created xsi:type="dcterms:W3CDTF">2020-08-14T17:11:00Z</dcterms:created>
  <dcterms:modified xsi:type="dcterms:W3CDTF">2020-08-14T10:38:23Z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2020-08-13T00:00:00Z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2020-08-14T00:00:00Z</vt:filetime>
  </property>
</Properties>
</file>