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9" r:id="rId3"/>
    <p:sldId id="284" r:id="rId4"/>
    <p:sldId id="263" r:id="rId5"/>
    <p:sldId id="290" r:id="rId6"/>
    <p:sldId id="265" r:id="rId7"/>
    <p:sldId id="316" r:id="rId8"/>
    <p:sldId id="291" r:id="rId9"/>
    <p:sldId id="317" r:id="rId10"/>
    <p:sldId id="318" r:id="rId11"/>
    <p:sldId id="319" r:id="rId12"/>
    <p:sldId id="320" r:id="rId13"/>
    <p:sldId id="321" r:id="rId14"/>
    <p:sldId id="288" r:id="rId15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4367"/>
    <a:srgbClr val="1D4865"/>
    <a:srgbClr val="1D4971"/>
    <a:srgbClr val="51B3CD"/>
    <a:srgbClr val="83C2DB"/>
    <a:srgbClr val="2980B4"/>
    <a:srgbClr val="4287C6"/>
    <a:srgbClr val="2780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3755" autoAdjust="0"/>
  </p:normalViewPr>
  <p:slideViewPr>
    <p:cSldViewPr snapToGrid="0">
      <p:cViewPr varScale="1">
        <p:scale>
          <a:sx n="75" d="100"/>
          <a:sy n="75" d="100"/>
        </p:scale>
        <p:origin x="1004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2020/7/26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7190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2020/7/26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6497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90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286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0507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34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9914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7870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0338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4393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0617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5190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1097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22328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55362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379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2020/7/26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2020/7/26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2020/7/26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0" y="1333829"/>
            <a:ext cx="3655181" cy="617934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  <a:lvl6pPr marL="1714500" indent="0">
              <a:buNone/>
              <a:defRPr sz="1400"/>
            </a:lvl6pPr>
            <a:lvl7pPr marL="2057400" indent="0">
              <a:buNone/>
              <a:defRPr sz="1400"/>
            </a:lvl7pPr>
            <a:lvl8pPr marL="2400300" indent="0">
              <a:buNone/>
              <a:defRPr sz="1400"/>
            </a:lvl8pPr>
            <a:lvl9pPr marL="27432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0" y="1999034"/>
            <a:ext cx="3655181" cy="2643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333829"/>
            <a:ext cx="3673182" cy="617934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  <a:lvl6pPr marL="1714500" indent="0">
              <a:buNone/>
              <a:defRPr sz="1400"/>
            </a:lvl6pPr>
            <a:lvl7pPr marL="2057400" indent="0">
              <a:buNone/>
              <a:defRPr sz="1400"/>
            </a:lvl7pPr>
            <a:lvl8pPr marL="2400300" indent="0">
              <a:buNone/>
              <a:defRPr sz="1400"/>
            </a:lvl8pPr>
            <a:lvl9pPr marL="27432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1999034"/>
            <a:ext cx="3673182" cy="2643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2020/7/26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2020/7/26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2020/7/26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3124012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342900"/>
            <a:ext cx="4629150" cy="4052888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3124012" cy="2858691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400"/>
            </a:lvl2pPr>
            <a:lvl3pPr marL="685800" indent="0">
              <a:buNone/>
              <a:defRPr sz="12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  <a:lvl6pPr marL="1714500" indent="0">
              <a:buNone/>
              <a:defRPr sz="1100"/>
            </a:lvl6pPr>
            <a:lvl7pPr marL="2057400" indent="0">
              <a:buNone/>
              <a:defRPr sz="1100"/>
            </a:lvl7pPr>
            <a:lvl8pPr marL="2400300" indent="0">
              <a:buNone/>
              <a:defRPr sz="1100"/>
            </a:lvl8pPr>
            <a:lvl9pPr marL="27432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2020/7/26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2020/7/26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43"/>
            <a:ext cx="7886700" cy="43588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2020/7/26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2020/7/26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Get%20started%20with%20Google%20Colaboratory%20(Coding%20TensorFlow).mp4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notebooks/intro.ipynb#scrollTo=-gE-Ez1qtyIA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zhuanlan.zhihu.com/p/33466657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zhuanlan.zhihu.com/p/54389036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387576" y="1582090"/>
            <a:ext cx="5340191" cy="71558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4200" b="1" dirty="0">
                <a:solidFill>
                  <a:srgbClr val="1B4367"/>
                </a:solidFill>
                <a:cs typeface="+mn-ea"/>
                <a:sym typeface="+mn-lt"/>
              </a:rPr>
              <a:t>机器学习小组分享会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784577" y="2571750"/>
            <a:ext cx="4096956" cy="29238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lvl="0" eaLnBrk="0" hangingPunct="0"/>
            <a:r>
              <a:rPr lang="en-US" altLang="zh-CN" sz="1450" dirty="0">
                <a:solidFill>
                  <a:srgbClr val="1B4367"/>
                </a:solidFill>
                <a:cs typeface="+mn-ea"/>
                <a:sym typeface="+mn-lt"/>
              </a:rPr>
              <a:t>——</a:t>
            </a:r>
            <a:r>
              <a:rPr lang="zh-CN" altLang="en-US" sz="1450" dirty="0">
                <a:solidFill>
                  <a:srgbClr val="1B4367"/>
                </a:solidFill>
                <a:cs typeface="+mn-ea"/>
                <a:sym typeface="+mn-lt"/>
              </a:rPr>
              <a:t>用 </a:t>
            </a:r>
            <a:r>
              <a:rPr lang="en-US" altLang="zh-CN" sz="1450" dirty="0">
                <a:solidFill>
                  <a:srgbClr val="1B4367"/>
                </a:solidFill>
                <a:cs typeface="+mn-ea"/>
                <a:sym typeface="+mn-lt"/>
              </a:rPr>
              <a:t>Google </a:t>
            </a:r>
            <a:r>
              <a:rPr lang="en-US" altLang="zh-CN" sz="1450" dirty="0" err="1">
                <a:solidFill>
                  <a:srgbClr val="1B4367"/>
                </a:solidFill>
                <a:cs typeface="+mn-ea"/>
                <a:sym typeface="+mn-lt"/>
              </a:rPr>
              <a:t>Colab</a:t>
            </a:r>
            <a:r>
              <a:rPr lang="en-US" altLang="zh-CN" sz="1450" dirty="0">
                <a:solidFill>
                  <a:srgbClr val="1B4367"/>
                </a:solidFill>
                <a:cs typeface="+mn-ea"/>
                <a:sym typeface="+mn-lt"/>
              </a:rPr>
              <a:t> </a:t>
            </a:r>
            <a:r>
              <a:rPr lang="zh-CN" altLang="en-US" sz="1450" dirty="0">
                <a:solidFill>
                  <a:srgbClr val="1B4367"/>
                </a:solidFill>
                <a:cs typeface="+mn-ea"/>
                <a:sym typeface="+mn-lt"/>
              </a:rPr>
              <a:t>进行深度学习实践</a:t>
            </a:r>
            <a:endParaRPr lang="en-US" altLang="zh-CN" sz="1450" dirty="0">
              <a:solidFill>
                <a:srgbClr val="1B4367"/>
              </a:solidFill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CA6938-3435-4BAA-BF4B-2A800CB1ECCE}"/>
              </a:ext>
            </a:extLst>
          </p:cNvPr>
          <p:cNvSpPr txBox="1"/>
          <p:nvPr/>
        </p:nvSpPr>
        <p:spPr>
          <a:xfrm>
            <a:off x="4166508" y="2992023"/>
            <a:ext cx="4096956" cy="29238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lvl="0" algn="r" eaLnBrk="0" hangingPunct="0"/>
            <a:r>
              <a:rPr lang="zh-CN" altLang="en-US" dirty="0">
                <a:solidFill>
                  <a:srgbClr val="1B4367"/>
                </a:solidFill>
                <a:cs typeface="+mn-ea"/>
                <a:sym typeface="+mn-lt"/>
              </a:rPr>
              <a:t>韩  旭 </a:t>
            </a:r>
            <a:r>
              <a:rPr lang="en-US" altLang="zh-CN" dirty="0">
                <a:solidFill>
                  <a:srgbClr val="1B4367"/>
                </a:solidFill>
                <a:cs typeface="+mn-ea"/>
                <a:sym typeface="+mn-lt"/>
              </a:rPr>
              <a:t>	2020/08/01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645032" y="1377153"/>
            <a:ext cx="2214693" cy="391597"/>
          </a:xfrm>
          <a:prstGeom prst="roundRect">
            <a:avLst/>
          </a:prstGeom>
          <a:solidFill>
            <a:srgbClr val="1B4367"/>
          </a:solidFill>
        </p:spPr>
        <p:txBody>
          <a:bodyPr wrap="square" rtlCol="0">
            <a:spAutoFit/>
          </a:bodyPr>
          <a:lstStyle/>
          <a:p>
            <a:r>
              <a:rPr lang="en-US" altLang="zh-CN" sz="1700" dirty="0">
                <a:solidFill>
                  <a:schemeClr val="bg1"/>
                </a:solidFill>
                <a:cs typeface="+mn-ea"/>
                <a:sym typeface="+mn-lt"/>
              </a:rPr>
              <a:t>Google </a:t>
            </a:r>
            <a:r>
              <a:rPr lang="en-US" altLang="zh-CN" sz="1700" dirty="0" err="1">
                <a:solidFill>
                  <a:schemeClr val="bg1"/>
                </a:solidFill>
                <a:cs typeface="+mn-ea"/>
                <a:sym typeface="+mn-lt"/>
              </a:rPr>
              <a:t>Colab</a:t>
            </a:r>
            <a:r>
              <a:rPr lang="zh-CN" altLang="en-US" sz="1700" dirty="0">
                <a:solidFill>
                  <a:schemeClr val="bg1"/>
                </a:solidFill>
                <a:cs typeface="+mn-ea"/>
                <a:sym typeface="+mn-lt"/>
              </a:rPr>
              <a:t>介绍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135755" y="1357339"/>
            <a:ext cx="478533" cy="393570"/>
            <a:chOff x="5640108" y="966369"/>
            <a:chExt cx="476097" cy="391567"/>
          </a:xfrm>
        </p:grpSpPr>
        <p:sp>
          <p:nvSpPr>
            <p:cNvPr id="25" name="椭圆 24"/>
            <p:cNvSpPr/>
            <p:nvPr/>
          </p:nvSpPr>
          <p:spPr>
            <a:xfrm>
              <a:off x="5673454" y="966369"/>
              <a:ext cx="391567" cy="391567"/>
            </a:xfrm>
            <a:prstGeom prst="ellipse">
              <a:avLst/>
            </a:prstGeom>
            <a:solidFill>
              <a:srgbClr val="1B4367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6" name="文本框 17"/>
            <p:cNvSpPr txBox="1"/>
            <p:nvPr/>
          </p:nvSpPr>
          <p:spPr>
            <a:xfrm>
              <a:off x="5640108" y="975817"/>
              <a:ext cx="476097" cy="367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zh-CN" sz="1800" dirty="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2866491" y="2012712"/>
            <a:ext cx="2147298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4400" b="1" spc="-225" dirty="0">
                <a:solidFill>
                  <a:srgbClr val="1B4367"/>
                </a:solidFill>
                <a:cs typeface="+mn-ea"/>
                <a:sym typeface="+mn-lt"/>
              </a:rPr>
              <a:t>目 录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866491" y="2643910"/>
            <a:ext cx="2113154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400" b="1" dirty="0">
                <a:solidFill>
                  <a:srgbClr val="1B4367"/>
                </a:solidFill>
                <a:cs typeface="+mn-ea"/>
                <a:sym typeface="+mn-lt"/>
              </a:rPr>
              <a:t>CONTENTS</a:t>
            </a:r>
          </a:p>
        </p:txBody>
      </p:sp>
      <p:sp>
        <p:nvSpPr>
          <p:cNvPr id="79" name="文本框 10"/>
          <p:cNvSpPr txBox="1"/>
          <p:nvPr/>
        </p:nvSpPr>
        <p:spPr>
          <a:xfrm>
            <a:off x="5645032" y="2094697"/>
            <a:ext cx="2214693" cy="391597"/>
          </a:xfrm>
          <a:prstGeom prst="roundRect">
            <a:avLst/>
          </a:prstGeom>
          <a:solidFill>
            <a:srgbClr val="1B4367"/>
          </a:solidFill>
        </p:spPr>
        <p:txBody>
          <a:bodyPr wrap="square" rtlCol="0">
            <a:spAutoFit/>
          </a:bodyPr>
          <a:lstStyle/>
          <a:p>
            <a:r>
              <a:rPr lang="zh-CN" altLang="en-US" sz="1700" dirty="0">
                <a:solidFill>
                  <a:schemeClr val="bg1"/>
                </a:solidFill>
                <a:cs typeface="+mn-ea"/>
                <a:sym typeface="+mn-lt"/>
              </a:rPr>
              <a:t>使用入门</a:t>
            </a:r>
          </a:p>
        </p:txBody>
      </p:sp>
      <p:grpSp>
        <p:nvGrpSpPr>
          <p:cNvPr id="80" name="组合 79"/>
          <p:cNvGrpSpPr/>
          <p:nvPr/>
        </p:nvGrpSpPr>
        <p:grpSpPr>
          <a:xfrm>
            <a:off x="5135755" y="2074883"/>
            <a:ext cx="478533" cy="393570"/>
            <a:chOff x="5640108" y="966369"/>
            <a:chExt cx="476097" cy="391567"/>
          </a:xfrm>
        </p:grpSpPr>
        <p:sp>
          <p:nvSpPr>
            <p:cNvPr id="81" name="椭圆 80"/>
            <p:cNvSpPr/>
            <p:nvPr/>
          </p:nvSpPr>
          <p:spPr>
            <a:xfrm>
              <a:off x="5673454" y="966369"/>
              <a:ext cx="391567" cy="391567"/>
            </a:xfrm>
            <a:prstGeom prst="ellipse">
              <a:avLst/>
            </a:prstGeom>
            <a:solidFill>
              <a:srgbClr val="1B4367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2" name="文本框 17"/>
            <p:cNvSpPr txBox="1"/>
            <p:nvPr/>
          </p:nvSpPr>
          <p:spPr>
            <a:xfrm>
              <a:off x="5640108" y="975817"/>
              <a:ext cx="476097" cy="367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zh-CN" sz="1800" dirty="0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</a:p>
          </p:txBody>
        </p:sp>
      </p:grpSp>
      <p:sp>
        <p:nvSpPr>
          <p:cNvPr id="83" name="文本框 10"/>
          <p:cNvSpPr txBox="1"/>
          <p:nvPr/>
        </p:nvSpPr>
        <p:spPr>
          <a:xfrm>
            <a:off x="5645032" y="2812241"/>
            <a:ext cx="2214693" cy="391597"/>
          </a:xfrm>
          <a:prstGeom prst="roundRect">
            <a:avLst/>
          </a:prstGeom>
          <a:solidFill>
            <a:srgbClr val="1B4367"/>
          </a:solidFill>
        </p:spPr>
        <p:txBody>
          <a:bodyPr wrap="square" rtlCol="0">
            <a:spAutoFit/>
          </a:bodyPr>
          <a:lstStyle/>
          <a:p>
            <a:r>
              <a:rPr lang="en-US" altLang="zh-CN" sz="1700" dirty="0" err="1">
                <a:solidFill>
                  <a:schemeClr val="bg1"/>
                </a:solidFill>
                <a:cs typeface="+mn-ea"/>
                <a:sym typeface="+mn-lt"/>
              </a:rPr>
              <a:t>Colab</a:t>
            </a:r>
            <a:r>
              <a:rPr lang="zh-CN" altLang="en-US" sz="1700" dirty="0">
                <a:solidFill>
                  <a:schemeClr val="bg1"/>
                </a:solidFill>
                <a:cs typeface="+mn-ea"/>
                <a:sym typeface="+mn-lt"/>
              </a:rPr>
              <a:t>的优点</a:t>
            </a:r>
          </a:p>
        </p:txBody>
      </p:sp>
      <p:grpSp>
        <p:nvGrpSpPr>
          <p:cNvPr id="84" name="组合 83"/>
          <p:cNvGrpSpPr/>
          <p:nvPr/>
        </p:nvGrpSpPr>
        <p:grpSpPr>
          <a:xfrm>
            <a:off x="5135755" y="2792427"/>
            <a:ext cx="478533" cy="393570"/>
            <a:chOff x="5640108" y="966369"/>
            <a:chExt cx="476097" cy="391567"/>
          </a:xfrm>
        </p:grpSpPr>
        <p:sp>
          <p:nvSpPr>
            <p:cNvPr id="85" name="椭圆 84"/>
            <p:cNvSpPr/>
            <p:nvPr/>
          </p:nvSpPr>
          <p:spPr>
            <a:xfrm>
              <a:off x="5673454" y="966369"/>
              <a:ext cx="391567" cy="391567"/>
            </a:xfrm>
            <a:prstGeom prst="ellipse">
              <a:avLst/>
            </a:prstGeom>
            <a:solidFill>
              <a:srgbClr val="1B4367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6" name="文本框 17"/>
            <p:cNvSpPr txBox="1"/>
            <p:nvPr/>
          </p:nvSpPr>
          <p:spPr>
            <a:xfrm>
              <a:off x="5640108" y="975817"/>
              <a:ext cx="476097" cy="367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zh-CN" sz="1800" dirty="0">
                  <a:solidFill>
                    <a:schemeClr val="bg1"/>
                  </a:solidFill>
                  <a:cs typeface="+mn-ea"/>
                  <a:sym typeface="+mn-lt"/>
                </a:rPr>
                <a:t>03</a:t>
              </a:r>
            </a:p>
          </p:txBody>
        </p:sp>
      </p:grpSp>
      <p:sp>
        <p:nvSpPr>
          <p:cNvPr id="87" name="文本框 10"/>
          <p:cNvSpPr txBox="1"/>
          <p:nvPr/>
        </p:nvSpPr>
        <p:spPr>
          <a:xfrm>
            <a:off x="5645032" y="3529785"/>
            <a:ext cx="2214693" cy="391597"/>
          </a:xfrm>
          <a:prstGeom prst="roundRect">
            <a:avLst/>
          </a:prstGeom>
          <a:solidFill>
            <a:srgbClr val="1B4367"/>
          </a:solidFill>
        </p:spPr>
        <p:txBody>
          <a:bodyPr wrap="square" rtlCol="0">
            <a:spAutoFit/>
          </a:bodyPr>
          <a:lstStyle/>
          <a:p>
            <a:r>
              <a:rPr lang="en-US" altLang="zh-CN" sz="1700" dirty="0" err="1">
                <a:solidFill>
                  <a:schemeClr val="bg1"/>
                </a:solidFill>
                <a:cs typeface="+mn-ea"/>
                <a:sym typeface="+mn-lt"/>
              </a:rPr>
              <a:t>Colab</a:t>
            </a:r>
            <a:r>
              <a:rPr lang="zh-CN" altLang="en-US" sz="1700" dirty="0">
                <a:solidFill>
                  <a:schemeClr val="bg1"/>
                </a:solidFill>
                <a:cs typeface="+mn-ea"/>
                <a:sym typeface="+mn-lt"/>
              </a:rPr>
              <a:t>的局限</a:t>
            </a:r>
          </a:p>
        </p:txBody>
      </p:sp>
      <p:grpSp>
        <p:nvGrpSpPr>
          <p:cNvPr id="88" name="组合 87"/>
          <p:cNvGrpSpPr/>
          <p:nvPr/>
        </p:nvGrpSpPr>
        <p:grpSpPr>
          <a:xfrm>
            <a:off x="5135755" y="3509971"/>
            <a:ext cx="478533" cy="393570"/>
            <a:chOff x="5640108" y="966369"/>
            <a:chExt cx="476097" cy="391567"/>
          </a:xfrm>
        </p:grpSpPr>
        <p:sp>
          <p:nvSpPr>
            <p:cNvPr id="89" name="椭圆 88"/>
            <p:cNvSpPr/>
            <p:nvPr/>
          </p:nvSpPr>
          <p:spPr>
            <a:xfrm>
              <a:off x="5673454" y="966369"/>
              <a:ext cx="391567" cy="391567"/>
            </a:xfrm>
            <a:prstGeom prst="ellipse">
              <a:avLst/>
            </a:prstGeom>
            <a:solidFill>
              <a:srgbClr val="1B4367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90" name="文本框 17"/>
            <p:cNvSpPr txBox="1"/>
            <p:nvPr/>
          </p:nvSpPr>
          <p:spPr>
            <a:xfrm>
              <a:off x="5640108" y="975817"/>
              <a:ext cx="476097" cy="367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zh-CN" sz="1800" dirty="0">
                  <a:solidFill>
                    <a:schemeClr val="bg1"/>
                  </a:solidFill>
                  <a:cs typeface="+mn-ea"/>
                  <a:sym typeface="+mn-lt"/>
                </a:rPr>
                <a:t>04</a:t>
              </a:r>
            </a:p>
          </p:txBody>
        </p:sp>
      </p:grpSp>
      <p:sp>
        <p:nvSpPr>
          <p:cNvPr id="4" name="燕尾形 3"/>
          <p:cNvSpPr/>
          <p:nvPr/>
        </p:nvSpPr>
        <p:spPr>
          <a:xfrm>
            <a:off x="4284324" y="2183489"/>
            <a:ext cx="256853" cy="448435"/>
          </a:xfrm>
          <a:prstGeom prst="chevron">
            <a:avLst/>
          </a:prstGeom>
          <a:solidFill>
            <a:srgbClr val="1B43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10"/>
          <p:cNvSpPr txBox="1"/>
          <p:nvPr/>
        </p:nvSpPr>
        <p:spPr>
          <a:xfrm>
            <a:off x="5645031" y="4247329"/>
            <a:ext cx="2214693" cy="391597"/>
          </a:xfrm>
          <a:prstGeom prst="roundRect">
            <a:avLst/>
          </a:prstGeom>
          <a:solidFill>
            <a:srgbClr val="1B4367"/>
          </a:solidFill>
        </p:spPr>
        <p:txBody>
          <a:bodyPr wrap="square" rtlCol="0">
            <a:spAutoFit/>
          </a:bodyPr>
          <a:lstStyle/>
          <a:p>
            <a:r>
              <a:rPr lang="zh-CN" altLang="en-US" sz="1700" dirty="0">
                <a:solidFill>
                  <a:schemeClr val="bg1"/>
                </a:solidFill>
                <a:cs typeface="+mn-ea"/>
                <a:sym typeface="+mn-lt"/>
              </a:rPr>
              <a:t>讨论与交流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5132441" y="4247329"/>
            <a:ext cx="478533" cy="393570"/>
            <a:chOff x="5640108" y="966369"/>
            <a:chExt cx="476097" cy="391567"/>
          </a:xfrm>
        </p:grpSpPr>
        <p:sp>
          <p:nvSpPr>
            <p:cNvPr id="23" name="椭圆 22"/>
            <p:cNvSpPr/>
            <p:nvPr/>
          </p:nvSpPr>
          <p:spPr>
            <a:xfrm>
              <a:off x="5673454" y="966369"/>
              <a:ext cx="391567" cy="391567"/>
            </a:xfrm>
            <a:prstGeom prst="ellipse">
              <a:avLst/>
            </a:prstGeom>
            <a:solidFill>
              <a:srgbClr val="1B4367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4" name="文本框 17"/>
            <p:cNvSpPr txBox="1"/>
            <p:nvPr/>
          </p:nvSpPr>
          <p:spPr>
            <a:xfrm>
              <a:off x="5640108" y="975817"/>
              <a:ext cx="476097" cy="367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zh-CN" sz="1800" dirty="0">
                  <a:solidFill>
                    <a:schemeClr val="bg1"/>
                  </a:solidFill>
                  <a:cs typeface="+mn-ea"/>
                  <a:sym typeface="+mn-lt"/>
                </a:rPr>
                <a:t>05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3819635" y="1089058"/>
            <a:ext cx="1500028" cy="1500028"/>
          </a:xfrm>
          <a:prstGeom prst="ellipse">
            <a:avLst/>
          </a:prstGeom>
          <a:solidFill>
            <a:srgbClr val="1B43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483768" y="2709756"/>
            <a:ext cx="4171762" cy="59247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zh-CN" sz="3400" b="1" dirty="0">
                <a:solidFill>
                  <a:srgbClr val="1B4367"/>
                </a:solidFill>
                <a:cs typeface="+mn-ea"/>
                <a:sym typeface="+mn-lt"/>
              </a:rPr>
              <a:t>Google </a:t>
            </a:r>
            <a:r>
              <a:rPr lang="en-US" altLang="zh-CN" sz="3400" b="1" dirty="0" err="1">
                <a:solidFill>
                  <a:srgbClr val="1B4367"/>
                </a:solidFill>
                <a:cs typeface="+mn-ea"/>
                <a:sym typeface="+mn-lt"/>
              </a:rPr>
              <a:t>Colab</a:t>
            </a:r>
            <a:r>
              <a:rPr lang="zh-CN" altLang="en-US" sz="3400" b="1" dirty="0">
                <a:solidFill>
                  <a:srgbClr val="1B4367"/>
                </a:solidFill>
                <a:cs typeface="+mn-ea"/>
                <a:sym typeface="+mn-lt"/>
              </a:rPr>
              <a:t>介绍</a:t>
            </a:r>
          </a:p>
        </p:txBody>
      </p:sp>
      <p:sp>
        <p:nvSpPr>
          <p:cNvPr id="95" name="文本框 11"/>
          <p:cNvSpPr txBox="1"/>
          <p:nvPr/>
        </p:nvSpPr>
        <p:spPr>
          <a:xfrm>
            <a:off x="3713476" y="1575042"/>
            <a:ext cx="1732894" cy="81573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zh-CN" sz="5400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  <a:endParaRPr lang="zh-CN" altLang="en-US" sz="5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>
              <a:lnSpc>
                <a:spcPts val="3000"/>
              </a:lnSpc>
            </a:pPr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PART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716110" y="316509"/>
            <a:ext cx="2261711" cy="33086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altLang="zh-CN" sz="1700" b="1" dirty="0">
                <a:solidFill>
                  <a:srgbClr val="1B4367"/>
                </a:solidFill>
                <a:cs typeface="+mn-ea"/>
                <a:sym typeface="+mn-lt"/>
              </a:rPr>
              <a:t>Google </a:t>
            </a:r>
            <a:r>
              <a:rPr lang="en-US" altLang="zh-CN" sz="1700" b="1" dirty="0" err="1">
                <a:solidFill>
                  <a:srgbClr val="1B4367"/>
                </a:solidFill>
                <a:cs typeface="+mn-ea"/>
                <a:sym typeface="+mn-lt"/>
              </a:rPr>
              <a:t>Colab</a:t>
            </a:r>
            <a:r>
              <a:rPr lang="zh-CN" altLang="en-US" sz="1700" b="1" dirty="0">
                <a:solidFill>
                  <a:srgbClr val="1B4367"/>
                </a:solidFill>
                <a:cs typeface="+mn-ea"/>
                <a:sym typeface="+mn-lt"/>
              </a:rPr>
              <a:t>介绍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774478" y="657417"/>
            <a:ext cx="480259" cy="0"/>
          </a:xfrm>
          <a:prstGeom prst="line">
            <a:avLst/>
          </a:prstGeom>
          <a:ln w="9525">
            <a:solidFill>
              <a:srgbClr val="1B4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210"/>
          <p:cNvSpPr/>
          <p:nvPr/>
        </p:nvSpPr>
        <p:spPr>
          <a:xfrm>
            <a:off x="1581399" y="884722"/>
            <a:ext cx="2665730" cy="346249"/>
          </a:xfrm>
          <a:prstGeom prst="rect">
            <a:avLst/>
          </a:prstGeom>
          <a:noFill/>
          <a:ln w="9525">
            <a:noFill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5CA0B4"/>
                </a:solidFill>
              </a14:hiddenFill>
            </a:ext>
          </a:extLst>
        </p:spPr>
        <p:txBody>
          <a:bodyPr wrap="none" lIns="68580" tIns="34290" rIns="68580" bIns="34290">
            <a:spAutoFit/>
          </a:bodyPr>
          <a:lstStyle/>
          <a:p>
            <a:pPr lvl="0"/>
            <a:r>
              <a:rPr lang="zh-CN" altLang="en-US" sz="1800" b="1" dirty="0">
                <a:solidFill>
                  <a:srgbClr val="1B4367"/>
                </a:solidFill>
                <a:cs typeface="+mn-ea"/>
                <a:sym typeface="+mn-lt"/>
              </a:rPr>
              <a:t>什么是 </a:t>
            </a:r>
            <a:r>
              <a:rPr lang="en-US" altLang="zh-CN" sz="1800" b="1" dirty="0">
                <a:solidFill>
                  <a:srgbClr val="1B4367"/>
                </a:solidFill>
                <a:cs typeface="+mn-ea"/>
                <a:sym typeface="+mn-lt"/>
              </a:rPr>
              <a:t>Colaboratory</a:t>
            </a:r>
            <a:r>
              <a:rPr lang="zh-CN" altLang="en-US" sz="1800" b="1" dirty="0">
                <a:solidFill>
                  <a:srgbClr val="1B4367"/>
                </a:solidFill>
                <a:cs typeface="+mn-ea"/>
                <a:sym typeface="+mn-lt"/>
              </a:rPr>
              <a:t>？</a:t>
            </a:r>
          </a:p>
        </p:txBody>
      </p:sp>
      <p:sp>
        <p:nvSpPr>
          <p:cNvPr id="20" name="文本框 11"/>
          <p:cNvSpPr txBox="1"/>
          <p:nvPr/>
        </p:nvSpPr>
        <p:spPr>
          <a:xfrm>
            <a:off x="716110" y="1799185"/>
            <a:ext cx="7828993" cy="2126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5CA0B4"/>
                </a:solidFill>
              </a14:hiddenFill>
            </a:ext>
          </a:extLst>
        </p:spPr>
        <p:txBody>
          <a:bodyPr wrap="square" lIns="68580" tIns="34290" rIns="68580" bIns="3429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  <a:hlinkClick r:id="rId3" action="ppaction://hlinkfile"/>
              </a:rPr>
              <a:t>Get started with Google Colaboratory (Coding TensorFlow) - YouTube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借助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Colaboratory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（简称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Colab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），你可以在浏览器中编写和执行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Python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代码，并且：</a:t>
            </a:r>
          </a:p>
          <a:p>
            <a:pPr marL="6286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无需任何配置</a:t>
            </a:r>
          </a:p>
          <a:p>
            <a:pPr marL="6286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免费使用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GPU</a:t>
            </a:r>
          </a:p>
          <a:p>
            <a:pPr marL="6286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轻松共享</a:t>
            </a:r>
          </a:p>
        </p:txBody>
      </p:sp>
      <p:sp>
        <p:nvSpPr>
          <p:cNvPr id="6" name="AutoShape 2" descr="Show notebooks in Drive">
            <a:extLst>
              <a:ext uri="{FF2B5EF4-FFF2-40B4-BE49-F238E27FC236}">
                <a16:creationId xmlns:a16="http://schemas.microsoft.com/office/drawing/2014/main" id="{9E6AA5C2-B576-4A41-A1DB-949E581C02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5A0D524-23D2-4ADA-B654-55F20ED4EC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100" y="469763"/>
            <a:ext cx="1176168" cy="11761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3819635" y="1089058"/>
            <a:ext cx="1500028" cy="1500028"/>
          </a:xfrm>
          <a:prstGeom prst="ellipse">
            <a:avLst/>
          </a:prstGeom>
          <a:solidFill>
            <a:srgbClr val="1B43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483768" y="2709756"/>
            <a:ext cx="4171762" cy="59247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zh-CN" altLang="en-US" sz="3400" b="1" dirty="0">
                <a:solidFill>
                  <a:srgbClr val="1B4367"/>
                </a:solidFill>
                <a:cs typeface="+mn-ea"/>
                <a:sym typeface="+mn-lt"/>
              </a:rPr>
              <a:t>使用入门</a:t>
            </a:r>
          </a:p>
        </p:txBody>
      </p:sp>
      <p:sp>
        <p:nvSpPr>
          <p:cNvPr id="95" name="文本框 11"/>
          <p:cNvSpPr txBox="1"/>
          <p:nvPr/>
        </p:nvSpPr>
        <p:spPr>
          <a:xfrm>
            <a:off x="3713476" y="1575042"/>
            <a:ext cx="1732894" cy="83869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zh-CN" sz="5400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  <a:endParaRPr lang="zh-CN" altLang="en-US" sz="5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>
              <a:lnSpc>
                <a:spcPts val="3000"/>
              </a:lnSpc>
            </a:pPr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PART </a:t>
            </a:r>
          </a:p>
        </p:txBody>
      </p:sp>
    </p:spTree>
    <p:extLst>
      <p:ext uri="{BB962C8B-B14F-4D97-AF65-F5344CB8AC3E}">
        <p14:creationId xmlns:p14="http://schemas.microsoft.com/office/powerpoint/2010/main" val="1607712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15"/>
          <p:cNvSpPr txBox="1"/>
          <p:nvPr/>
        </p:nvSpPr>
        <p:spPr>
          <a:xfrm>
            <a:off x="709386" y="309785"/>
            <a:ext cx="2261711" cy="33086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1700" b="1" dirty="0">
                <a:solidFill>
                  <a:srgbClr val="1B4367"/>
                </a:solidFill>
                <a:cs typeface="+mn-ea"/>
                <a:sym typeface="+mn-lt"/>
              </a:rPr>
              <a:t>使用入门</a:t>
            </a:r>
          </a:p>
        </p:txBody>
      </p:sp>
      <p:cxnSp>
        <p:nvCxnSpPr>
          <p:cNvPr id="29" name="直接连接符 28"/>
          <p:cNvCxnSpPr/>
          <p:nvPr/>
        </p:nvCxnSpPr>
        <p:spPr>
          <a:xfrm>
            <a:off x="774478" y="657417"/>
            <a:ext cx="480259" cy="0"/>
          </a:xfrm>
          <a:prstGeom prst="line">
            <a:avLst/>
          </a:prstGeom>
          <a:ln w="9525">
            <a:solidFill>
              <a:srgbClr val="1B4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11">
            <a:extLst>
              <a:ext uri="{FF2B5EF4-FFF2-40B4-BE49-F238E27FC236}">
                <a16:creationId xmlns:a16="http://schemas.microsoft.com/office/drawing/2014/main" id="{ED9A65C5-5A38-4DC2-A71E-F4AF9FE72575}"/>
              </a:ext>
            </a:extLst>
          </p:cNvPr>
          <p:cNvSpPr txBox="1"/>
          <p:nvPr/>
        </p:nvSpPr>
        <p:spPr>
          <a:xfrm>
            <a:off x="709386" y="1519785"/>
            <a:ext cx="7828993" cy="2241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5CA0B4"/>
                </a:solidFill>
              </a14:hiddenFill>
            </a:ext>
          </a:extLst>
        </p:spPr>
        <p:txBody>
          <a:bodyPr wrap="square" lIns="68580" tIns="34290" rIns="68580" bIns="3429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准备工作：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正确上网，注册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Google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邮箱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欢迎使用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Colaboratory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：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hlinkClick r:id="rId3"/>
              </a:rPr>
              <a:t>https://colab.research.google.com/notebooks/intro.ipynb#scrollTo=-gE-Ez1qtyIA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15"/>
          <p:cNvSpPr txBox="1"/>
          <p:nvPr/>
        </p:nvSpPr>
        <p:spPr>
          <a:xfrm>
            <a:off x="709386" y="309785"/>
            <a:ext cx="2778881" cy="33086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1700" b="1" dirty="0">
                <a:solidFill>
                  <a:srgbClr val="1B4367"/>
                </a:solidFill>
                <a:cs typeface="+mn-ea"/>
                <a:sym typeface="+mn-lt"/>
              </a:rPr>
              <a:t>使用入门</a:t>
            </a:r>
            <a:r>
              <a:rPr lang="en-US" altLang="zh-CN" sz="1700" b="1" dirty="0">
                <a:solidFill>
                  <a:srgbClr val="1B4367"/>
                </a:solidFill>
                <a:cs typeface="+mn-ea"/>
                <a:sym typeface="+mn-lt"/>
              </a:rPr>
              <a:t>——</a:t>
            </a:r>
            <a:r>
              <a:rPr lang="zh-CN" altLang="en-US" sz="1700" b="1" dirty="0">
                <a:solidFill>
                  <a:srgbClr val="1B4367"/>
                </a:solidFill>
                <a:cs typeface="+mn-ea"/>
                <a:sym typeface="+mn-lt"/>
              </a:rPr>
              <a:t>细节</a:t>
            </a:r>
            <a:r>
              <a:rPr lang="en-US" altLang="zh-CN" sz="1700" b="1" dirty="0">
                <a:solidFill>
                  <a:srgbClr val="1B4367"/>
                </a:solidFill>
                <a:cs typeface="+mn-ea"/>
                <a:sym typeface="+mn-lt"/>
              </a:rPr>
              <a:t>tips</a:t>
            </a:r>
            <a:endParaRPr lang="zh-CN" altLang="en-US" sz="1700" b="1" dirty="0">
              <a:solidFill>
                <a:srgbClr val="1B4367"/>
              </a:solidFill>
              <a:cs typeface="+mn-ea"/>
              <a:sym typeface="+mn-lt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774478" y="657417"/>
            <a:ext cx="480259" cy="0"/>
          </a:xfrm>
          <a:prstGeom prst="line">
            <a:avLst/>
          </a:prstGeom>
          <a:ln w="9525">
            <a:solidFill>
              <a:srgbClr val="1B4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11">
            <a:extLst>
              <a:ext uri="{FF2B5EF4-FFF2-40B4-BE49-F238E27FC236}">
                <a16:creationId xmlns:a16="http://schemas.microsoft.com/office/drawing/2014/main" id="{ED9A65C5-5A38-4DC2-A71E-F4AF9FE72575}"/>
              </a:ext>
            </a:extLst>
          </p:cNvPr>
          <p:cNvSpPr txBox="1"/>
          <p:nvPr/>
        </p:nvSpPr>
        <p:spPr>
          <a:xfrm>
            <a:off x="709386" y="806179"/>
            <a:ext cx="7828993" cy="4088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5CA0B4"/>
                </a:solidFill>
              </a14:hiddenFill>
            </a:ext>
          </a:extLst>
        </p:spPr>
        <p:txBody>
          <a:bodyPr wrap="square" lIns="68580" tIns="34290" rIns="68580" bIns="34290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与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Google Drive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结合使用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6286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15G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免费容量，可以将工作文件存储在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Drive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云端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6286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运行时装载到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Drive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云端，使用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Drive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里的文件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6286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更改运行时类型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6858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免费使用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GPU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TPU</a:t>
            </a:r>
          </a:p>
          <a:p>
            <a:pPr marL="6858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More……</a:t>
            </a:r>
          </a:p>
          <a:p>
            <a:pPr marL="6858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hlinkClick r:id="rId3"/>
              </a:rPr>
              <a:t>https://zhuanlan.zhihu.com/p/33466657</a:t>
            </a:r>
            <a:endParaRPr lang="en-US" altLang="zh-CN" sz="1600" dirty="0">
              <a:hlinkClick r:id="rId4"/>
            </a:endParaRPr>
          </a:p>
          <a:p>
            <a:pPr marL="6858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hlinkClick r:id="rId4"/>
              </a:rPr>
              <a:t>https://zhuanlan.zhihu.com/p/54389036</a:t>
            </a:r>
            <a:endParaRPr lang="en-US" altLang="zh-CN" sz="1600" dirty="0"/>
          </a:p>
          <a:p>
            <a:pPr marL="6858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4925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3819635" y="1089058"/>
            <a:ext cx="1500028" cy="1500028"/>
          </a:xfrm>
          <a:prstGeom prst="ellipse">
            <a:avLst/>
          </a:prstGeom>
          <a:solidFill>
            <a:srgbClr val="1B43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483768" y="2709756"/>
            <a:ext cx="4171762" cy="59247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zh-CN" sz="3400" b="1" dirty="0" err="1">
                <a:solidFill>
                  <a:srgbClr val="1B4367"/>
                </a:solidFill>
                <a:cs typeface="+mn-ea"/>
                <a:sym typeface="+mn-lt"/>
              </a:rPr>
              <a:t>Colab</a:t>
            </a:r>
            <a:r>
              <a:rPr lang="zh-CN" altLang="en-US" sz="3400" b="1" dirty="0">
                <a:solidFill>
                  <a:srgbClr val="1B4367"/>
                </a:solidFill>
                <a:cs typeface="+mn-ea"/>
                <a:sym typeface="+mn-lt"/>
              </a:rPr>
              <a:t>的优点</a:t>
            </a:r>
          </a:p>
        </p:txBody>
      </p:sp>
      <p:sp>
        <p:nvSpPr>
          <p:cNvPr id="95" name="文本框 11"/>
          <p:cNvSpPr txBox="1"/>
          <p:nvPr/>
        </p:nvSpPr>
        <p:spPr>
          <a:xfrm>
            <a:off x="3713476" y="1575042"/>
            <a:ext cx="1732894" cy="83869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zh-CN" sz="5400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  <a:endParaRPr lang="zh-CN" altLang="en-US" sz="5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>
              <a:lnSpc>
                <a:spcPts val="3000"/>
              </a:lnSpc>
            </a:pPr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PART </a:t>
            </a:r>
          </a:p>
        </p:txBody>
      </p:sp>
    </p:spTree>
    <p:extLst>
      <p:ext uri="{BB962C8B-B14F-4D97-AF65-F5344CB8AC3E}">
        <p14:creationId xmlns:p14="http://schemas.microsoft.com/office/powerpoint/2010/main" val="2512865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15"/>
          <p:cNvSpPr txBox="1"/>
          <p:nvPr/>
        </p:nvSpPr>
        <p:spPr>
          <a:xfrm>
            <a:off x="709386" y="309785"/>
            <a:ext cx="2261711" cy="33086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altLang="zh-CN" sz="1700" b="1" dirty="0" err="1">
                <a:solidFill>
                  <a:srgbClr val="1B4367"/>
                </a:solidFill>
                <a:cs typeface="+mn-ea"/>
                <a:sym typeface="+mn-lt"/>
              </a:rPr>
              <a:t>Colab</a:t>
            </a:r>
            <a:r>
              <a:rPr lang="zh-CN" altLang="en-US" sz="1700" b="1" dirty="0">
                <a:solidFill>
                  <a:srgbClr val="1B4367"/>
                </a:solidFill>
                <a:cs typeface="+mn-ea"/>
                <a:sym typeface="+mn-lt"/>
              </a:rPr>
              <a:t>的优点</a:t>
            </a:r>
          </a:p>
        </p:txBody>
      </p:sp>
      <p:cxnSp>
        <p:nvCxnSpPr>
          <p:cNvPr id="29" name="直接连接符 28"/>
          <p:cNvCxnSpPr/>
          <p:nvPr/>
        </p:nvCxnSpPr>
        <p:spPr>
          <a:xfrm>
            <a:off x="774478" y="657417"/>
            <a:ext cx="480259" cy="0"/>
          </a:xfrm>
          <a:prstGeom prst="line">
            <a:avLst/>
          </a:prstGeom>
          <a:ln w="9525">
            <a:solidFill>
              <a:srgbClr val="1B4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11">
            <a:extLst>
              <a:ext uri="{FF2B5EF4-FFF2-40B4-BE49-F238E27FC236}">
                <a16:creationId xmlns:a16="http://schemas.microsoft.com/office/drawing/2014/main" id="{847BDE96-4290-40C3-9C57-FE31E47FE8DB}"/>
              </a:ext>
            </a:extLst>
          </p:cNvPr>
          <p:cNvSpPr txBox="1"/>
          <p:nvPr/>
        </p:nvSpPr>
        <p:spPr>
          <a:xfrm>
            <a:off x="709386" y="823113"/>
            <a:ext cx="8434614" cy="334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5CA0B4"/>
                </a:solidFill>
              </a14:hiddenFill>
            </a:ext>
          </a:extLst>
        </p:spPr>
        <p:txBody>
          <a:bodyPr wrap="square" lIns="68580" tIns="34290" rIns="68580" bIns="34290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免费使用（低端）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GPU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TPU</a:t>
            </a:r>
          </a:p>
          <a:p>
            <a:pPr marL="6286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可以尝试一些小项目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6286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避免繁琐的环境配置，直接进入实验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6286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协作共享与复现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6858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快速分享你的代码，对方可以很快复现并与你协作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6858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d2l.ai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等项目提供代码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Colab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链接，直接运行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6858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More……</a:t>
            </a:r>
          </a:p>
        </p:txBody>
      </p:sp>
    </p:spTree>
    <p:extLst>
      <p:ext uri="{BB962C8B-B14F-4D97-AF65-F5344CB8AC3E}">
        <p14:creationId xmlns:p14="http://schemas.microsoft.com/office/powerpoint/2010/main" val="273504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3819635" y="1089058"/>
            <a:ext cx="1500028" cy="1500028"/>
          </a:xfrm>
          <a:prstGeom prst="ellipse">
            <a:avLst/>
          </a:prstGeom>
          <a:solidFill>
            <a:srgbClr val="1B43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483768" y="2709756"/>
            <a:ext cx="4171762" cy="59247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zh-CN" sz="3400" b="1" dirty="0" err="1">
                <a:solidFill>
                  <a:srgbClr val="1B4367"/>
                </a:solidFill>
                <a:cs typeface="+mn-ea"/>
                <a:sym typeface="+mn-lt"/>
              </a:rPr>
              <a:t>Colab</a:t>
            </a:r>
            <a:r>
              <a:rPr lang="zh-CN" altLang="en-US" sz="3400" b="1" dirty="0">
                <a:solidFill>
                  <a:srgbClr val="1B4367"/>
                </a:solidFill>
                <a:cs typeface="+mn-ea"/>
                <a:sym typeface="+mn-lt"/>
              </a:rPr>
              <a:t>的局限</a:t>
            </a:r>
          </a:p>
        </p:txBody>
      </p:sp>
      <p:sp>
        <p:nvSpPr>
          <p:cNvPr id="95" name="文本框 11"/>
          <p:cNvSpPr txBox="1"/>
          <p:nvPr/>
        </p:nvSpPr>
        <p:spPr>
          <a:xfrm>
            <a:off x="3713476" y="1575042"/>
            <a:ext cx="1732894" cy="83869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zh-CN" sz="5400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  <a:endParaRPr lang="zh-CN" altLang="en-US" sz="5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>
              <a:lnSpc>
                <a:spcPts val="3000"/>
              </a:lnSpc>
            </a:pPr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PART </a:t>
            </a:r>
          </a:p>
        </p:txBody>
      </p:sp>
    </p:spTree>
    <p:extLst>
      <p:ext uri="{BB962C8B-B14F-4D97-AF65-F5344CB8AC3E}">
        <p14:creationId xmlns:p14="http://schemas.microsoft.com/office/powerpoint/2010/main" val="900618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15"/>
          <p:cNvSpPr txBox="1"/>
          <p:nvPr/>
        </p:nvSpPr>
        <p:spPr>
          <a:xfrm>
            <a:off x="709386" y="309785"/>
            <a:ext cx="2261711" cy="33086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altLang="zh-CN" sz="1700" b="1" dirty="0" err="1">
                <a:solidFill>
                  <a:srgbClr val="1B4367"/>
                </a:solidFill>
                <a:cs typeface="+mn-ea"/>
                <a:sym typeface="+mn-lt"/>
              </a:rPr>
              <a:t>Colab</a:t>
            </a:r>
            <a:r>
              <a:rPr lang="zh-CN" altLang="en-US" sz="1700" b="1" dirty="0">
                <a:solidFill>
                  <a:srgbClr val="1B4367"/>
                </a:solidFill>
                <a:cs typeface="+mn-ea"/>
                <a:sym typeface="+mn-lt"/>
              </a:rPr>
              <a:t>的局限</a:t>
            </a:r>
          </a:p>
        </p:txBody>
      </p:sp>
      <p:cxnSp>
        <p:nvCxnSpPr>
          <p:cNvPr id="29" name="直接连接符 28"/>
          <p:cNvCxnSpPr/>
          <p:nvPr/>
        </p:nvCxnSpPr>
        <p:spPr>
          <a:xfrm>
            <a:off x="774478" y="657417"/>
            <a:ext cx="480259" cy="0"/>
          </a:xfrm>
          <a:prstGeom prst="line">
            <a:avLst/>
          </a:prstGeom>
          <a:ln w="9525">
            <a:solidFill>
              <a:srgbClr val="1B4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11">
            <a:extLst>
              <a:ext uri="{FF2B5EF4-FFF2-40B4-BE49-F238E27FC236}">
                <a16:creationId xmlns:a16="http://schemas.microsoft.com/office/drawing/2014/main" id="{847BDE96-4290-40C3-9C57-FE31E47FE8DB}"/>
              </a:ext>
            </a:extLst>
          </p:cNvPr>
          <p:cNvSpPr txBox="1"/>
          <p:nvPr/>
        </p:nvSpPr>
        <p:spPr>
          <a:xfrm>
            <a:off x="709386" y="823113"/>
            <a:ext cx="8434614" cy="4088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5CA0B4"/>
                </a:solidFill>
              </a14:hiddenFill>
            </a:ext>
          </a:extLst>
        </p:spPr>
        <p:txBody>
          <a:bodyPr wrap="square" lIns="68580" tIns="34290" rIns="68580" bIns="34290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正确上网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6286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可能存在速度慢、离线等情况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6286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如不装载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Google Drive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，每次都需要重新上传文件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6858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同时每次都需要重新配置环境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6858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以及安装一些没有预安装的包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6858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低端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GPU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TPU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，时长限制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6858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仅能运行一些较小的项目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6858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一次最多运行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12h</a:t>
            </a:r>
          </a:p>
          <a:p>
            <a:pPr marL="6858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断开太久需要重新连接，从头开始实验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5486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3819635" y="1089058"/>
            <a:ext cx="1500028" cy="1500028"/>
          </a:xfrm>
          <a:prstGeom prst="ellipse">
            <a:avLst/>
          </a:prstGeom>
          <a:solidFill>
            <a:srgbClr val="1B43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483768" y="2709756"/>
            <a:ext cx="4171762" cy="59247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zh-CN" altLang="en-US" sz="3400" b="1" dirty="0">
                <a:solidFill>
                  <a:srgbClr val="1B4367"/>
                </a:solidFill>
                <a:cs typeface="+mn-ea"/>
                <a:sym typeface="+mn-lt"/>
              </a:rPr>
              <a:t>讨论与交流</a:t>
            </a:r>
          </a:p>
        </p:txBody>
      </p:sp>
      <p:sp>
        <p:nvSpPr>
          <p:cNvPr id="95" name="文本框 11"/>
          <p:cNvSpPr txBox="1"/>
          <p:nvPr/>
        </p:nvSpPr>
        <p:spPr>
          <a:xfrm>
            <a:off x="3713476" y="1575042"/>
            <a:ext cx="1732894" cy="83869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zh-CN" sz="5400" dirty="0">
                <a:solidFill>
                  <a:schemeClr val="bg1"/>
                </a:solidFill>
                <a:cs typeface="+mn-ea"/>
                <a:sym typeface="+mn-lt"/>
              </a:rPr>
              <a:t>05</a:t>
            </a:r>
            <a:endParaRPr lang="zh-CN" altLang="en-US" sz="5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>
              <a:lnSpc>
                <a:spcPts val="3000"/>
              </a:lnSpc>
            </a:pPr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PART </a:t>
            </a:r>
          </a:p>
        </p:txBody>
      </p:sp>
    </p:spTree>
    <p:extLst>
      <p:ext uri="{BB962C8B-B14F-4D97-AF65-F5344CB8AC3E}">
        <p14:creationId xmlns:p14="http://schemas.microsoft.com/office/powerpoint/2010/main" val="289440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15"/>
          <p:cNvSpPr txBox="1"/>
          <p:nvPr/>
        </p:nvSpPr>
        <p:spPr>
          <a:xfrm>
            <a:off x="709386" y="309785"/>
            <a:ext cx="2261711" cy="33086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1700" b="1" dirty="0">
                <a:solidFill>
                  <a:srgbClr val="1B4367"/>
                </a:solidFill>
                <a:cs typeface="+mn-ea"/>
                <a:sym typeface="+mn-lt"/>
              </a:rPr>
              <a:t>讨论与交流</a:t>
            </a:r>
          </a:p>
        </p:txBody>
      </p:sp>
      <p:cxnSp>
        <p:nvCxnSpPr>
          <p:cNvPr id="29" name="直接连接符 28"/>
          <p:cNvCxnSpPr/>
          <p:nvPr/>
        </p:nvCxnSpPr>
        <p:spPr>
          <a:xfrm>
            <a:off x="774478" y="657417"/>
            <a:ext cx="480259" cy="0"/>
          </a:xfrm>
          <a:prstGeom prst="line">
            <a:avLst/>
          </a:prstGeom>
          <a:ln w="9525">
            <a:solidFill>
              <a:srgbClr val="1B4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933E733-0169-45D9-BF47-912D161C6740}"/>
              </a:ext>
            </a:extLst>
          </p:cNvPr>
          <p:cNvCxnSpPr/>
          <p:nvPr/>
        </p:nvCxnSpPr>
        <p:spPr>
          <a:xfrm flipV="1">
            <a:off x="1813118" y="1547783"/>
            <a:ext cx="2254385" cy="939044"/>
          </a:xfrm>
          <a:prstGeom prst="line">
            <a:avLst/>
          </a:prstGeom>
          <a:ln w="9525">
            <a:solidFill>
              <a:srgbClr val="1B4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64100A2-0A22-4918-A227-39F1B8E80368}"/>
              </a:ext>
            </a:extLst>
          </p:cNvPr>
          <p:cNvCxnSpPr/>
          <p:nvPr/>
        </p:nvCxnSpPr>
        <p:spPr>
          <a:xfrm flipV="1">
            <a:off x="1803428" y="2277996"/>
            <a:ext cx="2264075" cy="207750"/>
          </a:xfrm>
          <a:prstGeom prst="line">
            <a:avLst/>
          </a:prstGeom>
          <a:ln w="9525">
            <a:solidFill>
              <a:srgbClr val="1B4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32FB209-0728-4686-81AE-3908A63B05D1}"/>
              </a:ext>
            </a:extLst>
          </p:cNvPr>
          <p:cNvCxnSpPr/>
          <p:nvPr/>
        </p:nvCxnSpPr>
        <p:spPr>
          <a:xfrm>
            <a:off x="1871483" y="2575429"/>
            <a:ext cx="2270601" cy="432782"/>
          </a:xfrm>
          <a:prstGeom prst="line">
            <a:avLst/>
          </a:prstGeom>
          <a:ln w="9525">
            <a:solidFill>
              <a:srgbClr val="1B4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CA58382-8BDB-4B59-9DDB-DADB69920F38}"/>
              </a:ext>
            </a:extLst>
          </p:cNvPr>
          <p:cNvCxnSpPr/>
          <p:nvPr/>
        </p:nvCxnSpPr>
        <p:spPr>
          <a:xfrm>
            <a:off x="1871483" y="2575429"/>
            <a:ext cx="2196020" cy="1162996"/>
          </a:xfrm>
          <a:prstGeom prst="line">
            <a:avLst/>
          </a:prstGeom>
          <a:ln w="9525">
            <a:solidFill>
              <a:srgbClr val="1B4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7AA7798-99BE-4446-9CCB-5B6CB8B864B9}"/>
              </a:ext>
            </a:extLst>
          </p:cNvPr>
          <p:cNvGrpSpPr/>
          <p:nvPr/>
        </p:nvGrpSpPr>
        <p:grpSpPr>
          <a:xfrm>
            <a:off x="3933794" y="1340033"/>
            <a:ext cx="422319" cy="446276"/>
            <a:chOff x="6368440" y="1774897"/>
            <a:chExt cx="563092" cy="595035"/>
          </a:xfrm>
          <a:solidFill>
            <a:srgbClr val="1B4367"/>
          </a:solidFill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ED52807D-CDF2-4616-92B7-F61578A1B485}"/>
                </a:ext>
              </a:extLst>
            </p:cNvPr>
            <p:cNvSpPr/>
            <p:nvPr/>
          </p:nvSpPr>
          <p:spPr>
            <a:xfrm>
              <a:off x="6368440" y="1774898"/>
              <a:ext cx="555440" cy="555438"/>
            </a:xfrm>
            <a:prstGeom prst="ellips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885F8ED6-C327-4014-A5DC-D77B097BD272}"/>
                </a:ext>
              </a:extLst>
            </p:cNvPr>
            <p:cNvSpPr txBox="1"/>
            <p:nvPr/>
          </p:nvSpPr>
          <p:spPr>
            <a:xfrm>
              <a:off x="6378447" y="1774897"/>
              <a:ext cx="553085" cy="5950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zh-CN" sz="2300" dirty="0">
                  <a:solidFill>
                    <a:schemeClr val="bg1"/>
                  </a:solidFill>
                  <a:cs typeface="+mn-ea"/>
                  <a:sym typeface="+mn-lt"/>
                </a:rPr>
                <a:t>1</a:t>
              </a:r>
              <a:endParaRPr lang="en-US" altLang="zh-CN" sz="23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04AA9749-DFDD-4973-A8C0-9AA6E189773B}"/>
              </a:ext>
            </a:extLst>
          </p:cNvPr>
          <p:cNvSpPr txBox="1"/>
          <p:nvPr/>
        </p:nvSpPr>
        <p:spPr>
          <a:xfrm>
            <a:off x="4357879" y="1306436"/>
            <a:ext cx="4190041" cy="395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24B51"/>
                </a:solidFill>
              </a14:hiddenFill>
            </a:ext>
          </a:extLst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薅羊毛，但资本家决定你怎么薅他们的羊毛！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E75B5E2-DA97-45AF-A4AD-3E796B4D04A2}"/>
              </a:ext>
            </a:extLst>
          </p:cNvPr>
          <p:cNvGrpSpPr/>
          <p:nvPr/>
        </p:nvGrpSpPr>
        <p:grpSpPr>
          <a:xfrm>
            <a:off x="3933794" y="2070248"/>
            <a:ext cx="422319" cy="446276"/>
            <a:chOff x="6368440" y="2745273"/>
            <a:chExt cx="563092" cy="595035"/>
          </a:xfrm>
          <a:solidFill>
            <a:srgbClr val="1B4367"/>
          </a:solidFill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BCD4F2D1-92B5-433A-9EE7-08E307695C10}"/>
                </a:ext>
              </a:extLst>
            </p:cNvPr>
            <p:cNvSpPr/>
            <p:nvPr/>
          </p:nvSpPr>
          <p:spPr>
            <a:xfrm>
              <a:off x="6368440" y="2745274"/>
              <a:ext cx="555440" cy="555438"/>
            </a:xfrm>
            <a:prstGeom prst="ellips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" name="文本框 34">
              <a:extLst>
                <a:ext uri="{FF2B5EF4-FFF2-40B4-BE49-F238E27FC236}">
                  <a16:creationId xmlns:a16="http://schemas.microsoft.com/office/drawing/2014/main" id="{4621F539-9638-461D-A203-C8B1072F6060}"/>
                </a:ext>
              </a:extLst>
            </p:cNvPr>
            <p:cNvSpPr txBox="1"/>
            <p:nvPr/>
          </p:nvSpPr>
          <p:spPr>
            <a:xfrm>
              <a:off x="6378447" y="2745273"/>
              <a:ext cx="553085" cy="5950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zh-CN" sz="2300" dirty="0">
                  <a:solidFill>
                    <a:schemeClr val="bg1"/>
                  </a:solidFill>
                  <a:cs typeface="+mn-ea"/>
                  <a:sym typeface="+mn-lt"/>
                </a:rPr>
                <a:t>2</a:t>
              </a:r>
              <a:endParaRPr lang="en-US" altLang="zh-CN" sz="23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EA719C8-5D05-410A-B25A-9B7AC5F24F65}"/>
              </a:ext>
            </a:extLst>
          </p:cNvPr>
          <p:cNvGrpSpPr/>
          <p:nvPr/>
        </p:nvGrpSpPr>
        <p:grpSpPr>
          <a:xfrm>
            <a:off x="3933794" y="2800462"/>
            <a:ext cx="422319" cy="446276"/>
            <a:chOff x="6280888" y="3790231"/>
            <a:chExt cx="563092" cy="595035"/>
          </a:xfrm>
          <a:solidFill>
            <a:srgbClr val="1B4367"/>
          </a:solidFill>
        </p:grpSpPr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E3AC8A51-DCF9-426F-B1AE-4469201766CF}"/>
                </a:ext>
              </a:extLst>
            </p:cNvPr>
            <p:cNvSpPr/>
            <p:nvPr/>
          </p:nvSpPr>
          <p:spPr>
            <a:xfrm>
              <a:off x="6280888" y="3790232"/>
              <a:ext cx="555440" cy="555438"/>
            </a:xfrm>
            <a:prstGeom prst="ellips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34">
              <a:extLst>
                <a:ext uri="{FF2B5EF4-FFF2-40B4-BE49-F238E27FC236}">
                  <a16:creationId xmlns:a16="http://schemas.microsoft.com/office/drawing/2014/main" id="{DCA8C611-3C27-4D30-A89D-A4684F47E492}"/>
                </a:ext>
              </a:extLst>
            </p:cNvPr>
            <p:cNvSpPr txBox="1"/>
            <p:nvPr/>
          </p:nvSpPr>
          <p:spPr>
            <a:xfrm>
              <a:off x="6290895" y="3790231"/>
              <a:ext cx="553085" cy="5950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zh-CN" sz="2300" dirty="0">
                  <a:solidFill>
                    <a:schemeClr val="bg1"/>
                  </a:solidFill>
                  <a:cs typeface="+mn-ea"/>
                  <a:sym typeface="+mn-lt"/>
                </a:rPr>
                <a:t>3</a:t>
              </a:r>
              <a:endParaRPr lang="en-US" altLang="zh-CN" sz="23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ED687B86-4C4A-4387-959F-46D4E222BF79}"/>
              </a:ext>
            </a:extLst>
          </p:cNvPr>
          <p:cNvGrpSpPr/>
          <p:nvPr/>
        </p:nvGrpSpPr>
        <p:grpSpPr>
          <a:xfrm>
            <a:off x="3933794" y="3530675"/>
            <a:ext cx="422319" cy="446276"/>
            <a:chOff x="6280888" y="4763849"/>
            <a:chExt cx="563092" cy="595035"/>
          </a:xfrm>
          <a:solidFill>
            <a:srgbClr val="1B4367"/>
          </a:solidFill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23536911-23B1-4FBE-9B8E-D2FB9E25EDDD}"/>
                </a:ext>
              </a:extLst>
            </p:cNvPr>
            <p:cNvSpPr/>
            <p:nvPr/>
          </p:nvSpPr>
          <p:spPr>
            <a:xfrm>
              <a:off x="6280888" y="4763850"/>
              <a:ext cx="555440" cy="555438"/>
            </a:xfrm>
            <a:prstGeom prst="ellips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4" name="文本框 34">
              <a:extLst>
                <a:ext uri="{FF2B5EF4-FFF2-40B4-BE49-F238E27FC236}">
                  <a16:creationId xmlns:a16="http://schemas.microsoft.com/office/drawing/2014/main" id="{03FCFCBE-0155-4357-8322-3B5E59DA5A1A}"/>
                </a:ext>
              </a:extLst>
            </p:cNvPr>
            <p:cNvSpPr txBox="1"/>
            <p:nvPr/>
          </p:nvSpPr>
          <p:spPr>
            <a:xfrm>
              <a:off x="6290895" y="4763849"/>
              <a:ext cx="553085" cy="5950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zh-CN" sz="2300" dirty="0">
                  <a:solidFill>
                    <a:schemeClr val="bg1"/>
                  </a:solidFill>
                  <a:cs typeface="+mn-ea"/>
                  <a:sym typeface="+mn-lt"/>
                </a:rPr>
                <a:t>4</a:t>
              </a:r>
              <a:endParaRPr lang="en-US" altLang="zh-CN" sz="23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152BB759-122F-42BC-9735-4CA6E0D05220}"/>
              </a:ext>
            </a:extLst>
          </p:cNvPr>
          <p:cNvGrpSpPr/>
          <p:nvPr/>
        </p:nvGrpSpPr>
        <p:grpSpPr>
          <a:xfrm>
            <a:off x="933441" y="1836442"/>
            <a:ext cx="1477981" cy="1477975"/>
            <a:chOff x="2056673" y="2524327"/>
            <a:chExt cx="1970641" cy="1970633"/>
          </a:xfrm>
          <a:solidFill>
            <a:srgbClr val="1B4367"/>
          </a:solidFill>
        </p:grpSpPr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48C17B4B-E093-4CD4-B6DC-84CB6D642812}"/>
                </a:ext>
              </a:extLst>
            </p:cNvPr>
            <p:cNvSpPr/>
            <p:nvPr/>
          </p:nvSpPr>
          <p:spPr>
            <a:xfrm>
              <a:off x="2056673" y="2524327"/>
              <a:ext cx="1970641" cy="1970633"/>
            </a:xfrm>
            <a:prstGeom prst="ellipse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8" name="文本框 15">
              <a:extLst>
                <a:ext uri="{FF2B5EF4-FFF2-40B4-BE49-F238E27FC236}">
                  <a16:creationId xmlns:a16="http://schemas.microsoft.com/office/drawing/2014/main" id="{FDE5C47E-4704-4F70-A675-A41ABB8876C0}"/>
                </a:ext>
              </a:extLst>
            </p:cNvPr>
            <p:cNvSpPr txBox="1"/>
            <p:nvPr/>
          </p:nvSpPr>
          <p:spPr>
            <a:xfrm>
              <a:off x="2056673" y="3233092"/>
              <a:ext cx="1970641" cy="533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cs typeface="+mn-ea"/>
                  <a:sym typeface="+mn-lt"/>
                </a:rPr>
                <a:t>开放讨论</a:t>
              </a:r>
            </a:p>
          </p:txBody>
        </p:sp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924F5A01-39B9-478F-AEB0-0F8257E53611}"/>
              </a:ext>
            </a:extLst>
          </p:cNvPr>
          <p:cNvSpPr txBox="1"/>
          <p:nvPr/>
        </p:nvSpPr>
        <p:spPr>
          <a:xfrm>
            <a:off x="4357879" y="2059066"/>
            <a:ext cx="4190041" cy="395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24B51"/>
                </a:solidFill>
              </a14:hiddenFill>
            </a:ext>
          </a:extLst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取其精华，去其糟粕。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DC0FDB0-B052-4712-B493-39EBC3FCA887}"/>
              </a:ext>
            </a:extLst>
          </p:cNvPr>
          <p:cNvSpPr txBox="1"/>
          <p:nvPr/>
        </p:nvSpPr>
        <p:spPr>
          <a:xfrm>
            <a:off x="4357879" y="2821933"/>
            <a:ext cx="4190041" cy="395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24B51"/>
                </a:solidFill>
              </a14:hiddenFill>
            </a:ext>
          </a:extLst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更多的一些免费计算资源，深度学习工具等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8BF8C7A-412B-4A27-A6D8-C9B264D1EF91}"/>
              </a:ext>
            </a:extLst>
          </p:cNvPr>
          <p:cNvSpPr txBox="1"/>
          <p:nvPr/>
        </p:nvSpPr>
        <p:spPr>
          <a:xfrm>
            <a:off x="4357879" y="3528668"/>
            <a:ext cx="4190041" cy="395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24B51"/>
                </a:solidFill>
              </a14:hiddenFill>
            </a:ext>
          </a:extLst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3419731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374137" y="1884748"/>
            <a:ext cx="4272439" cy="108491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defRPr/>
            </a:pPr>
            <a:r>
              <a:rPr lang="en-US" altLang="zh-CN" sz="6600" b="1" dirty="0">
                <a:solidFill>
                  <a:srgbClr val="1B4367"/>
                </a:solidFill>
                <a:cs typeface="+mn-ea"/>
                <a:sym typeface="+mn-lt"/>
              </a:rPr>
              <a:t>THANKS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p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2029</TotalTime>
  <Words>390</Words>
  <Application>Microsoft Office PowerPoint</Application>
  <PresentationFormat>全屏显示(16:9)</PresentationFormat>
  <Paragraphs>101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宋体</vt:lpstr>
      <vt:lpstr>微软雅黑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第一PPT</dc:creator>
  <cp:keywords/>
  <dc:description>www.1ppt.com</dc:description>
  <cp:lastModifiedBy>hanxu</cp:lastModifiedBy>
  <cp:revision>118</cp:revision>
  <dcterms:created xsi:type="dcterms:W3CDTF">2016-05-20T12:59:00Z</dcterms:created>
  <dcterms:modified xsi:type="dcterms:W3CDTF">2020-07-26T09:18:31Z</dcterms:modified>
  <cp:contentStatus>ytfcells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2052-10.1.0.5745</vt:lpwstr>
  </property>
</Properties>
</file>